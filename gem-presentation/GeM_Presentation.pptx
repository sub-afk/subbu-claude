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4cb51c3-bd72-653d-b514-6d27660f99aa}">
          <p14:sldIdLst>
            <p14:sldId id="256"/>
          </p14:sldIdLst>
        </p14:section>
        <p14:section name="Part 1 - History of GeM" id="{5dc464f4-6146-516e-f351-8474f888ac28}">
          <p14:sldIdLst>
            <p14:sldId id="257"/>
          </p14:sldIdLst>
        </p14:section>
        <p14:section name="Part 2 - Public procurement framework" id="{156bcdfa-afeb-dceb-9dce-bd770593e7e0}">
          <p14:sldIdLst>
            <p14:sldId id="258"/>
            <p14:sldId id="259"/>
            <p14:sldId id="260"/>
            <p14:sldId id="261"/>
          </p14:sldIdLst>
        </p14:section>
        <p14:section name="Part 3 - Bidding on GeM" id="{f5cc2a9b-fb62-a21f-68db-75a148878281}">
          <p14:sldIdLst>
            <p14:sldId id="262"/>
            <p14:sldId id="263"/>
            <p14:sldId id="264"/>
          </p14:sldIdLst>
        </p14:section>
        <p14:section name="Close" id="{0de89fb1-9cca-dc82-479f-45ad4ec1140a}">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30 seconds).
I will cover three things. First, where GeM came from. Second, the framework of rules it sits in, at the Centre and in the States. Third, how a purchase or a bid actually moves through the portal, from creation to payment. Every point on these slides is drawn from the Constitution, the General Financial Rules, the Ministry of Finance manuals or GeM's own terms, and the sources are on each slide.
Say the full name 'Government e-Marketplace' once before you start saying 'GeM'.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History (about 2 minutes).
For 65 years, from 1951, central government buying ran through DGS&amp;D: rate contracts, paper files and long lead times. In February 2016, on a Group of Secretaries' recommendation, the Government decided to build a single online marketplace instead.
The pilot went live on 9 August 2016 with just 120 product categories and one service. Three things then locked it in. The legal anchor: GFR 2017, Rule 149, made GeM mandatory for anything available on it. The institutional anchor: a not-for-profit company, GeM SPV, was incorporated on 17 May 2017, and DGS&amp;D was wound up that October. The technology anchor: the full platform, GeM 3.0, went live on 26 January 2018.
Today GeM handles over Rs 5 lakh crore a year, about 1.37 lakh buyer organisations and nearly 25 lakh sellers. Small businesses win about two-thirds of all orders.
Background: the first Managed Service Provider was a consortium of Intellect Design Arena with Infibeam, with Tata Communications as network provider (CAG). The platform was designed after studying systems including the United States and South Korea (PIB, 8 Aug 2026). FY 2025-26: women-led MSEs over Rs 28,000 crore; startups over Rs 19,000 crore; SC/ST MSEs over Rs 6,000 crore; State procurement up 38.3% (PIB, 6 Apr 2026).
Likely questions: Was DGS&amp;D simply renamed? No - DGS&amp;D was an attached office running rate contracts; GeM SPV is a company running an open, end-to-end marketplace. Can private companies buy? No - only government buyers and, since 2022, cooperatives. Has GeM been audited? Yes - the CAG's 2020 IT audit found Phase 1 of GeM 3.0 was declared live prematurely and flagged weak registration controls, dormant users and a savings methodology that 'did not give an accurate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Hierarchy (about 2 minutes).
The surprising fact is that the Centre has no procurement statute. What it has is a hierarchy. At the top is the Constitution: Article 298 lets the Union and the States make contracts, and Article 299 says how. A contract must be in the name of the President or the Governor and signed by an authorised officer. Article 14 is why courts can strike down an arbitrary tender.
Below that sit the general commercial laws, which govern the deal itself, and the integrity laws: anti-corruption, vigilance, Lokpal. Level II is the rulebook: the General Financial Rules and the Delegation of Financial Powers Rules, plus Government orders. Level III is the Ministry of Finance manuals; Level IV is the tender documents.
The remark that practitioners forget is the third one. A supplier's rights come only from the law and the contract. The manuals bind officers, not suppliers.
Note on Level II: Annexure 1 as printed says 'Delegation of Financial Power Rules General Financial Rules, 1987 (Amendment) 2022'. There is no GFR 1987; it reads as a slip for DFPR 1978 (amended 2022), replaced by DFPR 2024 from 1 Apr 2024.
Likely questions: If a manual conflicts with the GFR, which wins? The GFR - Remark 2 and the manual's own preface. Can a bidder sue because an officer breached the manual? Not on the manual alone - Remark 3; a bidder relies on the law (e.g. Article 14) and the tender or contract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Policy (about 2 minutes).
Rule 144 is the procurement constitution: efficiency, economy, transparency, fairness and competition, with the officer personally accountable. Who can approve is set by the Delegation of Financial Powers Rules 2024. A Secretary can approve up to Rs 100 crore through competitive tenders, but only Rs 25 crore through single or proprietary tenders, so competition earns more delegation.
The buying method then depends on value. In July 2024 every threshold was doubled: Rs 50,000 without quotation, up to Rs 5 lakh by purchase committee, up to Rs 50 lakh by limited tender, and an open tender above that. Services moved the same way.
On top sit the policy levers. Local suppliers get a 20% preference, a quarter of purchases must come from small enterprises, startups get relaxed entry, and bidders from countries sharing a land border with India must be registered. Everything is published on the central portal. Arbitration is now the exception, not the rule.
Background: the MSE Policy is issued under section 11 of the MSMED Act 2006; the 2018 amendment (S.O. 5670(E), 8 Nov 2018) made the 25% target mandatory. The 3 Jun 2024 OM says arbitration experience has been 'unsatisfactory' - long, expensive, wrong decisions, and no finality because most awards are challenged. Above Rs 10 crore, arbitration needs Secretary (or JS-level delegate) approval, or the MD for CPSEs.
Likely question: Can a department split a Rs 60 lakh need into two Rs 30 lakh limited tenders? No - Rule 157 bars dividing demand to avoid a higher sanction.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central stores to GeM (about 1.5 minutes).
Central purchasing is old: a stores department in London from 1860, DGS&amp;D from 1951, and General Financial Rules since 1947. A procurement law was attempted in 2012, but the Bill lapsed in 2014, so the system still runs on rules.
What 2017 changed is the default. Under Rule 149, if an item is on GeM you must buy it on GeM. To go outside, you need a GeMAR&amp;PTS report showing it isn't available. If it is available but you have a compelling reason, you need the Standing Committee of GeM and your Secretary to agree. Even your annual buying plan has to be on GeM within 30 days of the budget.
Background: GFR 2017 was released on 7 Mar 2017 at the Conference of Financial Advisers; the release names the CPPP and GeM among the changes needing new rules. The GeMAR&amp;PTS was first required by OM of 23 Jan 2020 with exceptions; from 11 Jun 2021 it is needed in every case, and its ID must be shown where the outside tender is published.
Likely question: Can a department still tender on the CPPP? For items on GeM, no - GeM is mandatory. The CPPP is used for items not on GeM (after a GeMAR&amp;PTS) and for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Centre and States (about 1.5 minutes).
Everything so far binds the Centre. The States share the same constitutional base, Articles 298 and 299, but write their own rules. Tamil Nadu, Karnataka and Rajasthan have procurement statutes. Rajasthan's 2012 Act even gives bidders a statutory right of appeal, which no central law does.
Central policy reaches the States in softer ways. The MSE policy doesn't bind them, but they've been asked to adopt similar policies. A land-border registration issued by the Centre is valid for State tenders too.
And GeM is open to them. It lets a State buyer apply its own local-industry and small-business preferences through the bid's additional terms. That flexibility is one reason State buying on GeM grew by over a third last year.
Likely questions: Is GeM mandatory for States? Not under Rule 149, which binds the Centre; a State makes GeM mandatory through its own orders. Does the land-border restriction apply to State tenders? In practice yes - a Centre-issued registration is valid for State procurement, and States designate their own registration authority for registrations limited to their procurement (Goods Manual fn. 34).
To verify: an Assam Public Procurement Act 2017 is listed on India Code but its official text could not be opened during preparation.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Buying routes (about 2 minutes).
Value decides the route. Up to Rs 50,000 you can buy directly from any seller, provided you certify the price is reasonable. Between Rs 50,000 and Rs 10 lakh you must take the cheapest offer after comparing at least three different manufacturers. Above Rs 10 lakh you must run a competitive bid or reverse auction.
Two special routes sit alongside. Push Button Procurement, for buys up to Rs 5 lakh, lets the system award automatically if at least five sellers bid. PAC buying is for when only one make will do, but it needs a Proprietary Article Certificate and still goes through bidding above Rs 50,000.
Two prohibitions are worth stressing: splitting a demand to dodge a threshold, and using a GeM price to place an order outside GeM. GeM can block such bids and cancel such contracts.
Background: GeM's own terms say bidding 'should be considered as the preferred mode' above Rs 50,000 (GTC 4(vi)). In PAC buying, price control stays with the OEM even when many resellers list it, so buyers must do extra due diligence (GTC 4(ix)(b)). If PBP fails, the same buyer cannot use PBP for that item for 30 days.
Likely question: Can a Rs 15 lakh need be split into two Rs 7.5 lakh L1 buys? No - Rule 149(viii) and GTC 4(xi); GeM can block the bids or cancel the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Bid lifecycle (about 3 minutes).
Here is a bid from start to finish. The department needs a sanction and funds before it starts; GeM assumes both when the contract is placed. The buyer builds the bid from GeM's own specification templates and condition library. That keeps tenders standard and stops buyers writing in restrictive conditions.
The bid stays open for at least ten clear days. Small bids under Rs 5 lakh need no earnest money, and small businesses and startups are exempt anyway. The buyer evaluates; GeM provides the tool but takes no decisions. If prices tie, goods go to a forced reverse auction and services to a random draw.
Two design choices stand out. The reverse auction builds in industrial policy: a small business within 15% of the lowest price, or a Make in India supplier within 20%, stays in the auction. And the payment clock protects suppliers: ten days after acceptance, the full amount is due.
Background: with 7 qualified bidders under the 50% rule, L1 to L4 go to the RA; with 2 or 3, nobody is eliminated; if only one OEM would remain, the field is widened. Bid splitting is allowed for critical items in a pre-declared ratio. Bid security is forfeited for withdrawal, false documents or no performance security, and GeM may debar for at least 3 months. GST changes before the bid end date are the seller's risk; after it, within the delivery period, the buyer's. Force majeure notice within 10 days; termination after 90 days.
Likely questions: Who is liable if a buyer signs without authority? The officer personally (GTC 3B(iii)). Can a buyer add conditions? Only through GeM's ATC library or an RMS corrigendum with competent-authority approval; GeM can cancel bids that breach its Disclaimer.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Safeguards (about 1 minute).
Three safeguards. First, GeM's own contract terms govern, and a buyer's additional terms override the standard ones, but only within GeM's library. Second, grievances go to the buyer, not GeM; GeM steps in only for breaches of its published Disclaimer. Third, disputes stay between buyer and seller under Indian law in the buyer's courts. GeM is never a party, and the buyer must even ask the court to remove GeM if a seller names it.
Background: in catalogue quadrant Q1 only GeM-validated OEMs may list; in Q4 any reseller may list but must give the replacement warranty itself. Limitation of liability: no indirect or consequential loss; total cap is the contract value, except third-party intellectual property claims and judicially determined gross negligence or wilful misconduct (GTC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(about 30 seconds). Read the five points slowly, then say: 'Happy to take questions on any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during questions. Each source title is clickable.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ASTRAL_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PEARL_CONTENT-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ASTRAL_CONTENT-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L_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325880"/>
            <a:ext cx="6949440" cy="365760"/>
          </a:xfrm>
          <a:prstGeom prst="rect">
            <a:avLst/>
          </a:prstGeom>
          <a:noFill/>
          <a:ln/>
        </p:spPr>
        <p:txBody>
          <a:bodyPr wrap="square" rtlCol="0"/>
          <a:lstStyle>
            <a:lvl1pPr indent="0" marL="0">
              <a:buNone/>
              <a:defRPr lang="en-US" sz="1200" b="1" spc="4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731520" y="1783080"/>
            <a:ext cx="7132320" cy="160020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4" name="Text 0"/>
          <p:cNvSpPr/>
          <p:nvPr>
            <p:ph idx="102" type="body" hasCustomPrompt="1"/>
          </p:nvPr>
        </p:nvSpPr>
        <p:spPr>
          <a:xfrm>
            <a:off x="731520" y="3429000"/>
            <a:ext cx="6949440" cy="548640"/>
          </a:xfrm>
          <a:prstGeom prst="rect">
            <a:avLst/>
          </a:prstGeom>
          <a:noFill/>
          <a:ln/>
        </p:spPr>
        <p:txBody>
          <a:bodyPr wrap="square" rtlCol="0"/>
          <a:lstStyle>
            <a:lvl1pPr indent="0" marL="0">
              <a:buNone/>
              <a:defRPr lang="en-US" sz="2200" i="1" dirty="0">
                <a:solidFill>
                  <a:schemeClr val="accent3"/>
                </a:solidFill>
              </a:defRPr>
            </a:lvl1pPr>
          </a:lstStyle>
          <a:p>
            <a:pPr indent="0" marL="0">
              <a:buNone/>
            </a:pPr>
            <a:endParaRPr lang="en-US" sz="2200" dirty="0"/>
          </a:p>
        </p:txBody>
      </p:sp>
      <p:sp>
        <p:nvSpPr>
          <p:cNvPr id="5" name="Text 0"/>
          <p:cNvSpPr/>
          <p:nvPr>
            <p:ph idx="103" type="body" hasCustomPrompt="1"/>
          </p:nvPr>
        </p:nvSpPr>
        <p:spPr>
          <a:xfrm>
            <a:off x="731520" y="5989320"/>
            <a:ext cx="10515600" cy="365760"/>
          </a:xfrm>
          <a:prstGeom prst="rect">
            <a:avLst/>
          </a:prstGeom>
          <a:noFill/>
          <a:ln/>
        </p:spPr>
        <p:txBody>
          <a:bodyPr wrap="square" rtlCol="0"/>
          <a:lstStyle>
            <a:lvl1pPr indent="0" marL="0">
              <a:buNone/>
              <a:defRPr lang="en-US" sz="1300" dirty="0">
                <a:solidFill>
                  <a:schemeClr val="accent4"/>
                </a:solidFill>
              </a:defRPr>
            </a:lvl1pPr>
          </a:lstStyle>
          <a:p>
            <a:pPr indent="0" marL="0">
              <a:buNone/>
            </a:pP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EARL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Gem motif">    </p:cNvPr>
          <p:cNvPicPr>
            <a:picLocks noChangeAspect="1"/>
          </p:cNvPicPr>
          <p:nvPr/>
        </p:nvPicPr>
        <p:blipFill>
          <a:blip r:embed="rId1"/>
          <a:stretch>
            <a:fillRect/>
          </a:stretch>
        </p:blipFill>
        <p:spPr>
          <a:xfrm>
            <a:off x="548640" y="301752"/>
            <a:ext cx="246888" cy="246888"/>
          </a:xfrm>
          <a:prstGeom prst="rect">
            <a:avLst/>
          </a:prstGeom>
        </p:spPr>
      </p:pic>
      <p:sp>
        <p:nvSpPr>
          <p:cNvPr id="3" name="Text 0"/>
          <p:cNvSpPr/>
          <p:nvPr>
            <p:ph idx="101" type="body" hasCustomPrompt="1"/>
          </p:nvPr>
        </p:nvSpPr>
        <p:spPr>
          <a:xfrm>
            <a:off x="886968" y="283464"/>
            <a:ext cx="10698480" cy="274320"/>
          </a:xfrm>
          <a:prstGeom prst="rect">
            <a:avLst/>
          </a:prstGeom>
          <a:noFill/>
          <a:ln/>
        </p:spPr>
        <p:txBody>
          <a:bodyPr wrap="square" rtlCol="0"/>
          <a:lstStyle>
            <a:lvl1pPr indent="0" marL="0">
              <a:buNone/>
              <a:defRPr lang="en-US" sz="1100" b="1" spc="300" kern="0" dirty="0">
                <a:solidFill>
                  <a:schemeClr val="accent1"/>
                </a:solidFill>
              </a:defRPr>
            </a:lvl1pPr>
          </a:lstStyle>
          <a:p>
            <a:pPr indent="0" marL="0">
              <a:buNone/>
            </a:pPr>
            <a:endParaRPr lang="en-US" sz="1100" dirty="0"/>
          </a:p>
        </p:txBody>
      </p:sp>
      <p:sp>
        <p:nvSpPr>
          <p:cNvPr id="4" name="Text 0"/>
          <p:cNvSpPr/>
          <p:nvPr>
            <p:ph idx="102" type="title" hasCustomPrompt="1"/>
          </p:nvPr>
        </p:nvSpPr>
        <p:spPr>
          <a:xfrm>
            <a:off x="548640" y="603504"/>
            <a:ext cx="11064240" cy="603504"/>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5" name="Text 0"/>
          <p:cNvSpPr/>
          <p:nvPr>
            <p:ph idx="103" type="body" hasCustomPrompt="1"/>
          </p:nvPr>
        </p:nvSpPr>
        <p:spPr>
          <a:xfrm>
            <a:off x="548640" y="6291072"/>
            <a:ext cx="10424160" cy="411480"/>
          </a:xfrm>
          <a:prstGeom prst="rect">
            <a:avLst/>
          </a:prstGeom>
          <a:noFill/>
          <a:ln/>
        </p:spPr>
        <p:txBody>
          <a:bodyPr wrap="square" rtlCol="0"/>
          <a:lstStyle>
            <a:lvl1pPr indent="0" marL="0">
              <a:buNone/>
              <a:defRPr lang="en-US" sz="950" dirty="0">
                <a:solidFill>
                  <a:schemeClr val="accent6"/>
                </a:solidFill>
              </a:defRPr>
            </a:lvl1pPr>
          </a:lstStyle>
          <a:p>
            <a:pPr indent="0" marL="0">
              <a:buNone/>
            </a:pPr>
            <a:endParaRPr lang="en-US" sz="950" dirty="0"/>
          </a:p>
        </p:txBody>
      </p:sp>
      <p:sp>
        <p:nvSpPr>
          <p:cNvPr id="25" name="Slide Number Placeholder 0"/>
          <p:cNvSpPr>
            <a:spLocks noGrp="1"/>
          </p:cNvSpPr>
          <p:nvPr>
            <p:ph type="sldNum" sz="quarter" idx="4294967295"/>
          </p:nvPr>
        </p:nvSpPr>
        <p:spPr>
          <a:xfrm>
            <a:off x="11183112"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STRAL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Gem motif">    </p:cNvPr>
          <p:cNvPicPr>
            <a:picLocks noChangeAspect="1"/>
          </p:cNvPicPr>
          <p:nvPr/>
        </p:nvPicPr>
        <p:blipFill>
          <a:blip r:embed="rId1"/>
          <a:stretch>
            <a:fillRect/>
          </a:stretch>
        </p:blipFill>
        <p:spPr>
          <a:xfrm>
            <a:off x="548640" y="301752"/>
            <a:ext cx="246888" cy="246888"/>
          </a:xfrm>
          <a:prstGeom prst="rect">
            <a:avLst/>
          </a:prstGeom>
        </p:spPr>
      </p:pic>
      <p:sp>
        <p:nvSpPr>
          <p:cNvPr id="3" name="Text 0"/>
          <p:cNvSpPr/>
          <p:nvPr>
            <p:ph idx="101" type="body" hasCustomPrompt="1"/>
          </p:nvPr>
        </p:nvSpPr>
        <p:spPr>
          <a:xfrm>
            <a:off x="886968" y="283464"/>
            <a:ext cx="10698480" cy="274320"/>
          </a:xfrm>
          <a:prstGeom prst="rect">
            <a:avLst/>
          </a:prstGeom>
          <a:noFill/>
          <a:ln/>
        </p:spPr>
        <p:txBody>
          <a:bodyPr wrap="square" rtlCol="0"/>
          <a:lstStyle>
            <a:lvl1pPr indent="0" marL="0">
              <a:buNone/>
              <a:defRPr lang="en-US" sz="1100" b="1" spc="300" kern="0" dirty="0">
                <a:solidFill>
                  <a:schemeClr val="accent3"/>
                </a:solidFill>
              </a:defRPr>
            </a:lvl1pPr>
          </a:lstStyle>
          <a:p>
            <a:pPr indent="0" marL="0">
              <a:buNone/>
            </a:pPr>
            <a:endParaRPr lang="en-US" sz="1100" dirty="0"/>
          </a:p>
        </p:txBody>
      </p:sp>
      <p:sp>
        <p:nvSpPr>
          <p:cNvPr id="4" name="Text 0"/>
          <p:cNvSpPr/>
          <p:nvPr>
            <p:ph idx="102" type="title" hasCustomPrompt="1"/>
          </p:nvPr>
        </p:nvSpPr>
        <p:spPr>
          <a:xfrm>
            <a:off x="548640" y="603504"/>
            <a:ext cx="11064240" cy="603504"/>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5" name="Text 0"/>
          <p:cNvSpPr/>
          <p:nvPr>
            <p:ph idx="103" type="body" hasCustomPrompt="1"/>
          </p:nvPr>
        </p:nvSpPr>
        <p:spPr>
          <a:xfrm>
            <a:off x="548640" y="6291072"/>
            <a:ext cx="10424160" cy="411480"/>
          </a:xfrm>
          <a:prstGeom prst="rect">
            <a:avLst/>
          </a:prstGeom>
          <a:noFill/>
          <a:ln/>
        </p:spPr>
        <p:txBody>
          <a:bodyPr wrap="square" rtlCol="0"/>
          <a:lstStyle>
            <a:lvl1pPr indent="0" marL="0">
              <a:buNone/>
              <a:defRPr lang="en-US" sz="950" dirty="0">
                <a:solidFill>
                  <a:schemeClr val="accent4"/>
                </a:solidFill>
              </a:defRPr>
            </a:lvl1pPr>
          </a:lstStyle>
          <a:p>
            <a:pPr indent="0" marL="0">
              <a:buNone/>
            </a:pPr>
            <a:endParaRPr lang="en-US" sz="950" dirty="0"/>
          </a:p>
        </p:txBody>
      </p:sp>
      <p:sp>
        <p:nvSpPr>
          <p:cNvPr id="25" name="Slide Number Placeholder 0"/>
          <p:cNvSpPr>
            <a:spLocks noGrp="1"/>
          </p:cNvSpPr>
          <p:nvPr>
            <p:ph type="sldNum" sz="quarter" idx="4294967295"/>
          </p:nvPr>
        </p:nvSpPr>
        <p:spPr>
          <a:xfrm>
            <a:off x="11183112"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dnbbsr.s3waas.gov.in/s380537a945c7aaa788ccfcdf1b99b5d8f/uploads/2024/07/20240716890312078.pdf" TargetMode="External"/><Relationship Id="rId2" Type="http://schemas.openxmlformats.org/officeDocument/2006/relationships/hyperlink" Target="https://prsindia.org/files/bills_acts/acts_states/tamil-nadu/1998/1998TN43.pdf" TargetMode="External"/><Relationship Id="rId3" Type="http://schemas.openxmlformats.org/officeDocument/2006/relationships/hyperlink" Target="https://prsindia.org/files/bills_acts/acts_states/karnataka/2000/2000Karnataka29.pdf" TargetMode="External"/><Relationship Id="rId4" Type="http://schemas.openxmlformats.org/officeDocument/2006/relationships/hyperlink" Target="https://prsindia.org/files/bills_acts/acts_states/rajasthan/2012/2012Rajasthan21.pdf" TargetMode="External"/><Relationship Id="rId5" Type="http://schemas.openxmlformats.org/officeDocument/2006/relationships/hyperlink" Target="https://doe.gov.in/files/circulars_document/GFRupdatedupto31012026.pdf" TargetMode="External"/><Relationship Id="rId6" Type="http://schemas.openxmlformats.org/officeDocument/2006/relationships/hyperlink" Target="https://doe.gov.in/files/circulars_document/Delegation_of_Financial_Powers_Rules_2024_Booklet.pdf" TargetMode="External"/><Relationship Id="rId7" Type="http://schemas.openxmlformats.org/officeDocument/2006/relationships/hyperlink" Target="https://doe.gov.in/files/circulars_document/OM_1_3_2024_PPD_dated_10_07_2024.pdf" TargetMode="External"/><Relationship Id="rId8" Type="http://schemas.openxmlformats.org/officeDocument/2006/relationships/hyperlink" Target="https://doe.gov.in/files/circulars_document/Guidelines_for_Arbitration_and_Mediation_in_Contracts_of_Domestic_Public_Procurement.pdf" TargetMode="External"/><Relationship Id="rId9" Type="http://schemas.openxmlformats.org/officeDocument/2006/relationships/hyperlink" Target="https://doe.gov.in/files/circulars_document/Procurement_of_Goods_and_Services_through_Government_e-Marketplace.pdf" TargetMode="External"/><Relationship Id="rId10" Type="http://schemas.openxmlformats.org/officeDocument/2006/relationships/hyperlink" Target="https://doe.gov.in/files/circulars_document/Push_Button_Procurement_2.pdf" TargetMode="External"/><Relationship Id="rId11" Type="http://schemas.openxmlformats.org/officeDocument/2006/relationships/hyperlink" Target="https://doe.gov.in/files/circulars_document/Amendments_in_General_Financial_Rules_GFR%202017.pdf" TargetMode="External"/><Relationship Id="rId12" Type="http://schemas.openxmlformats.org/officeDocument/2006/relationships/hyperlink" Target="https://doe.gov.in/files/circulars_document/Order_Public_Procurement_No_4_Restrictions_under_Rule_144_xi_of_the_General_Financial_Rules_GFRs_2017_0.pdf" TargetMode="External"/><Relationship Id="rId13" Type="http://schemas.openxmlformats.org/officeDocument/2006/relationships/hyperlink" Target="http://www.dcmsme.gov.in/Gazette%20Notification.pdf" TargetMode="External"/><Relationship Id="rId14" Type="http://schemas.openxmlformats.org/officeDocument/2006/relationships/hyperlink" Target="https://doe.gov.in/files/manuals_documents/Goods.pdf" TargetMode="External"/><Relationship Id="rId15" Type="http://schemas.openxmlformats.org/officeDocument/2006/relationships/hyperlink" Target="https://doe.gov.in/files/manuals_documents/CS2025.pdf" TargetMode="External"/><Relationship Id="rId16" Type="http://schemas.openxmlformats.org/officeDocument/2006/relationships/hyperlink" Target="https://doe.gov.in/files/manuals_documents/MfPoNCS2025.pdf" TargetMode="External"/><Relationship Id="rId17" Type="http://schemas.openxmlformats.org/officeDocument/2006/relationships/hyperlink" Target="https://doe.gov.in/files/manuals_documents/Works_Manual_SE_2025.pdf" TargetMode="External"/><Relationship Id="rId18" Type="http://schemas.openxmlformats.org/officeDocument/2006/relationships/hyperlink" Target="https://doe.gov.in/files/manuals_documents/Manual_for_Procurement_of_Goods_Updated%20June%2C%202022.pdf" TargetMode="External"/><Relationship Id="rId19" Type="http://schemas.openxmlformats.org/officeDocument/2006/relationships/hyperlink" Target="https://www.iiserbpr.ac.in/uploads/file_upload/GeM%20Latest%20Guidelines%20Mar%202026.pdf" TargetMode="External"/><Relationship Id="rId20" Type="http://schemas.openxmlformats.org/officeDocument/2006/relationships/hyperlink" Target="https://assets-bg.gem.gov.in/resources/pdf/pbp-buyer_1662620846.pdf" TargetMode="External"/><Relationship Id="rId21" Type="http://schemas.openxmlformats.org/officeDocument/2006/relationships/hyperlink" Target="https://www.pmindia.gov.in/?p=2125971" TargetMode="External"/><Relationship Id="rId22" Type="http://schemas.openxmlformats.org/officeDocument/2006/relationships/hyperlink" Target="https://www.pmindia.gov.in/en/news_updates/cabinet-approves-expanding-the-mandate-of-government-e-marketplace-special-purpose-vehicle-gem-spv-to-allow-procurement-by-cooperatives-as-buyers/" TargetMode="External"/><Relationship Id="rId23" Type="http://schemas.openxmlformats.org/officeDocument/2006/relationships/hyperlink" Target="https://cag.gov.in/uploads/icisa_it_reports/511826d89e666c9210b864837c29d60c-062663434a855f8-57539731.pdf" TargetMode="External"/><Relationship Id="rId24" Type="http://schemas.openxmlformats.org/officeDocument/2006/relationships/hyperlink" Target="https://doe.gov.in/files/whats_new_documents/FM_releases_Revised_GFR2017.pdf" TargetMode="External"/><Relationship Id="rId25" Type="http://schemas.openxmlformats.org/officeDocument/2006/relationships/hyperlink" Target="https://www.pib.gov.in/PressReleasePage.aspx?PRID=2249335" TargetMode="External"/><Relationship Id="rId26" Type="http://schemas.openxmlformats.org/officeDocument/2006/relationships/hyperlink" Target="https://www.pib.gov.in/PressReleasePage.aspx?PRID=2296546" TargetMode="External"/><Relationship Id="rId27" Type="http://schemas.openxmlformats.org/officeDocument/2006/relationships/hyperlink" Target="https://prsindia.org/billtrack/the-public-procurement-bill-2012" TargetMode="External"/><Relationship Id="rId28" Type="http://schemas.openxmlformats.org/officeDocument/2006/relationships/hyperlink" Target="https://www.gktoday.in/commerce-ministry-shut-dgsd/" TargetMode="External"/><Relationship Id="rId29" Type="http://schemas.openxmlformats.org/officeDocument/2006/relationships/hyperlink" Target="https://www.drishtiias.com/daily-updates/daily-news-analysis/10-years-of-government-e-marketplace-gem" TargetMode="External"/><Relationship Id="rId30" Type="http://schemas.openxmlformats.org/officeDocument/2006/relationships/slideLayout" Target="../slideLayouts/slideLayout3.xml"/><Relationship Id="rId31"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325880"/>
            <a:ext cx="6949440" cy="365760"/>
          </a:xfrm>
          <a:prstGeom prst="rect">
            <a:avLst/>
          </a:prstGeom>
          <a:noFill/>
          <a:ln/>
        </p:spPr>
        <p:txBody>
          <a:bodyPr wrap="square" lIns="0" tIns="0" rIns="0" bIns="0" rtlCol="0" anchor="b"/>
          <a:lstStyle/>
          <a:p>
            <a:pPr indent="0" marL="0">
              <a:buNone/>
            </a:pPr>
            <a:r>
              <a:rPr lang="en-US" sz="1200" b="1" spc="400" kern="0" dirty="0">
                <a:solidFill>
                  <a:schemeClr val="accent3"/>
                </a:solidFill>
              </a:rPr>
              <a:t>INDIA'S NATIONAL PUBLIC PROCUREMENT PORTAL</a:t>
            </a:r>
            <a:endParaRPr lang="en-US" sz="1200" dirty="0"/>
          </a:p>
        </p:txBody>
      </p:sp>
      <p:sp>
        <p:nvSpPr>
          <p:cNvPr id="3" name="Text 0"/>
          <p:cNvSpPr/>
          <p:nvPr>
            <p:ph idx="101" type="title" hasCustomPrompt="1"/>
          </p:nvPr>
        </p:nvSpPr>
        <p:spPr>
          <a:xfrm>
            <a:off x="731520" y="1783080"/>
            <a:ext cx="7132320" cy="1600200"/>
          </a:xfrm>
          <a:prstGeom prst="rect">
            <a:avLst/>
          </a:prstGeom>
          <a:noFill/>
          <a:ln/>
        </p:spPr>
        <p:txBody>
          <a:bodyPr wrap="square" lIns="0" tIns="0" rIns="0" bIns="0" rtlCol="0" anchor="t"/>
          <a:lstStyle/>
          <a:p>
            <a:pPr algn="l" indent="0" marL="0">
              <a:buNone/>
            </a:pPr>
            <a:r>
              <a:rPr lang="en-US" sz="4600" b="1" dirty="0">
                <a:solidFill>
                  <a:schemeClr val="bg1"/>
                </a:solidFill>
              </a:rPr>
              <a:t>Government e-Marketplace (GeM)</a:t>
            </a:r>
            <a:endParaRPr lang="en-US" sz="4600" dirty="0"/>
          </a:p>
        </p:txBody>
      </p:sp>
      <p:sp>
        <p:nvSpPr>
          <p:cNvPr id="4" name="Text 0"/>
          <p:cNvSpPr/>
          <p:nvPr>
            <p:ph idx="102" type="body" hasCustomPrompt="1"/>
          </p:nvPr>
        </p:nvSpPr>
        <p:spPr>
          <a:xfrm>
            <a:off x="731520" y="3429000"/>
            <a:ext cx="6949440" cy="548640"/>
          </a:xfrm>
          <a:prstGeom prst="rect">
            <a:avLst/>
          </a:prstGeom>
          <a:noFill/>
          <a:ln/>
        </p:spPr>
        <p:txBody>
          <a:bodyPr wrap="square" lIns="0" tIns="0" rIns="0" bIns="0" rtlCol="0" anchor="t"/>
          <a:lstStyle/>
          <a:p>
            <a:pPr indent="0" marL="0">
              <a:buNone/>
            </a:pPr>
            <a:r>
              <a:rPr lang="en-US" sz="2200" i="1" dirty="0">
                <a:solidFill>
                  <a:schemeClr val="accent3"/>
                </a:solidFill>
              </a:rPr>
              <a:t>Origins, framework and the bidding process</a:t>
            </a:r>
            <a:endParaRPr lang="en-US" sz="2200" dirty="0"/>
          </a:p>
        </p:txBody>
      </p:sp>
      <p:sp>
        <p:nvSpPr>
          <p:cNvPr id="5" name="Text 0"/>
          <p:cNvSpPr/>
          <p:nvPr>
            <p:ph idx="103" type="body" hasCustomPrompt="1"/>
          </p:nvPr>
        </p:nvSpPr>
        <p:spPr>
          <a:xfrm>
            <a:off x="731520" y="5989320"/>
            <a:ext cx="10515600" cy="365760"/>
          </a:xfrm>
          <a:prstGeom prst="rect">
            <a:avLst/>
          </a:prstGeom>
          <a:noFill/>
          <a:ln/>
        </p:spPr>
        <p:txBody>
          <a:bodyPr wrap="square" lIns="0" tIns="0" rIns="0" bIns="0" rtlCol="0" anchor="t"/>
          <a:lstStyle/>
          <a:p>
            <a:pPr indent="0" marL="0">
              <a:buNone/>
            </a:pPr>
            <a:r>
              <a:rPr lang="en-US" sz="1300" dirty="0">
                <a:solidFill>
                  <a:schemeClr val="accent4"/>
                </a:solidFill>
              </a:rPr>
              <a:t>Presented to [Name, Designation]   ·   [Presenter]   ·   [Date]</a:t>
            </a:r>
            <a:endParaRPr lang="en-US" sz="1300" dirty="0"/>
          </a:p>
        </p:txBody>
      </p:sp>
      <p:pic>
        <p:nvPicPr>
          <p:cNvPr id="6" name="Image 0" descr="Rose gold gem">    </p:cNvPr>
          <p:cNvPicPr>
            <a:picLocks noChangeAspect="1"/>
          </p:cNvPicPr>
          <p:nvPr/>
        </p:nvPicPr>
        <p:blipFill>
          <a:blip r:embed="rId1"/>
          <a:stretch>
            <a:fillRect/>
          </a:stretch>
        </p:blipFill>
        <p:spPr>
          <a:xfrm>
            <a:off x="8229600" y="1417320"/>
            <a:ext cx="3017520" cy="3017520"/>
          </a:xfrm>
          <a:prstGeom prst="rect">
            <a:avLst/>
          </a:prstGeom>
        </p:spPr>
      </p:pic>
      <p:sp>
        <p:nvSpPr>
          <p:cNvPr id="7" name="Part marker 01"/>
          <p:cNvSpPr/>
          <p:nvPr/>
        </p:nvSpPr>
        <p:spPr>
          <a:xfrm>
            <a:off x="731520" y="4379976"/>
            <a:ext cx="201168" cy="201168"/>
          </a:xfrm>
          <a:prstGeom prst="diamond">
            <a:avLst/>
          </a:prstGeom>
          <a:solidFill>
            <a:schemeClr val="accent1"/>
          </a:solidFill>
          <a:ln w="9525">
            <a:solidFill>
              <a:schemeClr val="accent3"/>
            </a:solidFill>
            <a:prstDash val="solid"/>
          </a:ln>
        </p:spPr>
      </p:sp>
      <p:sp>
        <p:nvSpPr>
          <p:cNvPr id="8" name="Text 5"/>
          <p:cNvSpPr txBox="1"/>
          <p:nvPr/>
        </p:nvSpPr>
        <p:spPr>
          <a:xfrm>
            <a:off x="1097280" y="4297680"/>
            <a:ext cx="5943600" cy="365760"/>
          </a:xfrm>
          <a:prstGeom prst="rect">
            <a:avLst/>
          </a:prstGeom>
          <a:noFill/>
          <a:ln/>
        </p:spPr>
        <p:txBody>
          <a:bodyPr wrap="square" lIns="0" tIns="0" rIns="0" bIns="0" rtlCol="0" anchor="ctr"/>
          <a:lstStyle/>
          <a:p>
            <a:pPr indent="0" marL="0">
              <a:buNone/>
            </a:pPr>
            <a:r>
              <a:rPr lang="en-US" sz="1500" b="1" dirty="0">
                <a:solidFill>
                  <a:schemeClr val="accent3"/>
                </a:solidFill>
              </a:rPr>
              <a:t>01   </a:t>
            </a:r>
            <a:pPr indent="0" marL="0">
              <a:buNone/>
            </a:pPr>
            <a:r>
              <a:rPr lang="en-US" sz="1500" dirty="0">
                <a:solidFill>
                  <a:schemeClr val="bg1"/>
                </a:solidFill>
              </a:rPr>
              <a:t>History of GeM</a:t>
            </a:r>
            <a:endParaRPr lang="en-US" sz="1500" dirty="0"/>
          </a:p>
        </p:txBody>
      </p:sp>
      <p:sp>
        <p:nvSpPr>
          <p:cNvPr id="9" name="Part marker 02"/>
          <p:cNvSpPr/>
          <p:nvPr/>
        </p:nvSpPr>
        <p:spPr>
          <a:xfrm>
            <a:off x="731520" y="4837176"/>
            <a:ext cx="201168" cy="201168"/>
          </a:xfrm>
          <a:prstGeom prst="diamond">
            <a:avLst/>
          </a:prstGeom>
          <a:solidFill>
            <a:schemeClr val="accent1"/>
          </a:solidFill>
          <a:ln w="9525">
            <a:solidFill>
              <a:schemeClr val="accent3"/>
            </a:solidFill>
            <a:prstDash val="solid"/>
          </a:ln>
        </p:spPr>
      </p:sp>
      <p:sp>
        <p:nvSpPr>
          <p:cNvPr id="10" name="Text 7"/>
          <p:cNvSpPr txBox="1"/>
          <p:nvPr/>
        </p:nvSpPr>
        <p:spPr>
          <a:xfrm>
            <a:off x="1097280" y="4754880"/>
            <a:ext cx="5943600" cy="365760"/>
          </a:xfrm>
          <a:prstGeom prst="rect">
            <a:avLst/>
          </a:prstGeom>
          <a:noFill/>
          <a:ln/>
        </p:spPr>
        <p:txBody>
          <a:bodyPr wrap="square" lIns="0" tIns="0" rIns="0" bIns="0" rtlCol="0" anchor="ctr"/>
          <a:lstStyle/>
          <a:p>
            <a:pPr indent="0" marL="0">
              <a:buNone/>
            </a:pPr>
            <a:r>
              <a:rPr lang="en-US" sz="1500" b="1" dirty="0">
                <a:solidFill>
                  <a:schemeClr val="accent3"/>
                </a:solidFill>
              </a:rPr>
              <a:t>02   </a:t>
            </a:r>
            <a:pPr indent="0" marL="0">
              <a:buNone/>
            </a:pPr>
            <a:r>
              <a:rPr lang="en-US" sz="1500" dirty="0">
                <a:solidFill>
                  <a:schemeClr val="bg1"/>
                </a:solidFill>
              </a:rPr>
              <a:t>How public procurement works in India</a:t>
            </a:r>
            <a:endParaRPr lang="en-US" sz="1500" dirty="0"/>
          </a:p>
        </p:txBody>
      </p:sp>
      <p:sp>
        <p:nvSpPr>
          <p:cNvPr id="11" name="Part marker 03"/>
          <p:cNvSpPr/>
          <p:nvPr/>
        </p:nvSpPr>
        <p:spPr>
          <a:xfrm>
            <a:off x="731520" y="5294376"/>
            <a:ext cx="201168" cy="201168"/>
          </a:xfrm>
          <a:prstGeom prst="diamond">
            <a:avLst/>
          </a:prstGeom>
          <a:solidFill>
            <a:schemeClr val="accent1"/>
          </a:solidFill>
          <a:ln w="9525">
            <a:solidFill>
              <a:schemeClr val="accent3"/>
            </a:solidFill>
            <a:prstDash val="solid"/>
          </a:ln>
        </p:spPr>
      </p:sp>
      <p:sp>
        <p:nvSpPr>
          <p:cNvPr id="12" name="Text 9"/>
          <p:cNvSpPr txBox="1"/>
          <p:nvPr/>
        </p:nvSpPr>
        <p:spPr>
          <a:xfrm>
            <a:off x="1097280" y="5212080"/>
            <a:ext cx="5943600" cy="365760"/>
          </a:xfrm>
          <a:prstGeom prst="rect">
            <a:avLst/>
          </a:prstGeom>
          <a:noFill/>
          <a:ln/>
        </p:spPr>
        <p:txBody>
          <a:bodyPr wrap="square" lIns="0" tIns="0" rIns="0" bIns="0" rtlCol="0" anchor="ctr"/>
          <a:lstStyle/>
          <a:p>
            <a:pPr indent="0" marL="0">
              <a:buNone/>
            </a:pPr>
            <a:r>
              <a:rPr lang="en-US" sz="1500" b="1" dirty="0">
                <a:solidFill>
                  <a:schemeClr val="accent3"/>
                </a:solidFill>
              </a:rPr>
              <a:t>03   </a:t>
            </a:r>
            <a:pPr indent="0" marL="0">
              <a:buNone/>
            </a:pPr>
            <a:r>
              <a:rPr lang="en-US" sz="1500" dirty="0">
                <a:solidFill>
                  <a:schemeClr val="bg1"/>
                </a:solidFill>
              </a:rPr>
              <a:t>The bidding process on GeM</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body" hasCustomPrompt="1"/>
          </p:nvPr>
        </p:nvSpPr>
        <p:spPr>
          <a:xfrm>
            <a:off x="886968" y="283464"/>
            <a:ext cx="1069848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PART 1  ·  HISTORY OF GeM</a:t>
            </a:r>
            <a:endParaRPr lang="en-US" sz="1100" dirty="0"/>
          </a:p>
        </p:txBody>
      </p:sp>
      <p:sp>
        <p:nvSpPr>
          <p:cNvPr id="3" name="Text 0"/>
          <p:cNvSpPr/>
          <p:nvPr>
            <p:ph idx="102" type="title" hasCustomPrompt="1"/>
          </p:nvPr>
        </p:nvSpPr>
        <p:spPr>
          <a:xfrm>
            <a:off x="548640" y="603504"/>
            <a:ext cx="11064240" cy="603504"/>
          </a:xfrm>
          <a:prstGeom prst="rect">
            <a:avLst/>
          </a:prstGeom>
          <a:noFill/>
          <a:ln/>
        </p:spPr>
        <p:txBody>
          <a:bodyPr wrap="square" lIns="0" tIns="0" rIns="0" bIns="0" rtlCol="0" anchor="ctr"/>
          <a:lstStyle/>
          <a:p>
            <a:pPr algn="l" indent="0" marL="0">
              <a:buNone/>
            </a:pPr>
            <a:r>
              <a:rPr lang="en-US" sz="3000" b="1" dirty="0">
                <a:solidFill>
                  <a:schemeClr val="tx2"/>
                </a:solidFill>
              </a:rPr>
              <a:t>GeM: from pilot to national procurement portal</a:t>
            </a:r>
            <a:endParaRPr lang="en-US" sz="3000" dirty="0"/>
          </a:p>
        </p:txBody>
      </p:sp>
      <p:sp>
        <p:nvSpPr>
          <p:cNvPr id="4" name="Text 0"/>
          <p:cNvSpPr/>
          <p:nvPr>
            <p:ph idx="103" type="body" hasCustomPrompt="1"/>
          </p:nvPr>
        </p:nvSpPr>
        <p:spPr>
          <a:xfrm>
            <a:off x="548640" y="6291072"/>
            <a:ext cx="10424160" cy="411480"/>
          </a:xfrm>
          <a:prstGeom prst="rect">
            <a:avLst/>
          </a:prstGeom>
          <a:noFill/>
          <a:ln/>
        </p:spPr>
        <p:txBody>
          <a:bodyPr wrap="square" lIns="0" tIns="0" rIns="0" bIns="0" rtlCol="0" anchor="t"/>
          <a:lstStyle/>
          <a:p>
            <a:pPr indent="0" marL="0">
              <a:buNone/>
            </a:pPr>
            <a:r>
              <a:rPr lang="en-US" sz="950" dirty="0">
                <a:solidFill>
                  <a:schemeClr val="accent6"/>
                </a:solidFill>
              </a:rPr>
              <a:t>Sources: Comptroller and Auditor General (CAG) Report No. 18 of 2020, Ch. IV; Cabinet releases, 12 Apr 2017 and 1 Jun 2022; GFR 2017 (updated to 31 Jan 2026), Rule 149; GeM General Terms and Conditions (GTC) v1.29, cl. 1, 22; Press Information Bureau (PIB) releases, 6 Apr 2026 and 8 Aug 2026.</a:t>
            </a:r>
            <a:endParaRPr lang="en-US" sz="950" dirty="0"/>
          </a:p>
        </p:txBody>
      </p:sp>
      <p:sp>
        <p:nvSpPr>
          <p:cNvPr id="6" name="Timeline axis"/>
          <p:cNvSpPr/>
          <p:nvPr/>
        </p:nvSpPr>
        <p:spPr>
          <a:xfrm>
            <a:off x="1463040" y="2487168"/>
            <a:ext cx="9281160" cy="0"/>
          </a:xfrm>
          <a:prstGeom prst="line">
            <a:avLst/>
          </a:prstGeom>
          <a:noFill/>
          <a:ln w="25400">
            <a:solidFill>
              <a:schemeClr val="accent3"/>
            </a:solidFill>
            <a:prstDash val="solid"/>
          </a:ln>
        </p:spPr>
      </p:sp>
      <p:sp>
        <p:nvSpPr>
          <p:cNvPr id="7" name="Milestone 1"/>
          <p:cNvSpPr/>
          <p:nvPr/>
        </p:nvSpPr>
        <p:spPr>
          <a:xfrm>
            <a:off x="1344168" y="2368296"/>
            <a:ext cx="237744" cy="237744"/>
          </a:xfrm>
          <a:prstGeom prst="diamond">
            <a:avLst/>
          </a:prstGeom>
          <a:solidFill>
            <a:schemeClr val="accent2"/>
          </a:solidFill>
          <a:ln w="15875">
            <a:solidFill>
              <a:schemeClr val="bg1"/>
            </a:solidFill>
            <a:prstDash val="solid"/>
          </a:ln>
        </p:spPr>
      </p:sp>
      <p:sp>
        <p:nvSpPr>
          <p:cNvPr id="8" name="Text 5"/>
          <p:cNvSpPr txBox="1"/>
          <p:nvPr/>
        </p:nvSpPr>
        <p:spPr>
          <a:xfrm>
            <a:off x="571500" y="1389888"/>
            <a:ext cx="1783080" cy="237744"/>
          </a:xfrm>
          <a:prstGeom prst="rect">
            <a:avLst/>
          </a:prstGeom>
          <a:noFill/>
          <a:ln/>
        </p:spPr>
        <p:txBody>
          <a:bodyPr wrap="square" lIns="0" tIns="0" rIns="0" bIns="0" rtlCol="0" anchor="t"/>
          <a:lstStyle/>
          <a:p>
            <a:pPr algn="ctr" indent="0" marL="0">
              <a:buNone/>
            </a:pPr>
            <a:r>
              <a:rPr lang="en-US" sz="1150" b="1" dirty="0">
                <a:solidFill>
                  <a:schemeClr val="accent2"/>
                </a:solidFill>
              </a:rPr>
              <a:t>1951 – 2016</a:t>
            </a:r>
            <a:endParaRPr lang="en-US" sz="1150" dirty="0"/>
          </a:p>
        </p:txBody>
      </p:sp>
      <p:sp>
        <p:nvSpPr>
          <p:cNvPr id="9" name="Text 6"/>
          <p:cNvSpPr txBox="1"/>
          <p:nvPr/>
        </p:nvSpPr>
        <p:spPr>
          <a:xfrm>
            <a:off x="571500" y="1645920"/>
            <a:ext cx="1783080" cy="685800"/>
          </a:xfrm>
          <a:prstGeom prst="rect">
            <a:avLst/>
          </a:prstGeom>
          <a:noFill/>
          <a:ln/>
        </p:spPr>
        <p:txBody>
          <a:bodyPr wrap="square" lIns="0" tIns="0" rIns="0" bIns="0" rtlCol="0" anchor="t"/>
          <a:lstStyle/>
          <a:p>
            <a:pPr algn="ctr" indent="0" marL="0">
              <a:buNone/>
            </a:pPr>
            <a:r>
              <a:rPr lang="en-US" sz="1050" dirty="0">
                <a:solidFill>
                  <a:schemeClr val="tx1"/>
                </a:solidFill>
              </a:rPr>
              <a:t>Directorate General of Supplies and Disposals (DGS&amp;D) is the central buyer</a:t>
            </a:r>
            <a:endParaRPr lang="en-US" sz="1050" dirty="0"/>
          </a:p>
        </p:txBody>
      </p:sp>
      <p:sp>
        <p:nvSpPr>
          <p:cNvPr id="10" name="Milestone 2"/>
          <p:cNvSpPr/>
          <p:nvPr/>
        </p:nvSpPr>
        <p:spPr>
          <a:xfrm>
            <a:off x="2272284" y="2368296"/>
            <a:ext cx="237744" cy="237744"/>
          </a:xfrm>
          <a:prstGeom prst="diamond">
            <a:avLst/>
          </a:prstGeom>
          <a:solidFill>
            <a:schemeClr val="accent2"/>
          </a:solidFill>
          <a:ln w="15875">
            <a:solidFill>
              <a:schemeClr val="bg1"/>
            </a:solidFill>
            <a:prstDash val="solid"/>
          </a:ln>
        </p:spPr>
      </p:sp>
      <p:sp>
        <p:nvSpPr>
          <p:cNvPr id="11" name="Text 8"/>
          <p:cNvSpPr txBox="1"/>
          <p:nvPr/>
        </p:nvSpPr>
        <p:spPr>
          <a:xfrm>
            <a:off x="1499616" y="2706624"/>
            <a:ext cx="1783080" cy="237744"/>
          </a:xfrm>
          <a:prstGeom prst="rect">
            <a:avLst/>
          </a:prstGeom>
          <a:noFill/>
          <a:ln/>
        </p:spPr>
        <p:txBody>
          <a:bodyPr wrap="square" lIns="0" tIns="0" rIns="0" bIns="0" rtlCol="0" anchor="t"/>
          <a:lstStyle/>
          <a:p>
            <a:pPr algn="ctr" indent="0" marL="0">
              <a:buNone/>
            </a:pPr>
            <a:r>
              <a:rPr lang="en-US" sz="1150" b="1" dirty="0">
                <a:solidFill>
                  <a:schemeClr val="accent2"/>
                </a:solidFill>
              </a:rPr>
              <a:t>Feb 2016</a:t>
            </a:r>
            <a:endParaRPr lang="en-US" sz="1150" dirty="0"/>
          </a:p>
        </p:txBody>
      </p:sp>
      <p:sp>
        <p:nvSpPr>
          <p:cNvPr id="12" name="Text 9"/>
          <p:cNvSpPr txBox="1"/>
          <p:nvPr/>
        </p:nvSpPr>
        <p:spPr>
          <a:xfrm>
            <a:off x="1499616" y="2962656"/>
            <a:ext cx="1783080" cy="685800"/>
          </a:xfrm>
          <a:prstGeom prst="rect">
            <a:avLst/>
          </a:prstGeom>
          <a:noFill/>
          <a:ln/>
        </p:spPr>
        <p:txBody>
          <a:bodyPr wrap="square" lIns="0" tIns="0" rIns="0" bIns="0" rtlCol="0" anchor="t"/>
          <a:lstStyle/>
          <a:p>
            <a:pPr algn="ctr" indent="0" marL="0">
              <a:buNone/>
            </a:pPr>
            <a:r>
              <a:rPr lang="en-US" sz="1050" dirty="0">
                <a:solidFill>
                  <a:schemeClr val="tx1"/>
                </a:solidFill>
              </a:rPr>
              <a:t>Group of Secretaries recommends a dedicated e-market for government</a:t>
            </a:r>
            <a:endParaRPr lang="en-US" sz="1050" dirty="0"/>
          </a:p>
        </p:txBody>
      </p:sp>
      <p:sp>
        <p:nvSpPr>
          <p:cNvPr id="13" name="Milestone 3"/>
          <p:cNvSpPr/>
          <p:nvPr/>
        </p:nvSpPr>
        <p:spPr>
          <a:xfrm>
            <a:off x="3200400" y="2368296"/>
            <a:ext cx="237744" cy="237744"/>
          </a:xfrm>
          <a:prstGeom prst="diamond">
            <a:avLst/>
          </a:prstGeom>
          <a:solidFill>
            <a:schemeClr val="accent1"/>
          </a:solidFill>
          <a:ln w="15875">
            <a:solidFill>
              <a:schemeClr val="bg1"/>
            </a:solidFill>
            <a:prstDash val="solid"/>
          </a:ln>
        </p:spPr>
      </p:sp>
      <p:sp>
        <p:nvSpPr>
          <p:cNvPr id="14" name="Text 11"/>
          <p:cNvSpPr txBox="1"/>
          <p:nvPr/>
        </p:nvSpPr>
        <p:spPr>
          <a:xfrm>
            <a:off x="2427732" y="1389888"/>
            <a:ext cx="1783080" cy="237744"/>
          </a:xfrm>
          <a:prstGeom prst="rect">
            <a:avLst/>
          </a:prstGeom>
          <a:noFill/>
          <a:ln/>
        </p:spPr>
        <p:txBody>
          <a:bodyPr wrap="square" lIns="0" tIns="0" rIns="0" bIns="0" rtlCol="0" anchor="t"/>
          <a:lstStyle/>
          <a:p>
            <a:pPr algn="ctr" indent="0" marL="0">
              <a:buNone/>
            </a:pPr>
            <a:r>
              <a:rPr lang="en-US" sz="1150" b="1" dirty="0">
                <a:solidFill>
                  <a:schemeClr val="accent1"/>
                </a:solidFill>
              </a:rPr>
              <a:t>9 Aug 2016</a:t>
            </a:r>
            <a:endParaRPr lang="en-US" sz="1150" dirty="0"/>
          </a:p>
        </p:txBody>
      </p:sp>
      <p:sp>
        <p:nvSpPr>
          <p:cNvPr id="15" name="Text 12"/>
          <p:cNvSpPr txBox="1"/>
          <p:nvPr/>
        </p:nvSpPr>
        <p:spPr>
          <a:xfrm>
            <a:off x="2427732" y="1645920"/>
            <a:ext cx="1783080" cy="685800"/>
          </a:xfrm>
          <a:prstGeom prst="rect">
            <a:avLst/>
          </a:prstGeom>
          <a:noFill/>
          <a:ln/>
        </p:spPr>
        <p:txBody>
          <a:bodyPr wrap="square" lIns="0" tIns="0" rIns="0" bIns="0" rtlCol="0" anchor="t"/>
          <a:lstStyle/>
          <a:p>
            <a:pPr algn="ctr" indent="0" marL="0">
              <a:buNone/>
            </a:pPr>
            <a:r>
              <a:rPr lang="en-US" sz="1050" dirty="0">
                <a:solidFill>
                  <a:schemeClr val="tx1"/>
                </a:solidFill>
              </a:rPr>
              <a:t>GeM pilot live: 120 product categories, 1 service; built by DGS&amp;D</a:t>
            </a:r>
            <a:endParaRPr lang="en-US" sz="1050" dirty="0"/>
          </a:p>
        </p:txBody>
      </p:sp>
      <p:sp>
        <p:nvSpPr>
          <p:cNvPr id="16" name="Milestone 4"/>
          <p:cNvSpPr/>
          <p:nvPr/>
        </p:nvSpPr>
        <p:spPr>
          <a:xfrm>
            <a:off x="4128516" y="2368296"/>
            <a:ext cx="237744" cy="237744"/>
          </a:xfrm>
          <a:prstGeom prst="diamond">
            <a:avLst/>
          </a:prstGeom>
          <a:solidFill>
            <a:schemeClr val="accent2"/>
          </a:solidFill>
          <a:ln w="15875">
            <a:solidFill>
              <a:schemeClr val="bg1"/>
            </a:solidFill>
            <a:prstDash val="solid"/>
          </a:ln>
        </p:spPr>
      </p:sp>
      <p:sp>
        <p:nvSpPr>
          <p:cNvPr id="17" name="Text 14"/>
          <p:cNvSpPr txBox="1"/>
          <p:nvPr/>
        </p:nvSpPr>
        <p:spPr>
          <a:xfrm>
            <a:off x="3355848" y="2706624"/>
            <a:ext cx="1783080" cy="237744"/>
          </a:xfrm>
          <a:prstGeom prst="rect">
            <a:avLst/>
          </a:prstGeom>
          <a:noFill/>
          <a:ln/>
        </p:spPr>
        <p:txBody>
          <a:bodyPr wrap="square" lIns="0" tIns="0" rIns="0" bIns="0" rtlCol="0" anchor="t"/>
          <a:lstStyle/>
          <a:p>
            <a:pPr algn="ctr" indent="0" marL="0">
              <a:buNone/>
            </a:pPr>
            <a:r>
              <a:rPr lang="en-US" sz="1150" b="1" dirty="0">
                <a:solidFill>
                  <a:schemeClr val="accent2"/>
                </a:solidFill>
              </a:rPr>
              <a:t>Mar 2017</a:t>
            </a:r>
            <a:endParaRPr lang="en-US" sz="1150" dirty="0"/>
          </a:p>
        </p:txBody>
      </p:sp>
      <p:sp>
        <p:nvSpPr>
          <p:cNvPr id="18" name="Text 15"/>
          <p:cNvSpPr txBox="1"/>
          <p:nvPr/>
        </p:nvSpPr>
        <p:spPr>
          <a:xfrm>
            <a:off x="3355848" y="2962656"/>
            <a:ext cx="1783080" cy="685800"/>
          </a:xfrm>
          <a:prstGeom prst="rect">
            <a:avLst/>
          </a:prstGeom>
          <a:noFill/>
          <a:ln/>
        </p:spPr>
        <p:txBody>
          <a:bodyPr wrap="square" lIns="0" tIns="0" rIns="0" bIns="0" rtlCol="0" anchor="t"/>
          <a:lstStyle/>
          <a:p>
            <a:pPr algn="ctr" indent="0" marL="0">
              <a:buNone/>
            </a:pPr>
            <a:r>
              <a:rPr lang="en-US" sz="1050" dirty="0">
                <a:solidFill>
                  <a:schemeClr val="tx1"/>
                </a:solidFill>
              </a:rPr>
              <a:t>General Financial Rules (GFR) 2017: Rule 149 makes GeM mandatory</a:t>
            </a:r>
            <a:endParaRPr lang="en-US" sz="1050" dirty="0"/>
          </a:p>
        </p:txBody>
      </p:sp>
      <p:sp>
        <p:nvSpPr>
          <p:cNvPr id="19" name="Milestone 5"/>
          <p:cNvSpPr/>
          <p:nvPr/>
        </p:nvSpPr>
        <p:spPr>
          <a:xfrm>
            <a:off x="5056632" y="2368296"/>
            <a:ext cx="237744" cy="237744"/>
          </a:xfrm>
          <a:prstGeom prst="diamond">
            <a:avLst/>
          </a:prstGeom>
          <a:solidFill>
            <a:schemeClr val="accent2"/>
          </a:solidFill>
          <a:ln w="15875">
            <a:solidFill>
              <a:schemeClr val="bg1"/>
            </a:solidFill>
            <a:prstDash val="solid"/>
          </a:ln>
        </p:spPr>
      </p:sp>
      <p:sp>
        <p:nvSpPr>
          <p:cNvPr id="20" name="Text 17"/>
          <p:cNvSpPr txBox="1"/>
          <p:nvPr/>
        </p:nvSpPr>
        <p:spPr>
          <a:xfrm>
            <a:off x="4283964" y="1389888"/>
            <a:ext cx="1783080" cy="237744"/>
          </a:xfrm>
          <a:prstGeom prst="rect">
            <a:avLst/>
          </a:prstGeom>
          <a:noFill/>
          <a:ln/>
        </p:spPr>
        <p:txBody>
          <a:bodyPr wrap="square" lIns="0" tIns="0" rIns="0" bIns="0" rtlCol="0" anchor="t"/>
          <a:lstStyle/>
          <a:p>
            <a:pPr algn="ctr" indent="0" marL="0">
              <a:buNone/>
            </a:pPr>
            <a:r>
              <a:rPr lang="en-US" sz="1150" b="1" dirty="0">
                <a:solidFill>
                  <a:schemeClr val="accent2"/>
                </a:solidFill>
              </a:rPr>
              <a:t>12 Apr 2017</a:t>
            </a:r>
            <a:endParaRPr lang="en-US" sz="1150" dirty="0"/>
          </a:p>
        </p:txBody>
      </p:sp>
      <p:sp>
        <p:nvSpPr>
          <p:cNvPr id="21" name="Text 18"/>
          <p:cNvSpPr txBox="1"/>
          <p:nvPr/>
        </p:nvSpPr>
        <p:spPr>
          <a:xfrm>
            <a:off x="4283964" y="1645920"/>
            <a:ext cx="1783080" cy="685800"/>
          </a:xfrm>
          <a:prstGeom prst="rect">
            <a:avLst/>
          </a:prstGeom>
          <a:noFill/>
          <a:ln/>
        </p:spPr>
        <p:txBody>
          <a:bodyPr wrap="square" lIns="0" tIns="0" rIns="0" bIns="0" rtlCol="0" anchor="t"/>
          <a:lstStyle/>
          <a:p>
            <a:pPr algn="ctr" indent="0" marL="0">
              <a:buNone/>
            </a:pPr>
            <a:r>
              <a:rPr lang="en-US" sz="1050" dirty="0">
                <a:solidFill>
                  <a:schemeClr val="tx1"/>
                </a:solidFill>
              </a:rPr>
              <a:t>Cabinet approves GeM Special Purpose Vehicle (SPV); DGS&amp;D to close</a:t>
            </a:r>
            <a:endParaRPr lang="en-US" sz="1050" dirty="0"/>
          </a:p>
        </p:txBody>
      </p:sp>
      <p:sp>
        <p:nvSpPr>
          <p:cNvPr id="22" name="Milestone 6"/>
          <p:cNvSpPr/>
          <p:nvPr/>
        </p:nvSpPr>
        <p:spPr>
          <a:xfrm>
            <a:off x="5984748" y="2368296"/>
            <a:ext cx="237744" cy="237744"/>
          </a:xfrm>
          <a:prstGeom prst="diamond">
            <a:avLst/>
          </a:prstGeom>
          <a:solidFill>
            <a:schemeClr val="accent1"/>
          </a:solidFill>
          <a:ln w="15875">
            <a:solidFill>
              <a:schemeClr val="bg1"/>
            </a:solidFill>
            <a:prstDash val="solid"/>
          </a:ln>
        </p:spPr>
      </p:sp>
      <p:sp>
        <p:nvSpPr>
          <p:cNvPr id="23" name="Text 20"/>
          <p:cNvSpPr txBox="1"/>
          <p:nvPr/>
        </p:nvSpPr>
        <p:spPr>
          <a:xfrm>
            <a:off x="5212080" y="2706624"/>
            <a:ext cx="1783080" cy="237744"/>
          </a:xfrm>
          <a:prstGeom prst="rect">
            <a:avLst/>
          </a:prstGeom>
          <a:noFill/>
          <a:ln/>
        </p:spPr>
        <p:txBody>
          <a:bodyPr wrap="square" lIns="0" tIns="0" rIns="0" bIns="0" rtlCol="0" anchor="t"/>
          <a:lstStyle/>
          <a:p>
            <a:pPr algn="ctr" indent="0" marL="0">
              <a:buNone/>
            </a:pPr>
            <a:r>
              <a:rPr lang="en-US" sz="1150" b="1" dirty="0">
                <a:solidFill>
                  <a:schemeClr val="accent1"/>
                </a:solidFill>
              </a:rPr>
              <a:t>17 May 2017</a:t>
            </a:r>
            <a:endParaRPr lang="en-US" sz="1150" dirty="0"/>
          </a:p>
        </p:txBody>
      </p:sp>
      <p:sp>
        <p:nvSpPr>
          <p:cNvPr id="24" name="Text 21"/>
          <p:cNvSpPr txBox="1"/>
          <p:nvPr/>
        </p:nvSpPr>
        <p:spPr>
          <a:xfrm>
            <a:off x="5212080" y="2962656"/>
            <a:ext cx="1783080" cy="685800"/>
          </a:xfrm>
          <a:prstGeom prst="rect">
            <a:avLst/>
          </a:prstGeom>
          <a:noFill/>
          <a:ln/>
        </p:spPr>
        <p:txBody>
          <a:bodyPr wrap="square" lIns="0" tIns="0" rIns="0" bIns="0" rtlCol="0" anchor="t"/>
          <a:lstStyle/>
          <a:p>
            <a:pPr algn="ctr" indent="0" marL="0">
              <a:buNone/>
            </a:pPr>
            <a:r>
              <a:rPr lang="en-US" sz="1050" dirty="0">
                <a:solidFill>
                  <a:schemeClr val="tx1"/>
                </a:solidFill>
              </a:rPr>
              <a:t>GeM SPV incorporated as a not-for-profit Section 8 company</a:t>
            </a:r>
            <a:endParaRPr lang="en-US" sz="1050" dirty="0"/>
          </a:p>
        </p:txBody>
      </p:sp>
      <p:sp>
        <p:nvSpPr>
          <p:cNvPr id="25" name="Milestone 7"/>
          <p:cNvSpPr/>
          <p:nvPr/>
        </p:nvSpPr>
        <p:spPr>
          <a:xfrm>
            <a:off x="6912864" y="2368296"/>
            <a:ext cx="237744" cy="237744"/>
          </a:xfrm>
          <a:prstGeom prst="diamond">
            <a:avLst/>
          </a:prstGeom>
          <a:solidFill>
            <a:schemeClr val="accent2"/>
          </a:solidFill>
          <a:ln w="15875">
            <a:solidFill>
              <a:schemeClr val="bg1"/>
            </a:solidFill>
            <a:prstDash val="solid"/>
          </a:ln>
        </p:spPr>
      </p:sp>
      <p:sp>
        <p:nvSpPr>
          <p:cNvPr id="26" name="Text 23"/>
          <p:cNvSpPr txBox="1"/>
          <p:nvPr/>
        </p:nvSpPr>
        <p:spPr>
          <a:xfrm>
            <a:off x="6140196" y="1389888"/>
            <a:ext cx="1783080" cy="237744"/>
          </a:xfrm>
          <a:prstGeom prst="rect">
            <a:avLst/>
          </a:prstGeom>
          <a:noFill/>
          <a:ln/>
        </p:spPr>
        <p:txBody>
          <a:bodyPr wrap="square" lIns="0" tIns="0" rIns="0" bIns="0" rtlCol="0" anchor="t"/>
          <a:lstStyle/>
          <a:p>
            <a:pPr algn="ctr" indent="0" marL="0">
              <a:buNone/>
            </a:pPr>
            <a:r>
              <a:rPr lang="en-US" sz="1150" b="1" dirty="0">
                <a:solidFill>
                  <a:schemeClr val="accent2"/>
                </a:solidFill>
              </a:rPr>
              <a:t>31 Oct 2017</a:t>
            </a:r>
            <a:endParaRPr lang="en-US" sz="1150" dirty="0"/>
          </a:p>
        </p:txBody>
      </p:sp>
      <p:sp>
        <p:nvSpPr>
          <p:cNvPr id="27" name="Text 24"/>
          <p:cNvSpPr txBox="1"/>
          <p:nvPr/>
        </p:nvSpPr>
        <p:spPr>
          <a:xfrm>
            <a:off x="6140196" y="1645920"/>
            <a:ext cx="1783080" cy="685800"/>
          </a:xfrm>
          <a:prstGeom prst="rect">
            <a:avLst/>
          </a:prstGeom>
          <a:noFill/>
          <a:ln/>
        </p:spPr>
        <p:txBody>
          <a:bodyPr wrap="square" lIns="0" tIns="0" rIns="0" bIns="0" rtlCol="0" anchor="t"/>
          <a:lstStyle/>
          <a:p>
            <a:pPr algn="ctr" indent="0" marL="0">
              <a:buNone/>
            </a:pPr>
            <a:r>
              <a:rPr lang="en-US" sz="1050" dirty="0">
                <a:solidFill>
                  <a:schemeClr val="tx1"/>
                </a:solidFill>
              </a:rPr>
              <a:t>DGS&amp;D wound up</a:t>
            </a:r>
            <a:endParaRPr lang="en-US" sz="1050" dirty="0"/>
          </a:p>
        </p:txBody>
      </p:sp>
      <p:sp>
        <p:nvSpPr>
          <p:cNvPr id="28" name="Milestone 8"/>
          <p:cNvSpPr/>
          <p:nvPr/>
        </p:nvSpPr>
        <p:spPr>
          <a:xfrm>
            <a:off x="7840980" y="2368296"/>
            <a:ext cx="237744" cy="237744"/>
          </a:xfrm>
          <a:prstGeom prst="diamond">
            <a:avLst/>
          </a:prstGeom>
          <a:solidFill>
            <a:schemeClr val="accent2"/>
          </a:solidFill>
          <a:ln w="15875">
            <a:solidFill>
              <a:schemeClr val="bg1"/>
            </a:solidFill>
            <a:prstDash val="solid"/>
          </a:ln>
        </p:spPr>
      </p:sp>
      <p:sp>
        <p:nvSpPr>
          <p:cNvPr id="29" name="Text 26"/>
          <p:cNvSpPr txBox="1"/>
          <p:nvPr/>
        </p:nvSpPr>
        <p:spPr>
          <a:xfrm>
            <a:off x="7068312" y="2706624"/>
            <a:ext cx="1783080" cy="237744"/>
          </a:xfrm>
          <a:prstGeom prst="rect">
            <a:avLst/>
          </a:prstGeom>
          <a:noFill/>
          <a:ln/>
        </p:spPr>
        <p:txBody>
          <a:bodyPr wrap="square" lIns="0" tIns="0" rIns="0" bIns="0" rtlCol="0" anchor="t"/>
          <a:lstStyle/>
          <a:p>
            <a:pPr algn="ctr" indent="0" marL="0">
              <a:buNone/>
            </a:pPr>
            <a:r>
              <a:rPr lang="en-US" sz="1150" b="1" dirty="0">
                <a:solidFill>
                  <a:schemeClr val="accent2"/>
                </a:solidFill>
              </a:rPr>
              <a:t>26 Jan 2018</a:t>
            </a:r>
            <a:endParaRPr lang="en-US" sz="1150" dirty="0"/>
          </a:p>
        </p:txBody>
      </p:sp>
      <p:sp>
        <p:nvSpPr>
          <p:cNvPr id="30" name="Text 27"/>
          <p:cNvSpPr txBox="1"/>
          <p:nvPr/>
        </p:nvSpPr>
        <p:spPr>
          <a:xfrm>
            <a:off x="7068312" y="2962656"/>
            <a:ext cx="1783080" cy="685800"/>
          </a:xfrm>
          <a:prstGeom prst="rect">
            <a:avLst/>
          </a:prstGeom>
          <a:noFill/>
          <a:ln/>
        </p:spPr>
        <p:txBody>
          <a:bodyPr wrap="square" lIns="0" tIns="0" rIns="0" bIns="0" rtlCol="0" anchor="t"/>
          <a:lstStyle/>
          <a:p>
            <a:pPr algn="ctr" indent="0" marL="0">
              <a:buNone/>
            </a:pPr>
            <a:r>
              <a:rPr lang="en-US" sz="1050" dirty="0">
                <a:solidFill>
                  <a:schemeClr val="tx1"/>
                </a:solidFill>
              </a:rPr>
              <a:t>GeM 3.0 live (Phase 1); Phase 2 in Dec 2018</a:t>
            </a:r>
            <a:endParaRPr lang="en-US" sz="1050" dirty="0"/>
          </a:p>
        </p:txBody>
      </p:sp>
      <p:sp>
        <p:nvSpPr>
          <p:cNvPr id="31" name="Milestone 9"/>
          <p:cNvSpPr/>
          <p:nvPr/>
        </p:nvSpPr>
        <p:spPr>
          <a:xfrm>
            <a:off x="8769096" y="2368296"/>
            <a:ext cx="237744" cy="237744"/>
          </a:xfrm>
          <a:prstGeom prst="diamond">
            <a:avLst/>
          </a:prstGeom>
          <a:solidFill>
            <a:schemeClr val="accent2"/>
          </a:solidFill>
          <a:ln w="15875">
            <a:solidFill>
              <a:schemeClr val="bg1"/>
            </a:solidFill>
            <a:prstDash val="solid"/>
          </a:ln>
        </p:spPr>
      </p:sp>
      <p:sp>
        <p:nvSpPr>
          <p:cNvPr id="32" name="Text 29"/>
          <p:cNvSpPr txBox="1"/>
          <p:nvPr/>
        </p:nvSpPr>
        <p:spPr>
          <a:xfrm>
            <a:off x="7996428" y="1389888"/>
            <a:ext cx="1783080" cy="237744"/>
          </a:xfrm>
          <a:prstGeom prst="rect">
            <a:avLst/>
          </a:prstGeom>
          <a:noFill/>
          <a:ln/>
        </p:spPr>
        <p:txBody>
          <a:bodyPr wrap="square" lIns="0" tIns="0" rIns="0" bIns="0" rtlCol="0" anchor="t"/>
          <a:lstStyle/>
          <a:p>
            <a:pPr algn="ctr" indent="0" marL="0">
              <a:buNone/>
            </a:pPr>
            <a:r>
              <a:rPr lang="en-US" sz="1150" b="1" dirty="0">
                <a:solidFill>
                  <a:schemeClr val="accent2"/>
                </a:solidFill>
              </a:rPr>
              <a:t>1 Jun 2022</a:t>
            </a:r>
            <a:endParaRPr lang="en-US" sz="1150" dirty="0"/>
          </a:p>
        </p:txBody>
      </p:sp>
      <p:sp>
        <p:nvSpPr>
          <p:cNvPr id="33" name="Text 30"/>
          <p:cNvSpPr txBox="1"/>
          <p:nvPr/>
        </p:nvSpPr>
        <p:spPr>
          <a:xfrm>
            <a:off x="7996428" y="1645920"/>
            <a:ext cx="1783080" cy="685800"/>
          </a:xfrm>
          <a:prstGeom prst="rect">
            <a:avLst/>
          </a:prstGeom>
          <a:noFill/>
          <a:ln/>
        </p:spPr>
        <p:txBody>
          <a:bodyPr wrap="square" lIns="0" tIns="0" rIns="0" bIns="0" rtlCol="0" anchor="t"/>
          <a:lstStyle/>
          <a:p>
            <a:pPr algn="ctr" indent="0" marL="0">
              <a:buNone/>
            </a:pPr>
            <a:r>
              <a:rPr lang="en-US" sz="1050" dirty="0">
                <a:solidFill>
                  <a:schemeClr val="tx1"/>
                </a:solidFill>
              </a:rPr>
              <a:t>Cabinet opens GeM to cooperatives as buyers</a:t>
            </a:r>
            <a:endParaRPr lang="en-US" sz="1050" dirty="0"/>
          </a:p>
        </p:txBody>
      </p:sp>
      <p:sp>
        <p:nvSpPr>
          <p:cNvPr id="34" name="Milestone 10"/>
          <p:cNvSpPr/>
          <p:nvPr/>
        </p:nvSpPr>
        <p:spPr>
          <a:xfrm>
            <a:off x="9697212" y="2368296"/>
            <a:ext cx="237744" cy="237744"/>
          </a:xfrm>
          <a:prstGeom prst="diamond">
            <a:avLst/>
          </a:prstGeom>
          <a:solidFill>
            <a:schemeClr val="accent2"/>
          </a:solidFill>
          <a:ln w="15875">
            <a:solidFill>
              <a:schemeClr val="bg1"/>
            </a:solidFill>
            <a:prstDash val="solid"/>
          </a:ln>
        </p:spPr>
      </p:sp>
      <p:sp>
        <p:nvSpPr>
          <p:cNvPr id="35" name="Text 32"/>
          <p:cNvSpPr txBox="1"/>
          <p:nvPr/>
        </p:nvSpPr>
        <p:spPr>
          <a:xfrm>
            <a:off x="8924544" y="2706624"/>
            <a:ext cx="1783080" cy="237744"/>
          </a:xfrm>
          <a:prstGeom prst="rect">
            <a:avLst/>
          </a:prstGeom>
          <a:noFill/>
          <a:ln/>
        </p:spPr>
        <p:txBody>
          <a:bodyPr wrap="square" lIns="0" tIns="0" rIns="0" bIns="0" rtlCol="0" anchor="t"/>
          <a:lstStyle/>
          <a:p>
            <a:pPr algn="ctr" indent="0" marL="0">
              <a:buNone/>
            </a:pPr>
            <a:r>
              <a:rPr lang="en-US" sz="1150" b="1" dirty="0">
                <a:solidFill>
                  <a:schemeClr val="accent2"/>
                </a:solidFill>
              </a:rPr>
              <a:t>10 Jul 2024</a:t>
            </a:r>
            <a:endParaRPr lang="en-US" sz="1150" dirty="0"/>
          </a:p>
        </p:txBody>
      </p:sp>
      <p:sp>
        <p:nvSpPr>
          <p:cNvPr id="36" name="Text 33"/>
          <p:cNvSpPr txBox="1"/>
          <p:nvPr/>
        </p:nvSpPr>
        <p:spPr>
          <a:xfrm>
            <a:off x="8924544" y="2962656"/>
            <a:ext cx="1783080" cy="685800"/>
          </a:xfrm>
          <a:prstGeom prst="rect">
            <a:avLst/>
          </a:prstGeom>
          <a:noFill/>
          <a:ln/>
        </p:spPr>
        <p:txBody>
          <a:bodyPr wrap="square" lIns="0" tIns="0" rIns="0" bIns="0" rtlCol="0" anchor="t"/>
          <a:lstStyle/>
          <a:p>
            <a:pPr algn="ctr" indent="0" marL="0">
              <a:buNone/>
            </a:pPr>
            <a:r>
              <a:rPr lang="en-US" sz="1050" dirty="0">
                <a:solidFill>
                  <a:schemeClr val="tx1"/>
                </a:solidFill>
              </a:rPr>
              <a:t>Rule 149 limits doubled: ₹50,000 direct, ₹10 lakh lowest-price</a:t>
            </a:r>
            <a:endParaRPr lang="en-US" sz="1050" dirty="0"/>
          </a:p>
        </p:txBody>
      </p:sp>
      <p:sp>
        <p:nvSpPr>
          <p:cNvPr id="37" name="Milestone 11"/>
          <p:cNvSpPr/>
          <p:nvPr/>
        </p:nvSpPr>
        <p:spPr>
          <a:xfrm>
            <a:off x="10625328" y="2368296"/>
            <a:ext cx="237744" cy="237744"/>
          </a:xfrm>
          <a:prstGeom prst="diamond">
            <a:avLst/>
          </a:prstGeom>
          <a:solidFill>
            <a:schemeClr val="accent2"/>
          </a:solidFill>
          <a:ln w="15875">
            <a:solidFill>
              <a:schemeClr val="bg1"/>
            </a:solidFill>
            <a:prstDash val="solid"/>
          </a:ln>
        </p:spPr>
      </p:sp>
      <p:sp>
        <p:nvSpPr>
          <p:cNvPr id="38" name="Text 35"/>
          <p:cNvSpPr txBox="1"/>
          <p:nvPr/>
        </p:nvSpPr>
        <p:spPr>
          <a:xfrm>
            <a:off x="9852660" y="1389888"/>
            <a:ext cx="1783080" cy="237744"/>
          </a:xfrm>
          <a:prstGeom prst="rect">
            <a:avLst/>
          </a:prstGeom>
          <a:noFill/>
          <a:ln/>
        </p:spPr>
        <p:txBody>
          <a:bodyPr wrap="square" lIns="0" tIns="0" rIns="0" bIns="0" rtlCol="0" anchor="t"/>
          <a:lstStyle/>
          <a:p>
            <a:pPr algn="ctr" indent="0" marL="0">
              <a:buNone/>
            </a:pPr>
            <a:r>
              <a:rPr lang="en-US" sz="1150" b="1" dirty="0">
                <a:solidFill>
                  <a:schemeClr val="accent2"/>
                </a:solidFill>
              </a:rPr>
              <a:t>9 Aug 2026</a:t>
            </a:r>
            <a:endParaRPr lang="en-US" sz="1150" dirty="0"/>
          </a:p>
        </p:txBody>
      </p:sp>
      <p:sp>
        <p:nvSpPr>
          <p:cNvPr id="39" name="Text 36"/>
          <p:cNvSpPr txBox="1"/>
          <p:nvPr/>
        </p:nvSpPr>
        <p:spPr>
          <a:xfrm>
            <a:off x="9852660" y="1645920"/>
            <a:ext cx="1783080" cy="685800"/>
          </a:xfrm>
          <a:prstGeom prst="rect">
            <a:avLst/>
          </a:prstGeom>
          <a:noFill/>
          <a:ln/>
        </p:spPr>
        <p:txBody>
          <a:bodyPr wrap="square" lIns="0" tIns="0" rIns="0" bIns="0" rtlCol="0" anchor="t"/>
          <a:lstStyle/>
          <a:p>
            <a:pPr algn="ctr" indent="0" marL="0">
              <a:buNone/>
            </a:pPr>
            <a:r>
              <a:rPr lang="en-US" sz="1050" dirty="0">
                <a:solidFill>
                  <a:schemeClr val="tx1"/>
                </a:solidFill>
              </a:rPr>
              <a:t>10 years; over ₹20 lakh crore procured</a:t>
            </a:r>
            <a:endParaRPr lang="en-US" sz="1050" dirty="0"/>
          </a:p>
        </p:txBody>
      </p:sp>
      <p:sp>
        <p:nvSpPr>
          <p:cNvPr id="40" name="How GeM is run"/>
          <p:cNvSpPr/>
          <p:nvPr/>
        </p:nvSpPr>
        <p:spPr>
          <a:xfrm>
            <a:off x="548640" y="3822192"/>
            <a:ext cx="3657600" cy="2286000"/>
          </a:xfrm>
          <a:prstGeom prst="roundRect">
            <a:avLst>
              <a:gd name="adj" fmla="val 4000"/>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41" name="Text 38"/>
          <p:cNvSpPr txBox="1"/>
          <p:nvPr/>
        </p:nvSpPr>
        <p:spPr>
          <a:xfrm>
            <a:off x="749808" y="3950208"/>
            <a:ext cx="3291840" cy="274320"/>
          </a:xfrm>
          <a:prstGeom prst="rect">
            <a:avLst/>
          </a:prstGeom>
          <a:noFill/>
          <a:ln/>
        </p:spPr>
        <p:txBody>
          <a:bodyPr wrap="square" lIns="0" tIns="0" rIns="0" bIns="0" rtlCol="0" anchor="ctr"/>
          <a:lstStyle/>
          <a:p>
            <a:pPr indent="0" marL="0">
              <a:buNone/>
            </a:pPr>
            <a:r>
              <a:rPr lang="en-US" sz="1300" b="1" dirty="0">
                <a:solidFill>
                  <a:schemeClr val="accent1"/>
                </a:solidFill>
              </a:rPr>
              <a:t>How GeM is run</a:t>
            </a:r>
            <a:endParaRPr lang="en-US" sz="1300" dirty="0"/>
          </a:p>
        </p:txBody>
      </p:sp>
      <p:sp>
        <p:nvSpPr>
          <p:cNvPr id="42" name="Text 39"/>
          <p:cNvSpPr txBox="1"/>
          <p:nvPr/>
        </p:nvSpPr>
        <p:spPr>
          <a:xfrm>
            <a:off x="749808" y="4297680"/>
            <a:ext cx="3310128" cy="17373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Owner: GeM SPV, a Section 8 (not-for-profit) company under the Companies Act, 2013</a:t>
            </a:r>
            <a:endParaRPr lang="en-US" sz="1100" dirty="0"/>
          </a:p>
          <a:p>
            <a:pPr marL="152400" indent="-152400">
              <a:spcAft>
                <a:spcPts val="400"/>
              </a:spcAft>
              <a:buSzPct val="100000"/>
              <a:buChar char="•"/>
            </a:pPr>
            <a:r>
              <a:rPr lang="en-US" sz="1100" dirty="0">
                <a:solidFill>
                  <a:schemeClr val="tx1"/>
                </a:solidFill>
              </a:rPr>
              <a:t>Ministry: Commerce and Industry</a:t>
            </a:r>
            <a:endParaRPr lang="en-US" sz="1100" dirty="0"/>
          </a:p>
          <a:p>
            <a:pPr marL="152400" indent="-152400">
              <a:spcAft>
                <a:spcPts val="400"/>
              </a:spcAft>
              <a:buSzPct val="100000"/>
              <a:buChar char="•"/>
            </a:pPr>
            <a:r>
              <a:rPr lang="en-US" sz="1100" dirty="0">
                <a:solidFill>
                  <a:schemeClr val="tx1"/>
                </a:solidFill>
              </a:rPr>
              <a:t>Built and run by a Managed Service Provider under the SPV's control</a:t>
            </a:r>
            <a:endParaRPr lang="en-US" sz="1100" dirty="0"/>
          </a:p>
          <a:p>
            <a:pPr marL="152400" indent="-152400">
              <a:spcAft>
                <a:spcPts val="400"/>
              </a:spcAft>
              <a:buSzPct val="100000"/>
              <a:buChar char="•"/>
            </a:pPr>
            <a:r>
              <a:rPr lang="en-US" sz="1100" dirty="0">
                <a:solidFill>
                  <a:schemeClr val="tx1"/>
                </a:solidFill>
              </a:rPr>
              <a:t>Serves Central and State ministries, public sector units, autonomous and local bodies</a:t>
            </a:r>
            <a:endParaRPr lang="en-US" sz="1100" dirty="0"/>
          </a:p>
        </p:txBody>
      </p:sp>
      <p:sp>
        <p:nvSpPr>
          <p:cNvPr id="43" name="Stat 1"/>
          <p:cNvSpPr/>
          <p:nvPr/>
        </p:nvSpPr>
        <p:spPr>
          <a:xfrm>
            <a:off x="4370832" y="3822192"/>
            <a:ext cx="2377440" cy="1078992"/>
          </a:xfrm>
          <a:prstGeom prst="roundRect">
            <a:avLst>
              <a:gd name="adj" fmla="val 8475"/>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44" name="Text 41"/>
          <p:cNvSpPr txBox="1"/>
          <p:nvPr/>
        </p:nvSpPr>
        <p:spPr>
          <a:xfrm>
            <a:off x="4535424" y="3931920"/>
            <a:ext cx="2103120" cy="384048"/>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₹18.4 lakh crore</a:t>
            </a:r>
            <a:endParaRPr lang="en-US" sz="2000" dirty="0"/>
          </a:p>
        </p:txBody>
      </p:sp>
      <p:sp>
        <p:nvSpPr>
          <p:cNvPr id="45" name="Text 42"/>
          <p:cNvSpPr txBox="1"/>
          <p:nvPr/>
        </p:nvSpPr>
        <p:spPr>
          <a:xfrm>
            <a:off x="4535424" y="4334256"/>
            <a:ext cx="2103120" cy="530352"/>
          </a:xfrm>
          <a:prstGeom prst="rect">
            <a:avLst/>
          </a:prstGeom>
          <a:noFill/>
          <a:ln/>
        </p:spPr>
        <p:txBody>
          <a:bodyPr wrap="square" lIns="0" tIns="0" rIns="0" bIns="0" rtlCol="0" anchor="t"/>
          <a:lstStyle/>
          <a:p>
            <a:pPr indent="0" marL="0">
              <a:buNone/>
            </a:pPr>
            <a:r>
              <a:rPr lang="en-US" sz="1000" dirty="0">
                <a:solidFill>
                  <a:schemeClr val="accent6"/>
                </a:solidFill>
              </a:rPr>
              <a:t>cumulative Gross Merchandise Value (GMV), Apr 2026</a:t>
            </a:r>
            <a:endParaRPr lang="en-US" sz="1000" dirty="0"/>
          </a:p>
        </p:txBody>
      </p:sp>
      <p:sp>
        <p:nvSpPr>
          <p:cNvPr id="46" name="Stat 2"/>
          <p:cNvSpPr/>
          <p:nvPr/>
        </p:nvSpPr>
        <p:spPr>
          <a:xfrm>
            <a:off x="6867144" y="3822192"/>
            <a:ext cx="2377440" cy="1078992"/>
          </a:xfrm>
          <a:prstGeom prst="roundRect">
            <a:avLst>
              <a:gd name="adj" fmla="val 8475"/>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47" name="Text 44"/>
          <p:cNvSpPr txBox="1"/>
          <p:nvPr/>
        </p:nvSpPr>
        <p:spPr>
          <a:xfrm>
            <a:off x="7031736" y="3931920"/>
            <a:ext cx="2103120" cy="384048"/>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₹5 lakh crore+</a:t>
            </a:r>
            <a:endParaRPr lang="en-US" sz="2000" dirty="0"/>
          </a:p>
        </p:txBody>
      </p:sp>
      <p:sp>
        <p:nvSpPr>
          <p:cNvPr id="48" name="Text 45"/>
          <p:cNvSpPr txBox="1"/>
          <p:nvPr/>
        </p:nvSpPr>
        <p:spPr>
          <a:xfrm>
            <a:off x="7031736" y="4334256"/>
            <a:ext cx="2103120" cy="530352"/>
          </a:xfrm>
          <a:prstGeom prst="rect">
            <a:avLst/>
          </a:prstGeom>
          <a:noFill/>
          <a:ln/>
        </p:spPr>
        <p:txBody>
          <a:bodyPr wrap="square" lIns="0" tIns="0" rIns="0" bIns="0" rtlCol="0" anchor="t"/>
          <a:lstStyle/>
          <a:p>
            <a:pPr indent="0" marL="0">
              <a:buNone/>
            </a:pPr>
            <a:r>
              <a:rPr lang="en-US" sz="1000" dirty="0">
                <a:solidFill>
                  <a:schemeClr val="accent6"/>
                </a:solidFill>
              </a:rPr>
              <a:t>GMV in financial year (FY) 2025–26</a:t>
            </a:r>
            <a:endParaRPr lang="en-US" sz="1000" dirty="0"/>
          </a:p>
        </p:txBody>
      </p:sp>
      <p:sp>
        <p:nvSpPr>
          <p:cNvPr id="49" name="Stat 3"/>
          <p:cNvSpPr/>
          <p:nvPr/>
        </p:nvSpPr>
        <p:spPr>
          <a:xfrm>
            <a:off x="9363456" y="3822192"/>
            <a:ext cx="2377440" cy="1078992"/>
          </a:xfrm>
          <a:prstGeom prst="roundRect">
            <a:avLst>
              <a:gd name="adj" fmla="val 8475"/>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50" name="Text 47"/>
          <p:cNvSpPr txBox="1"/>
          <p:nvPr/>
        </p:nvSpPr>
        <p:spPr>
          <a:xfrm>
            <a:off x="9528048" y="3931920"/>
            <a:ext cx="2103120" cy="384048"/>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1.37 lakh</a:t>
            </a:r>
            <a:endParaRPr lang="en-US" sz="2000" dirty="0"/>
          </a:p>
        </p:txBody>
      </p:sp>
      <p:sp>
        <p:nvSpPr>
          <p:cNvPr id="51" name="Text 48"/>
          <p:cNvSpPr txBox="1"/>
          <p:nvPr/>
        </p:nvSpPr>
        <p:spPr>
          <a:xfrm>
            <a:off x="9528048" y="4334256"/>
            <a:ext cx="2103120" cy="530352"/>
          </a:xfrm>
          <a:prstGeom prst="rect">
            <a:avLst/>
          </a:prstGeom>
          <a:noFill/>
          <a:ln/>
        </p:spPr>
        <p:txBody>
          <a:bodyPr wrap="square" lIns="0" tIns="0" rIns="0" bIns="0" rtlCol="0" anchor="t"/>
          <a:lstStyle/>
          <a:p>
            <a:pPr indent="0" marL="0">
              <a:buNone/>
            </a:pPr>
            <a:r>
              <a:rPr lang="en-US" sz="1000" dirty="0">
                <a:solidFill>
                  <a:schemeClr val="accent6"/>
                </a:solidFill>
              </a:rPr>
              <a:t>government buyer organisations (Aug 2026)</a:t>
            </a:r>
            <a:endParaRPr lang="en-US" sz="1000" dirty="0"/>
          </a:p>
        </p:txBody>
      </p:sp>
      <p:sp>
        <p:nvSpPr>
          <p:cNvPr id="52" name="Stat 4"/>
          <p:cNvSpPr/>
          <p:nvPr/>
        </p:nvSpPr>
        <p:spPr>
          <a:xfrm>
            <a:off x="4370832" y="5029200"/>
            <a:ext cx="2377440" cy="1078992"/>
          </a:xfrm>
          <a:prstGeom prst="roundRect">
            <a:avLst>
              <a:gd name="adj" fmla="val 8475"/>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53" name="Text 50"/>
          <p:cNvSpPr txBox="1"/>
          <p:nvPr/>
        </p:nvSpPr>
        <p:spPr>
          <a:xfrm>
            <a:off x="4535424" y="5138928"/>
            <a:ext cx="2103120" cy="384048"/>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~25 lakh</a:t>
            </a:r>
            <a:endParaRPr lang="en-US" sz="2000" dirty="0"/>
          </a:p>
        </p:txBody>
      </p:sp>
      <p:sp>
        <p:nvSpPr>
          <p:cNvPr id="54" name="Text 51"/>
          <p:cNvSpPr txBox="1"/>
          <p:nvPr/>
        </p:nvSpPr>
        <p:spPr>
          <a:xfrm>
            <a:off x="4535424" y="5541264"/>
            <a:ext cx="2103120" cy="530352"/>
          </a:xfrm>
          <a:prstGeom prst="rect">
            <a:avLst/>
          </a:prstGeom>
          <a:noFill/>
          <a:ln/>
        </p:spPr>
        <p:txBody>
          <a:bodyPr wrap="square" lIns="0" tIns="0" rIns="0" bIns="0" rtlCol="0" anchor="t"/>
          <a:lstStyle/>
          <a:p>
            <a:pPr indent="0" marL="0">
              <a:buNone/>
            </a:pPr>
            <a:r>
              <a:rPr lang="en-US" sz="1000" dirty="0">
                <a:solidFill>
                  <a:schemeClr val="accent6"/>
                </a:solidFill>
              </a:rPr>
              <a:t>sellers and service providers (Aug 2026)</a:t>
            </a:r>
            <a:endParaRPr lang="en-US" sz="1000" dirty="0"/>
          </a:p>
        </p:txBody>
      </p:sp>
      <p:sp>
        <p:nvSpPr>
          <p:cNvPr id="55" name="Stat 5"/>
          <p:cNvSpPr/>
          <p:nvPr/>
        </p:nvSpPr>
        <p:spPr>
          <a:xfrm>
            <a:off x="6867144" y="5029200"/>
            <a:ext cx="2377440" cy="1078992"/>
          </a:xfrm>
          <a:prstGeom prst="roundRect">
            <a:avLst>
              <a:gd name="adj" fmla="val 8475"/>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56" name="Text 53"/>
          <p:cNvSpPr txBox="1"/>
          <p:nvPr/>
        </p:nvSpPr>
        <p:spPr>
          <a:xfrm>
            <a:off x="7031736" y="5138928"/>
            <a:ext cx="2103120" cy="384048"/>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10,660  ·  350</a:t>
            </a:r>
            <a:endParaRPr lang="en-US" sz="2000" dirty="0"/>
          </a:p>
        </p:txBody>
      </p:sp>
      <p:sp>
        <p:nvSpPr>
          <p:cNvPr id="57" name="Text 54"/>
          <p:cNvSpPr txBox="1"/>
          <p:nvPr/>
        </p:nvSpPr>
        <p:spPr>
          <a:xfrm>
            <a:off x="7031736" y="5541264"/>
            <a:ext cx="2103120" cy="530352"/>
          </a:xfrm>
          <a:prstGeom prst="rect">
            <a:avLst/>
          </a:prstGeom>
          <a:noFill/>
          <a:ln/>
        </p:spPr>
        <p:txBody>
          <a:bodyPr wrap="square" lIns="0" tIns="0" rIns="0" bIns="0" rtlCol="0" anchor="t"/>
          <a:lstStyle/>
          <a:p>
            <a:pPr indent="0" marL="0">
              <a:buNone/>
            </a:pPr>
            <a:r>
              <a:rPr lang="en-US" sz="1000" dirty="0">
                <a:solidFill>
                  <a:schemeClr val="accent6"/>
                </a:solidFill>
              </a:rPr>
              <a:t>product and service categories</a:t>
            </a:r>
            <a:endParaRPr lang="en-US" sz="1000" dirty="0"/>
          </a:p>
        </p:txBody>
      </p:sp>
      <p:sp>
        <p:nvSpPr>
          <p:cNvPr id="58" name="Stat 6"/>
          <p:cNvSpPr/>
          <p:nvPr/>
        </p:nvSpPr>
        <p:spPr>
          <a:xfrm>
            <a:off x="9363456" y="5029200"/>
            <a:ext cx="2377440" cy="1078992"/>
          </a:xfrm>
          <a:prstGeom prst="roundRect">
            <a:avLst>
              <a:gd name="adj" fmla="val 8475"/>
            </a:avLst>
          </a:prstGeom>
          <a:solidFill>
            <a:schemeClr val="accent5"/>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59" name="Text 56"/>
          <p:cNvSpPr txBox="1"/>
          <p:nvPr/>
        </p:nvSpPr>
        <p:spPr>
          <a:xfrm>
            <a:off x="9528048" y="5138928"/>
            <a:ext cx="2103120" cy="384048"/>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68%</a:t>
            </a:r>
            <a:endParaRPr lang="en-US" sz="2000" dirty="0"/>
          </a:p>
        </p:txBody>
      </p:sp>
      <p:sp>
        <p:nvSpPr>
          <p:cNvPr id="60" name="Text 57"/>
          <p:cNvSpPr txBox="1"/>
          <p:nvPr/>
        </p:nvSpPr>
        <p:spPr>
          <a:xfrm>
            <a:off x="9528048" y="5541264"/>
            <a:ext cx="2103120" cy="530352"/>
          </a:xfrm>
          <a:prstGeom prst="rect">
            <a:avLst/>
          </a:prstGeom>
          <a:noFill/>
          <a:ln/>
        </p:spPr>
        <p:txBody>
          <a:bodyPr wrap="square" lIns="0" tIns="0" rIns="0" bIns="0" rtlCol="0" anchor="t"/>
          <a:lstStyle/>
          <a:p>
            <a:pPr indent="0" marL="0">
              <a:buNone/>
            </a:pPr>
            <a:r>
              <a:rPr lang="en-US" sz="1000" dirty="0">
                <a:solidFill>
                  <a:schemeClr val="accent6"/>
                </a:solidFill>
              </a:rPr>
              <a:t>of FY 2025–26 orders won by Micro and Small Enterprises (MSEs); 47.1% of GMV</a:t>
            </a:r>
            <a:endParaRPr lang="en-US" sz="1000" dirty="0"/>
          </a:p>
        </p:txBody>
      </p:sp>
      <p:sp>
        <p:nvSpPr>
          <p:cNvPr id="25" name="Slide Number Placeholder 0"/>
          <p:cNvSpPr>
            <a:spLocks noGrp="1"/>
          </p:cNvSpPr>
          <p:nvPr>
            <p:ph type="sldNum" sz="quarter" idx="4294967295"/>
          </p:nvPr>
        </p:nvSpPr>
        <p:spPr>
          <a:xfrm>
            <a:off x="11183112"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886968" y="283464"/>
            <a:ext cx="1069848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PART 2  ·  HOW PUBLIC PROCUREMENT WORKS</a:t>
            </a:r>
            <a:endParaRPr lang="en-US" sz="1100" dirty="0"/>
          </a:p>
        </p:txBody>
      </p:sp>
      <p:sp>
        <p:nvSpPr>
          <p:cNvPr id="3" name="Text 0"/>
          <p:cNvSpPr/>
          <p:nvPr>
            <p:ph idx="102" type="title" hasCustomPrompt="1"/>
          </p:nvPr>
        </p:nvSpPr>
        <p:spPr>
          <a:xfrm>
            <a:off x="548640" y="603504"/>
            <a:ext cx="11064240" cy="603504"/>
          </a:xfrm>
          <a:prstGeom prst="rect">
            <a:avLst/>
          </a:prstGeom>
          <a:noFill/>
          <a:ln/>
        </p:spPr>
        <p:txBody>
          <a:bodyPr wrap="square" lIns="0" tIns="0" rIns="0" bIns="0" rtlCol="0" anchor="ctr"/>
          <a:lstStyle/>
          <a:p>
            <a:pPr algn="l" indent="0" marL="0">
              <a:buNone/>
            </a:pPr>
            <a:r>
              <a:rPr lang="en-US" sz="3000" b="1" dirty="0">
                <a:solidFill>
                  <a:schemeClr val="tx2"/>
                </a:solidFill>
              </a:rPr>
              <a:t>No single procurement law, but a layered hierarchy</a:t>
            </a:r>
            <a:endParaRPr lang="en-US" sz="3000" dirty="0"/>
          </a:p>
        </p:txBody>
      </p:sp>
      <p:sp>
        <p:nvSpPr>
          <p:cNvPr id="4" name="Text 0"/>
          <p:cNvSpPr/>
          <p:nvPr>
            <p:ph idx="103" type="body" hasCustomPrompt="1"/>
          </p:nvPr>
        </p:nvSpPr>
        <p:spPr>
          <a:xfrm>
            <a:off x="548640" y="6291072"/>
            <a:ext cx="10424160" cy="411480"/>
          </a:xfrm>
          <a:prstGeom prst="rect">
            <a:avLst/>
          </a:prstGeom>
          <a:noFill/>
          <a:ln/>
        </p:spPr>
        <p:txBody>
          <a:bodyPr wrap="square" lIns="0" tIns="0" rIns="0" bIns="0" rtlCol="0" anchor="t"/>
          <a:lstStyle/>
          <a:p>
            <a:pPr indent="0" marL="0">
              <a:buNone/>
            </a:pPr>
            <a:r>
              <a:rPr lang="en-US" sz="950" dirty="0">
                <a:solidFill>
                  <a:schemeClr val="accent6"/>
                </a:solidFill>
              </a:rPr>
              <a:t>Sources: Constitution of India (as on 1 May 2024), Arts 14, 19(1)(g), 298, 299; Manual for Procurement of Goods, Second Edition 2024 ('Goods Manual'), Preface, paras 1.1–1.3, 5.1.1 and Annexure 1 'Hierarchy of Procurement Guidelines' (p. 251); Delegation of Financial Powers Rules 2024, Rule 1.</a:t>
            </a:r>
            <a:endParaRPr lang="en-US" sz="950" dirty="0"/>
          </a:p>
        </p:txBody>
      </p:sp>
      <p:sp>
        <p:nvSpPr>
          <p:cNvPr id="6" name="Level I label"/>
          <p:cNvSpPr/>
          <p:nvPr/>
        </p:nvSpPr>
        <p:spPr>
          <a:xfrm>
            <a:off x="1005840" y="1371600"/>
            <a:ext cx="1783080" cy="1874520"/>
          </a:xfrm>
          <a:prstGeom prst="roundRect">
            <a:avLst>
              <a:gd name="adj" fmla="val 5128"/>
            </a:avLst>
          </a:prstGeom>
          <a:solidFill>
            <a:schemeClr val="tx2"/>
          </a:solidFill>
          <a:ln w="9525">
            <a:solidFill>
              <a:schemeClr val="tx2"/>
            </a:solidFill>
            <a:prstDash val="solid"/>
          </a:ln>
          <a:effectLst>
            <a:outerShdw sx="100000" sy="100000" kx="0" ky="0" algn="bl" rotWithShape="0" blurRad="127000" dist="25400" dir="5400000">
              <a:srgbClr val="6B4FA0">
                <a:alpha val="12000"/>
              </a:srgbClr>
            </a:outerShdw>
          </a:effectLst>
        </p:spPr>
      </p:sp>
      <p:sp>
        <p:nvSpPr>
          <p:cNvPr id="7" name="Text 4"/>
          <p:cNvSpPr txBox="1"/>
          <p:nvPr/>
        </p:nvSpPr>
        <p:spPr>
          <a:xfrm>
            <a:off x="1152144" y="1371600"/>
            <a:ext cx="1508760" cy="1874520"/>
          </a:xfrm>
          <a:prstGeom prst="rect">
            <a:avLst/>
          </a:prstGeom>
          <a:noFill/>
          <a:ln/>
        </p:spPr>
        <p:txBody>
          <a:bodyPr wrap="square" lIns="0" tIns="0" rIns="0" bIns="0" rtlCol="0" anchor="ctr"/>
          <a:lstStyle/>
          <a:p>
            <a:pPr indent="0" marL="0">
              <a:buNone/>
            </a:pPr>
            <a:r>
              <a:rPr lang="en-US" sz="1000" b="1" spc="200" kern="0" dirty="0">
                <a:solidFill>
                  <a:schemeClr val="accent3"/>
                </a:solidFill>
              </a:rPr>
              <a:t>LEVEL I</a:t>
            </a:r>
            <a:endParaRPr lang="en-US" sz="1200" dirty="0"/>
          </a:p>
          <a:p>
            <a:pPr indent="0" marL="0">
              <a:buNone/>
            </a:pPr>
            <a:r>
              <a:rPr lang="en-US" sz="1400" b="1" dirty="0">
                <a:solidFill>
                  <a:schemeClr val="bg1"/>
                </a:solidFill>
                <a:latin typeface="Cambria" pitchFamily="34" charset="0"/>
                <a:ea typeface="Cambria" pitchFamily="34" charset="-122"/>
                <a:cs typeface="Cambria" pitchFamily="34" charset="-120"/>
              </a:rPr>
              <a:t>Statutory framework</a:t>
            </a:r>
            <a:endParaRPr lang="en-US" sz="1200" dirty="0"/>
          </a:p>
        </p:txBody>
      </p:sp>
      <p:sp>
        <p:nvSpPr>
          <p:cNvPr id="8" name="Level I contents"/>
          <p:cNvSpPr/>
          <p:nvPr/>
        </p:nvSpPr>
        <p:spPr>
          <a:xfrm>
            <a:off x="2862072" y="1371600"/>
            <a:ext cx="5029200" cy="1874520"/>
          </a:xfrm>
          <a:prstGeom prst="roundRect">
            <a:avLst>
              <a:gd name="adj" fmla="val 4878"/>
            </a:avLst>
          </a:prstGeom>
          <a:solidFill>
            <a:schemeClr val="accent5"/>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9" name="Text 6"/>
          <p:cNvSpPr txBox="1"/>
          <p:nvPr/>
        </p:nvSpPr>
        <p:spPr>
          <a:xfrm>
            <a:off x="3008376" y="1426464"/>
            <a:ext cx="4754880" cy="1764792"/>
          </a:xfrm>
          <a:prstGeom prst="rect">
            <a:avLst/>
          </a:prstGeom>
          <a:noFill/>
          <a:ln/>
        </p:spPr>
        <p:txBody>
          <a:bodyPr wrap="square" lIns="0" tIns="0" rIns="0" bIns="0" rtlCol="0" anchor="ctr"/>
          <a:lstStyle/>
          <a:p>
            <a:pPr indent="0" marL="0">
              <a:spcAft>
                <a:spcPts val="300"/>
              </a:spcAft>
              <a:buNone/>
            </a:pPr>
            <a:r>
              <a:rPr lang="en-US" sz="1000" b="1" dirty="0">
                <a:solidFill>
                  <a:schemeClr val="tx1"/>
                </a:solidFill>
              </a:rPr>
              <a:t>Constitution of India  </a:t>
            </a:r>
            <a:pPr indent="0" marL="0">
              <a:spcAft>
                <a:spcPts val="300"/>
              </a:spcAft>
              <a:buNone/>
            </a:pPr>
            <a:r>
              <a:rPr lang="en-US" sz="1000" dirty="0">
                <a:solidFill>
                  <a:schemeClr val="tx1"/>
                </a:solidFill>
              </a:rPr>
              <a:t>(Arts 298, 299, 14, 19(1)(g))</a:t>
            </a:r>
            <a:endParaRPr lang="en-US" sz="1000" dirty="0"/>
          </a:p>
          <a:p>
            <a:pPr indent="0" marL="0">
              <a:spcAft>
                <a:spcPts val="300"/>
              </a:spcAft>
              <a:buNone/>
            </a:pPr>
            <a:r>
              <a:rPr lang="en-US" sz="1000" b="1" dirty="0">
                <a:solidFill>
                  <a:schemeClr val="tx1"/>
                </a:solidFill>
              </a:rPr>
              <a:t>Mercantile laws:  </a:t>
            </a:r>
            <a:pPr indent="0" marL="0">
              <a:spcAft>
                <a:spcPts val="300"/>
              </a:spcAft>
              <a:buNone/>
            </a:pPr>
            <a:r>
              <a:rPr lang="en-US" sz="1000" dirty="0">
                <a:solidFill>
                  <a:schemeClr val="tx1"/>
                </a:solidFill>
              </a:rPr>
              <a:t>Indian Contract Act 1872 · Sale of Goods Act 1930 · Arbitration and Conciliation Act 1996 · Competition Act 2002 · Information Technology Act 2000</a:t>
            </a:r>
            <a:endParaRPr lang="en-US" sz="1000" dirty="0"/>
          </a:p>
          <a:p>
            <a:pPr indent="0" marL="0">
              <a:spcAft>
                <a:spcPts val="300"/>
              </a:spcAft>
              <a:buNone/>
            </a:pPr>
            <a:r>
              <a:rPr lang="en-US" sz="1000" b="1" dirty="0">
                <a:solidFill>
                  <a:schemeClr val="tx1"/>
                </a:solidFill>
              </a:rPr>
              <a:t>Procurement-specific laws:  </a:t>
            </a:r>
            <a:pPr indent="0" marL="0">
              <a:spcAft>
                <a:spcPts val="300"/>
              </a:spcAft>
              <a:buNone/>
            </a:pPr>
            <a:r>
              <a:rPr lang="en-US" sz="1000" dirty="0">
                <a:solidFill>
                  <a:schemeClr val="tx1"/>
                </a:solidFill>
              </a:rPr>
              <a:t>Right to Information Act 2005 · Micro, Small and Medium Enterprises Development Act 2006 · Prevention of Corruption Act 1988 · Lokpal and Lokayuktas Act 2013 · Whistle Blowers Protection Act 2014 · Central Vigilance Commission Act 2003 · Delhi Special Police Establishment Act 1946 · Bharatiya Nagarik Suraksha Sanhita and Bharatiya Nyaya Sanhita 2023</a:t>
            </a:r>
            <a:endParaRPr lang="en-US" sz="1000" dirty="0"/>
          </a:p>
        </p:txBody>
      </p:sp>
      <p:sp>
        <p:nvSpPr>
          <p:cNvPr id="10" name="Level II label"/>
          <p:cNvSpPr/>
          <p:nvPr/>
        </p:nvSpPr>
        <p:spPr>
          <a:xfrm>
            <a:off x="1005840" y="3337560"/>
            <a:ext cx="1783080" cy="822960"/>
          </a:xfrm>
          <a:prstGeom prst="roundRect">
            <a:avLst>
              <a:gd name="adj" fmla="val 11111"/>
            </a:avLst>
          </a:prstGeom>
          <a:solidFill>
            <a:schemeClr val="tx2"/>
          </a:solidFill>
          <a:ln w="9525">
            <a:solidFill>
              <a:schemeClr val="tx2"/>
            </a:solidFill>
            <a:prstDash val="solid"/>
          </a:ln>
          <a:effectLst>
            <a:outerShdw sx="100000" sy="100000" kx="0" ky="0" algn="bl" rotWithShape="0" blurRad="127000" dist="25400" dir="5400000">
              <a:srgbClr val="6B4FA0">
                <a:alpha val="12000"/>
              </a:srgbClr>
            </a:outerShdw>
          </a:effectLst>
        </p:spPr>
      </p:sp>
      <p:sp>
        <p:nvSpPr>
          <p:cNvPr id="11" name="Text 8"/>
          <p:cNvSpPr txBox="1"/>
          <p:nvPr/>
        </p:nvSpPr>
        <p:spPr>
          <a:xfrm>
            <a:off x="1152144" y="3337560"/>
            <a:ext cx="1508760" cy="822960"/>
          </a:xfrm>
          <a:prstGeom prst="rect">
            <a:avLst/>
          </a:prstGeom>
          <a:noFill/>
          <a:ln/>
        </p:spPr>
        <p:txBody>
          <a:bodyPr wrap="square" lIns="0" tIns="0" rIns="0" bIns="0" rtlCol="0" anchor="ctr"/>
          <a:lstStyle/>
          <a:p>
            <a:pPr indent="0" marL="0">
              <a:buNone/>
            </a:pPr>
            <a:r>
              <a:rPr lang="en-US" sz="1000" b="1" spc="200" kern="0" dirty="0">
                <a:solidFill>
                  <a:schemeClr val="accent3"/>
                </a:solidFill>
              </a:rPr>
              <a:t>LEVEL II</a:t>
            </a:r>
            <a:endParaRPr lang="en-US" sz="1200" dirty="0"/>
          </a:p>
          <a:p>
            <a:pPr indent="0" marL="0">
              <a:buNone/>
            </a:pPr>
            <a:r>
              <a:rPr lang="en-US" sz="1400" b="1" dirty="0">
                <a:solidFill>
                  <a:schemeClr val="bg1"/>
                </a:solidFill>
                <a:latin typeface="Cambria" pitchFamily="34" charset="0"/>
                <a:ea typeface="Cambria" pitchFamily="34" charset="-122"/>
                <a:cs typeface="Cambria" pitchFamily="34" charset="-120"/>
              </a:rPr>
              <a:t>Rules and regulations</a:t>
            </a:r>
            <a:endParaRPr lang="en-US" sz="1200" dirty="0"/>
          </a:p>
        </p:txBody>
      </p:sp>
      <p:sp>
        <p:nvSpPr>
          <p:cNvPr id="12" name="Level II contents"/>
          <p:cNvSpPr/>
          <p:nvPr/>
        </p:nvSpPr>
        <p:spPr>
          <a:xfrm>
            <a:off x="2862072" y="3337560"/>
            <a:ext cx="5029200" cy="822960"/>
          </a:xfrm>
          <a:prstGeom prst="roundRect">
            <a:avLst>
              <a:gd name="adj" fmla="val 11111"/>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13" name="Text 10"/>
          <p:cNvSpPr txBox="1"/>
          <p:nvPr/>
        </p:nvSpPr>
        <p:spPr>
          <a:xfrm>
            <a:off x="3008376" y="3392424"/>
            <a:ext cx="4754880" cy="713232"/>
          </a:xfrm>
          <a:prstGeom prst="rect">
            <a:avLst/>
          </a:prstGeom>
          <a:noFill/>
          <a:ln/>
        </p:spPr>
        <p:txBody>
          <a:bodyPr wrap="square" lIns="0" tIns="0" rIns="0" bIns="0" rtlCol="0" anchor="ctr"/>
          <a:lstStyle/>
          <a:p>
            <a:pPr indent="0" marL="0">
              <a:spcAft>
                <a:spcPts val="300"/>
              </a:spcAft>
              <a:buNone/>
            </a:pPr>
            <a:r>
              <a:rPr lang="en-US" sz="1050" dirty="0">
                <a:solidFill>
                  <a:schemeClr val="tx1"/>
                </a:solidFill>
              </a:rPr>
              <a:t>GFR 2017 · Delegation of Financial Powers Rules (DFPR), now DFPR 2024 · other Government orders on financial, vigilance, security, safety, counter-trade and other regulatory aspects</a:t>
            </a:r>
            <a:endParaRPr lang="en-US" sz="1050" dirty="0"/>
          </a:p>
        </p:txBody>
      </p:sp>
      <p:sp>
        <p:nvSpPr>
          <p:cNvPr id="14" name="Level III label"/>
          <p:cNvSpPr/>
          <p:nvPr/>
        </p:nvSpPr>
        <p:spPr>
          <a:xfrm>
            <a:off x="1005840" y="4251960"/>
            <a:ext cx="1783080" cy="731520"/>
          </a:xfrm>
          <a:prstGeom prst="roundRect">
            <a:avLst>
              <a:gd name="adj" fmla="val 12500"/>
            </a:avLst>
          </a:prstGeom>
          <a:solidFill>
            <a:schemeClr val="tx2"/>
          </a:solidFill>
          <a:ln w="9525">
            <a:solidFill>
              <a:schemeClr val="tx2"/>
            </a:solidFill>
            <a:prstDash val="solid"/>
          </a:ln>
          <a:effectLst>
            <a:outerShdw sx="100000" sy="100000" kx="0" ky="0" algn="bl" rotWithShape="0" blurRad="127000" dist="25400" dir="5400000">
              <a:srgbClr val="6B4FA0">
                <a:alpha val="12000"/>
              </a:srgbClr>
            </a:outerShdw>
          </a:effectLst>
        </p:spPr>
      </p:sp>
      <p:sp>
        <p:nvSpPr>
          <p:cNvPr id="15" name="Text 12"/>
          <p:cNvSpPr txBox="1"/>
          <p:nvPr/>
        </p:nvSpPr>
        <p:spPr>
          <a:xfrm>
            <a:off x="1152144" y="4251960"/>
            <a:ext cx="1508760" cy="731520"/>
          </a:xfrm>
          <a:prstGeom prst="rect">
            <a:avLst/>
          </a:prstGeom>
          <a:noFill/>
          <a:ln/>
        </p:spPr>
        <p:txBody>
          <a:bodyPr wrap="square" lIns="0" tIns="0" rIns="0" bIns="0" rtlCol="0" anchor="ctr"/>
          <a:lstStyle/>
          <a:p>
            <a:pPr indent="0" marL="0">
              <a:buNone/>
            </a:pPr>
            <a:r>
              <a:rPr lang="en-US" sz="1000" b="1" spc="200" kern="0" dirty="0">
                <a:solidFill>
                  <a:schemeClr val="accent3"/>
                </a:solidFill>
              </a:rPr>
              <a:t>LEVEL III</a:t>
            </a:r>
            <a:endParaRPr lang="en-US" sz="1200" dirty="0"/>
          </a:p>
          <a:p>
            <a:pPr indent="0" marL="0">
              <a:buNone/>
            </a:pPr>
            <a:r>
              <a:rPr lang="en-US" sz="1400" b="1" dirty="0">
                <a:solidFill>
                  <a:schemeClr val="bg1"/>
                </a:solidFill>
                <a:latin typeface="Cambria" pitchFamily="34" charset="0"/>
                <a:ea typeface="Cambria" pitchFamily="34" charset="-122"/>
                <a:cs typeface="Cambria" pitchFamily="34" charset="-120"/>
              </a:rPr>
              <a:t>Manuals</a:t>
            </a:r>
            <a:endParaRPr lang="en-US" sz="1200" dirty="0"/>
          </a:p>
        </p:txBody>
      </p:sp>
      <p:sp>
        <p:nvSpPr>
          <p:cNvPr id="16" name="Level III contents"/>
          <p:cNvSpPr/>
          <p:nvPr/>
        </p:nvSpPr>
        <p:spPr>
          <a:xfrm>
            <a:off x="2862072" y="4251960"/>
            <a:ext cx="5029200" cy="731520"/>
          </a:xfrm>
          <a:prstGeom prst="roundRect">
            <a:avLst>
              <a:gd name="adj" fmla="val 12500"/>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17" name="Text 14"/>
          <p:cNvSpPr txBox="1"/>
          <p:nvPr/>
        </p:nvSpPr>
        <p:spPr>
          <a:xfrm>
            <a:off x="3008376" y="4306824"/>
            <a:ext cx="4754880" cy="621792"/>
          </a:xfrm>
          <a:prstGeom prst="rect">
            <a:avLst/>
          </a:prstGeom>
          <a:noFill/>
          <a:ln/>
        </p:spPr>
        <p:txBody>
          <a:bodyPr wrap="square" lIns="0" tIns="0" rIns="0" bIns="0" rtlCol="0" anchor="ctr"/>
          <a:lstStyle/>
          <a:p>
            <a:pPr indent="0" marL="0">
              <a:spcAft>
                <a:spcPts val="300"/>
              </a:spcAft>
              <a:buNone/>
            </a:pPr>
            <a:r>
              <a:rPr lang="en-US" sz="1050" dirty="0">
                <a:solidFill>
                  <a:schemeClr val="tx1"/>
                </a:solidFill>
              </a:rPr>
              <a:t>Ministry of Finance (MoF) Manuals: Goods 2024 · Works 2025 · Consultancy 2025 · Non-Consultancy 2025  |  procuring entities' own detailed codes and manuals</a:t>
            </a:r>
            <a:endParaRPr lang="en-US" sz="1050" dirty="0"/>
          </a:p>
        </p:txBody>
      </p:sp>
      <p:sp>
        <p:nvSpPr>
          <p:cNvPr id="18" name="Level IV label"/>
          <p:cNvSpPr/>
          <p:nvPr/>
        </p:nvSpPr>
        <p:spPr>
          <a:xfrm>
            <a:off x="1005840" y="5074920"/>
            <a:ext cx="1783080" cy="731520"/>
          </a:xfrm>
          <a:prstGeom prst="roundRect">
            <a:avLst>
              <a:gd name="adj" fmla="val 12500"/>
            </a:avLst>
          </a:prstGeom>
          <a:solidFill>
            <a:schemeClr val="tx2"/>
          </a:solidFill>
          <a:ln w="9525">
            <a:solidFill>
              <a:schemeClr val="tx2"/>
            </a:solidFill>
            <a:prstDash val="solid"/>
          </a:ln>
          <a:effectLst>
            <a:outerShdw sx="100000" sy="100000" kx="0" ky="0" algn="bl" rotWithShape="0" blurRad="127000" dist="25400" dir="5400000">
              <a:srgbClr val="6B4FA0">
                <a:alpha val="12000"/>
              </a:srgbClr>
            </a:outerShdw>
          </a:effectLst>
        </p:spPr>
      </p:sp>
      <p:sp>
        <p:nvSpPr>
          <p:cNvPr id="19" name="Text 16"/>
          <p:cNvSpPr txBox="1"/>
          <p:nvPr/>
        </p:nvSpPr>
        <p:spPr>
          <a:xfrm>
            <a:off x="1152144" y="5074920"/>
            <a:ext cx="1508760" cy="731520"/>
          </a:xfrm>
          <a:prstGeom prst="rect">
            <a:avLst/>
          </a:prstGeom>
          <a:noFill/>
          <a:ln/>
        </p:spPr>
        <p:txBody>
          <a:bodyPr wrap="square" lIns="0" tIns="0" rIns="0" bIns="0" rtlCol="0" anchor="ctr"/>
          <a:lstStyle/>
          <a:p>
            <a:pPr indent="0" marL="0">
              <a:buNone/>
            </a:pPr>
            <a:r>
              <a:rPr lang="en-US" sz="1000" b="1" spc="200" kern="0" dirty="0">
                <a:solidFill>
                  <a:schemeClr val="accent3"/>
                </a:solidFill>
              </a:rPr>
              <a:t>LEVEL IV</a:t>
            </a:r>
            <a:endParaRPr lang="en-US" sz="1200" dirty="0"/>
          </a:p>
          <a:p>
            <a:pPr indent="0" marL="0">
              <a:buNone/>
            </a:pPr>
            <a:r>
              <a:rPr lang="en-US" sz="1400" b="1" dirty="0">
                <a:solidFill>
                  <a:schemeClr val="bg1"/>
                </a:solidFill>
                <a:latin typeface="Cambria" pitchFamily="34" charset="0"/>
                <a:ea typeface="Cambria" pitchFamily="34" charset="-122"/>
                <a:cs typeface="Cambria" pitchFamily="34" charset="-120"/>
              </a:rPr>
              <a:t>Tender documents</a:t>
            </a:r>
            <a:endParaRPr lang="en-US" sz="1200" dirty="0"/>
          </a:p>
        </p:txBody>
      </p:sp>
      <p:sp>
        <p:nvSpPr>
          <p:cNvPr id="20" name="Level IV contents"/>
          <p:cNvSpPr/>
          <p:nvPr/>
        </p:nvSpPr>
        <p:spPr>
          <a:xfrm>
            <a:off x="2862072" y="5074920"/>
            <a:ext cx="5029200" cy="731520"/>
          </a:xfrm>
          <a:prstGeom prst="roundRect">
            <a:avLst>
              <a:gd name="adj" fmla="val 12500"/>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21" name="Text 18"/>
          <p:cNvSpPr txBox="1"/>
          <p:nvPr/>
        </p:nvSpPr>
        <p:spPr>
          <a:xfrm>
            <a:off x="3008376" y="5129784"/>
            <a:ext cx="4754880" cy="621792"/>
          </a:xfrm>
          <a:prstGeom prst="rect">
            <a:avLst/>
          </a:prstGeom>
          <a:noFill/>
          <a:ln/>
        </p:spPr>
        <p:txBody>
          <a:bodyPr wrap="square" lIns="0" tIns="0" rIns="0" bIns="0" rtlCol="0" anchor="ctr"/>
          <a:lstStyle/>
          <a:p>
            <a:pPr indent="0" marL="0">
              <a:spcAft>
                <a:spcPts val="300"/>
              </a:spcAft>
              <a:buNone/>
            </a:pPr>
            <a:r>
              <a:rPr lang="en-US" sz="1050" dirty="0">
                <a:solidFill>
                  <a:schemeClr val="tx1"/>
                </a:solidFill>
              </a:rPr>
              <a:t>MoF Model Tender Documents: Goods and Non-Consultancy (Oct 2021), Consultancy (Apr 2023)  |  procuring entities' own tender documents</a:t>
            </a:r>
            <a:endParaRPr lang="en-US" sz="1050" dirty="0"/>
          </a:p>
        </p:txBody>
      </p:sp>
      <p:sp>
        <p:nvSpPr>
          <p:cNvPr id="22" name="Authority arrow"/>
          <p:cNvSpPr/>
          <p:nvPr/>
        </p:nvSpPr>
        <p:spPr>
          <a:xfrm>
            <a:off x="786384" y="1417320"/>
            <a:ext cx="0" cy="4343400"/>
          </a:xfrm>
          <a:prstGeom prst="line">
            <a:avLst/>
          </a:prstGeom>
          <a:noFill/>
          <a:ln w="28575">
            <a:solidFill>
              <a:schemeClr val="accent1"/>
            </a:solidFill>
            <a:prstDash val="solid"/>
            <a:headEnd type="triangle"/>
          </a:ln>
        </p:spPr>
      </p:sp>
      <p:sp>
        <p:nvSpPr>
          <p:cNvPr id="23" name="Text 20"/>
          <p:cNvSpPr txBox="1"/>
          <p:nvPr/>
        </p:nvSpPr>
        <p:spPr>
          <a:xfrm rot="16200000">
            <a:off x="-1668780" y="3461004"/>
            <a:ext cx="4434840" cy="256032"/>
          </a:xfrm>
          <a:prstGeom prst="rect">
            <a:avLst/>
          </a:prstGeom>
          <a:noFill/>
          <a:ln/>
        </p:spPr>
        <p:txBody>
          <a:bodyPr wrap="square" lIns="0" tIns="0" rIns="0" bIns="0" rtlCol="0" anchor="ctr"/>
          <a:lstStyle/>
          <a:p>
            <a:pPr algn="ctr" indent="0" marL="0">
              <a:buNone/>
            </a:pPr>
            <a:r>
              <a:rPr lang="en-US" sz="950" b="1" spc="200" kern="0" dirty="0">
                <a:solidFill>
                  <a:schemeClr val="accent1"/>
                </a:solidFill>
              </a:rPr>
              <a:t>HIGHER LEVEL PREVAILS</a:t>
            </a:r>
            <a:endParaRPr lang="en-US" sz="950" dirty="0"/>
          </a:p>
        </p:txBody>
      </p:sp>
      <p:sp>
        <p:nvSpPr>
          <p:cNvPr id="24" name="Article 299 card"/>
          <p:cNvSpPr/>
          <p:nvPr/>
        </p:nvSpPr>
        <p:spPr>
          <a:xfrm>
            <a:off x="8074152" y="1371600"/>
            <a:ext cx="3566160" cy="1417320"/>
          </a:xfrm>
          <a:prstGeom prst="roundRect">
            <a:avLst>
              <a:gd name="adj" fmla="val 6452"/>
            </a:avLst>
          </a:prstGeom>
          <a:solidFill>
            <a:schemeClr val="tx2"/>
          </a:solidFill>
          <a:ln w="9525">
            <a:solidFill>
              <a:schemeClr val="tx2"/>
            </a:solidFill>
            <a:prstDash val="solid"/>
          </a:ln>
          <a:effectLst>
            <a:outerShdw sx="100000" sy="100000" kx="0" ky="0" algn="bl" rotWithShape="0" blurRad="127000" dist="25400" dir="5400000">
              <a:srgbClr val="6B4FA0">
                <a:alpha val="12000"/>
              </a:srgbClr>
            </a:outerShdw>
          </a:effectLst>
        </p:spPr>
      </p:sp>
      <p:sp>
        <p:nvSpPr>
          <p:cNvPr id="25" name="Text 22"/>
          <p:cNvSpPr txBox="1"/>
          <p:nvPr/>
        </p:nvSpPr>
        <p:spPr>
          <a:xfrm>
            <a:off x="8257032" y="1463040"/>
            <a:ext cx="3200400" cy="1261872"/>
          </a:xfrm>
          <a:prstGeom prst="rect">
            <a:avLst/>
          </a:prstGeom>
          <a:noFill/>
          <a:ln/>
        </p:spPr>
        <p:txBody>
          <a:bodyPr wrap="square" lIns="0" tIns="0" rIns="0" bIns="0" rtlCol="0" anchor="ctr"/>
          <a:lstStyle/>
          <a:p>
            <a:pPr indent="0" marL="0">
              <a:buNone/>
            </a:pPr>
            <a:r>
              <a:rPr lang="en-US" sz="1000" b="1" spc="200" kern="0" dirty="0">
                <a:solidFill>
                  <a:schemeClr val="accent3"/>
                </a:solidFill>
              </a:rPr>
              <a:t>ARTICLE 299(1)</a:t>
            </a:r>
            <a:endParaRPr lang="en-US" sz="1200" dirty="0"/>
          </a:p>
          <a:p>
            <a:pPr indent="0" marL="0">
              <a:buNone/>
            </a:pPr>
            <a:r>
              <a:rPr lang="en-US" sz="1050" i="1" dirty="0">
                <a:solidFill>
                  <a:schemeClr val="bg1"/>
                </a:solidFill>
              </a:rPr>
              <a:t>“All contracts made in the exercise of the executive power of the Union or of a State shall be expressed to be made by the President, or by the Governor… and shall be executed… by such persons and in such manner as he may direct or authorise.”</a:t>
            </a:r>
            <a:endParaRPr lang="en-US" sz="1200" dirty="0"/>
          </a:p>
        </p:txBody>
      </p:sp>
      <p:sp>
        <p:nvSpPr>
          <p:cNvPr id="26" name="Remarks card"/>
          <p:cNvSpPr/>
          <p:nvPr/>
        </p:nvSpPr>
        <p:spPr>
          <a:xfrm>
            <a:off x="8074152" y="2880360"/>
            <a:ext cx="3566160" cy="1719072"/>
          </a:xfrm>
          <a:prstGeom prst="roundRect">
            <a:avLst>
              <a:gd name="adj" fmla="val 5319"/>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27" name="Text 24"/>
          <p:cNvSpPr txBox="1"/>
          <p:nvPr/>
        </p:nvSpPr>
        <p:spPr>
          <a:xfrm>
            <a:off x="8257032" y="2953512"/>
            <a:ext cx="3200400" cy="274320"/>
          </a:xfrm>
          <a:prstGeom prst="rect">
            <a:avLst/>
          </a:prstGeom>
          <a:noFill/>
          <a:ln/>
        </p:spPr>
        <p:txBody>
          <a:bodyPr wrap="square" lIns="0" tIns="0" rIns="0" bIns="0" rtlCol="0" anchor="ctr"/>
          <a:lstStyle/>
          <a:p>
            <a:pPr indent="0" marL="0">
              <a:buNone/>
            </a:pPr>
            <a:r>
              <a:rPr lang="en-US" sz="1300" b="1" dirty="0">
                <a:solidFill>
                  <a:schemeClr val="accent1"/>
                </a:solidFill>
              </a:rPr>
              <a:t>Annexure 1 — Remarks</a:t>
            </a:r>
            <a:endParaRPr lang="en-US" sz="1300" dirty="0"/>
          </a:p>
        </p:txBody>
      </p:sp>
      <p:sp>
        <p:nvSpPr>
          <p:cNvPr id="28" name="Marker 1"/>
          <p:cNvSpPr/>
          <p:nvPr/>
        </p:nvSpPr>
        <p:spPr>
          <a:xfrm>
            <a:off x="8257032" y="3282696"/>
            <a:ext cx="274320" cy="274320"/>
          </a:xfrm>
          <a:prstGeom prst="diamond">
            <a:avLst/>
          </a:prstGeom>
          <a:solidFill>
            <a:schemeClr val="accent2"/>
          </a:solidFill>
          <a:ln w="12700">
            <a:solidFill>
              <a:schemeClr val="bg1"/>
            </a:solidFill>
            <a:prstDash val="solid"/>
          </a:ln>
        </p:spPr>
      </p:sp>
      <p:sp>
        <p:nvSpPr>
          <p:cNvPr id="29" name="Text 26"/>
          <p:cNvSpPr txBox="1"/>
          <p:nvPr/>
        </p:nvSpPr>
        <p:spPr>
          <a:xfrm>
            <a:off x="8257032" y="3282696"/>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30" name="Text 27"/>
          <p:cNvSpPr txBox="1"/>
          <p:nvPr/>
        </p:nvSpPr>
        <p:spPr>
          <a:xfrm>
            <a:off x="8641080" y="3273552"/>
            <a:ext cx="2834640" cy="347472"/>
          </a:xfrm>
          <a:prstGeom prst="rect">
            <a:avLst/>
          </a:prstGeom>
          <a:noFill/>
          <a:ln/>
        </p:spPr>
        <p:txBody>
          <a:bodyPr wrap="square" lIns="0" tIns="0" rIns="0" bIns="0" rtlCol="0" anchor="t"/>
          <a:lstStyle/>
          <a:p>
            <a:pPr indent="0" marL="0">
              <a:buNone/>
            </a:pPr>
            <a:r>
              <a:rPr lang="en-US" sz="1050" dirty="0">
                <a:solidFill>
                  <a:schemeClr val="tx1"/>
                </a:solidFill>
              </a:rPr>
              <a:t>Levels I and II are fundamental and generic.</a:t>
            </a:r>
            <a:endParaRPr lang="en-US" sz="1050" dirty="0"/>
          </a:p>
        </p:txBody>
      </p:sp>
      <p:sp>
        <p:nvSpPr>
          <p:cNvPr id="31" name="Marker 2"/>
          <p:cNvSpPr/>
          <p:nvPr/>
        </p:nvSpPr>
        <p:spPr>
          <a:xfrm>
            <a:off x="8257032" y="3685032"/>
            <a:ext cx="274320" cy="274320"/>
          </a:xfrm>
          <a:prstGeom prst="diamond">
            <a:avLst/>
          </a:prstGeom>
          <a:solidFill>
            <a:schemeClr val="accent2"/>
          </a:solidFill>
          <a:ln w="12700">
            <a:solidFill>
              <a:schemeClr val="bg1"/>
            </a:solidFill>
            <a:prstDash val="solid"/>
          </a:ln>
        </p:spPr>
      </p:sp>
      <p:sp>
        <p:nvSpPr>
          <p:cNvPr id="32" name="Text 29"/>
          <p:cNvSpPr txBox="1"/>
          <p:nvPr/>
        </p:nvSpPr>
        <p:spPr>
          <a:xfrm>
            <a:off x="8257032" y="3685032"/>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33" name="Text 30"/>
          <p:cNvSpPr txBox="1"/>
          <p:nvPr/>
        </p:nvSpPr>
        <p:spPr>
          <a:xfrm>
            <a:off x="8641080" y="3675888"/>
            <a:ext cx="2834640" cy="347472"/>
          </a:xfrm>
          <a:prstGeom prst="rect">
            <a:avLst/>
          </a:prstGeom>
          <a:noFill/>
          <a:ln/>
        </p:spPr>
        <p:txBody>
          <a:bodyPr wrap="square" lIns="0" tIns="0" rIns="0" bIns="0" rtlCol="0" anchor="t"/>
          <a:lstStyle/>
          <a:p>
            <a:pPr indent="0" marL="0">
              <a:buNone/>
            </a:pPr>
            <a:r>
              <a:rPr lang="en-US" sz="1050" dirty="0">
                <a:solidFill>
                  <a:schemeClr val="tx1"/>
                </a:solidFill>
              </a:rPr>
              <a:t>Lower levels must conform to the levels above them.</a:t>
            </a:r>
            <a:endParaRPr lang="en-US" sz="1050" dirty="0"/>
          </a:p>
        </p:txBody>
      </p:sp>
      <p:sp>
        <p:nvSpPr>
          <p:cNvPr id="34" name="Marker 3"/>
          <p:cNvSpPr/>
          <p:nvPr/>
        </p:nvSpPr>
        <p:spPr>
          <a:xfrm>
            <a:off x="8257032" y="4087368"/>
            <a:ext cx="274320" cy="274320"/>
          </a:xfrm>
          <a:prstGeom prst="diamond">
            <a:avLst/>
          </a:prstGeom>
          <a:solidFill>
            <a:schemeClr val="accent2"/>
          </a:solidFill>
          <a:ln w="12700">
            <a:solidFill>
              <a:schemeClr val="bg1"/>
            </a:solidFill>
            <a:prstDash val="solid"/>
          </a:ln>
        </p:spPr>
      </p:sp>
      <p:sp>
        <p:nvSpPr>
          <p:cNvPr id="35" name="Text 32"/>
          <p:cNvSpPr txBox="1"/>
          <p:nvPr/>
        </p:nvSpPr>
        <p:spPr>
          <a:xfrm>
            <a:off x="8257032" y="4087368"/>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36" name="Text 33"/>
          <p:cNvSpPr txBox="1"/>
          <p:nvPr/>
        </p:nvSpPr>
        <p:spPr>
          <a:xfrm>
            <a:off x="8641080" y="4078224"/>
            <a:ext cx="2834640" cy="603504"/>
          </a:xfrm>
          <a:prstGeom prst="rect">
            <a:avLst/>
          </a:prstGeom>
          <a:noFill/>
          <a:ln/>
        </p:spPr>
        <p:txBody>
          <a:bodyPr wrap="square" lIns="0" tIns="0" rIns="0" bIns="0" rtlCol="0" anchor="t"/>
          <a:lstStyle/>
          <a:p>
            <a:pPr indent="0" marL="0">
              <a:buNone/>
            </a:pPr>
            <a:r>
              <a:rPr lang="en-US" sz="1050" dirty="0">
                <a:solidFill>
                  <a:schemeClr val="tx1"/>
                </a:solidFill>
              </a:rPr>
              <a:t>Bidders' rights come solely from the law and the tender, contract or registration documents; Levels II and III have “no locus standi” there.</a:t>
            </a:r>
            <a:endParaRPr lang="en-US" sz="1050" dirty="0"/>
          </a:p>
        </p:txBody>
      </p:sp>
      <p:sp>
        <p:nvSpPr>
          <p:cNvPr id="37" name="Reading the rulebook card"/>
          <p:cNvSpPr/>
          <p:nvPr/>
        </p:nvSpPr>
        <p:spPr>
          <a:xfrm>
            <a:off x="8074152" y="4690872"/>
            <a:ext cx="3566160" cy="1463040"/>
          </a:xfrm>
          <a:prstGeom prst="roundRect">
            <a:avLst>
              <a:gd name="adj" fmla="val 6250"/>
            </a:avLst>
          </a:prstGeom>
          <a:solidFill>
            <a:schemeClr val="accent4"/>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38" name="Text 35"/>
          <p:cNvSpPr txBox="1"/>
          <p:nvPr/>
        </p:nvSpPr>
        <p:spPr>
          <a:xfrm>
            <a:off x="8257032" y="4754880"/>
            <a:ext cx="3200400" cy="274320"/>
          </a:xfrm>
          <a:prstGeom prst="rect">
            <a:avLst/>
          </a:prstGeom>
          <a:noFill/>
          <a:ln/>
        </p:spPr>
        <p:txBody>
          <a:bodyPr wrap="square" lIns="0" tIns="0" rIns="0" bIns="0" rtlCol="0" anchor="ctr"/>
          <a:lstStyle/>
          <a:p>
            <a:pPr indent="0" marL="0">
              <a:buNone/>
            </a:pPr>
            <a:r>
              <a:rPr lang="en-US" sz="1300" b="1" dirty="0">
                <a:solidFill>
                  <a:schemeClr val="accent2"/>
                </a:solidFill>
              </a:rPr>
              <a:t>Reading the rulebook</a:t>
            </a:r>
            <a:endParaRPr lang="en-US" sz="1300" dirty="0"/>
          </a:p>
        </p:txBody>
      </p:sp>
      <p:sp>
        <p:nvSpPr>
          <p:cNvPr id="39" name="Text 36"/>
          <p:cNvSpPr txBox="1"/>
          <p:nvPr/>
        </p:nvSpPr>
        <p:spPr>
          <a:xfrm>
            <a:off x="8257032" y="5047488"/>
            <a:ext cx="3246120" cy="1060704"/>
          </a:xfrm>
          <a:prstGeom prst="rect">
            <a:avLst/>
          </a:prstGeom>
          <a:noFill/>
          <a:ln/>
        </p:spPr>
        <p:txBody>
          <a:bodyPr wrap="square" lIns="0" tIns="0" rIns="0" bIns="0" rtlCol="0" anchor="t"/>
          <a:lstStyle/>
          <a:p>
            <a:pPr marL="152400" indent="-152400">
              <a:spcAft>
                <a:spcPts val="200"/>
              </a:spcAft>
              <a:buSzPct val="100000"/>
              <a:buChar char="•"/>
            </a:pPr>
            <a:r>
              <a:rPr lang="en-US" sz="1050" dirty="0">
                <a:solidFill>
                  <a:schemeClr val="tx1"/>
                </a:solidFill>
              </a:rPr>
              <a:t>Law and GFR prevail over a conflicting manual (Goods Manual, Preface)</a:t>
            </a:r>
            <a:endParaRPr lang="en-US" sz="1050" dirty="0"/>
          </a:p>
          <a:p>
            <a:pPr marL="152400" indent="-152400">
              <a:spcAft>
                <a:spcPts val="200"/>
              </a:spcAft>
              <a:buSzPct val="100000"/>
              <a:buChar char="•"/>
            </a:pPr>
            <a:r>
              <a:rPr lang="en-US" sz="1050" dirty="0">
                <a:solidFill>
                  <a:schemeClr val="tx1"/>
                </a:solidFill>
              </a:rPr>
              <a:t>“Shall” and “should” are mandatory; “may” is good practice</a:t>
            </a:r>
            <a:endParaRPr lang="en-US" sz="1050" dirty="0"/>
          </a:p>
          <a:p>
            <a:pPr marL="152400" indent="-152400">
              <a:spcAft>
                <a:spcPts val="200"/>
              </a:spcAft>
              <a:buSzPct val="100000"/>
              <a:buChar char="•"/>
            </a:pPr>
            <a:r>
              <a:rPr lang="en-US" sz="1050" dirty="0">
                <a:solidFill>
                  <a:schemeClr val="tx1"/>
                </a:solidFill>
              </a:rPr>
              <a:t>No central procurement statute: the rules sit in GFR chapters 6–9</a:t>
            </a:r>
            <a:endParaRPr lang="en-US" sz="1050" dirty="0"/>
          </a:p>
        </p:txBody>
      </p:sp>
      <p:sp>
        <p:nvSpPr>
          <p:cNvPr id="25" name="Slide Number Placeholder 0"/>
          <p:cNvSpPr>
            <a:spLocks noGrp="1"/>
          </p:cNvSpPr>
          <p:nvPr>
            <p:ph type="sldNum" sz="quarter" idx="4294967295"/>
          </p:nvPr>
        </p:nvSpPr>
        <p:spPr>
          <a:xfrm>
            <a:off x="11183112"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body" hasCustomPrompt="1"/>
          </p:nvPr>
        </p:nvSpPr>
        <p:spPr>
          <a:xfrm>
            <a:off x="886968" y="283464"/>
            <a:ext cx="1069848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PART 2  ·  INDIA'S PUBLIC PROCUREMENT POLICY</a:t>
            </a:r>
            <a:endParaRPr lang="en-US" sz="1100" dirty="0"/>
          </a:p>
        </p:txBody>
      </p:sp>
      <p:sp>
        <p:nvSpPr>
          <p:cNvPr id="3" name="Text 0"/>
          <p:cNvSpPr/>
          <p:nvPr>
            <p:ph idx="102" type="title" hasCustomPrompt="1"/>
          </p:nvPr>
        </p:nvSpPr>
        <p:spPr>
          <a:xfrm>
            <a:off x="548640" y="603504"/>
            <a:ext cx="11064240" cy="603504"/>
          </a:xfrm>
          <a:prstGeom prst="rect">
            <a:avLst/>
          </a:prstGeom>
          <a:noFill/>
          <a:ln/>
        </p:spPr>
        <p:txBody>
          <a:bodyPr wrap="square" lIns="0" tIns="0" rIns="0" bIns="0" rtlCol="0" anchor="ctr"/>
          <a:lstStyle/>
          <a:p>
            <a:pPr algn="l" indent="0" marL="0">
              <a:buNone/>
            </a:pPr>
            <a:r>
              <a:rPr lang="en-US" sz="3000" b="1" dirty="0">
                <a:solidFill>
                  <a:schemeClr val="tx2"/>
                </a:solidFill>
              </a:rPr>
              <a:t>Procurement policy at a glance</a:t>
            </a:r>
            <a:endParaRPr lang="en-US" sz="3000" dirty="0"/>
          </a:p>
        </p:txBody>
      </p:sp>
      <p:sp>
        <p:nvSpPr>
          <p:cNvPr id="4" name="Text 0"/>
          <p:cNvSpPr/>
          <p:nvPr>
            <p:ph idx="103" type="body" hasCustomPrompt="1"/>
          </p:nvPr>
        </p:nvSpPr>
        <p:spPr>
          <a:xfrm>
            <a:off x="548640" y="6291072"/>
            <a:ext cx="10424160" cy="411480"/>
          </a:xfrm>
          <a:prstGeom prst="rect">
            <a:avLst/>
          </a:prstGeom>
          <a:noFill/>
          <a:ln/>
        </p:spPr>
        <p:txBody>
          <a:bodyPr wrap="square" lIns="0" tIns="0" rIns="0" bIns="0" rtlCol="0" anchor="t"/>
          <a:lstStyle/>
          <a:p>
            <a:pPr indent="0" marL="0">
              <a:buNone/>
            </a:pPr>
            <a:r>
              <a:rPr lang="en-US" sz="950" dirty="0">
                <a:solidFill>
                  <a:schemeClr val="accent6"/>
                </a:solidFill>
              </a:rPr>
              <a:t>Sources: GFR 2017 (updated to 31 Jan 2026), Rules 144, 151, 154–162, 166–175, 183, 201; DoE OM F.1/3/2024-PPD, 10 Jul 2024; DFPR 2024, Rule 11; Goods Manual 2024, paras 1.5, 1.11, 6.1.2; DoE OM F.1/2/2024-PPD, 3 Jun 2024; Order (Public Procurement No. 4), 23 Feb 2023.</a:t>
            </a:r>
            <a:endParaRPr lang="en-US" sz="950" dirty="0"/>
          </a:p>
        </p:txBody>
      </p:sp>
      <p:sp>
        <p:nvSpPr>
          <p:cNvPr id="6" name="Text 3"/>
          <p:cNvSpPr txBox="1"/>
          <p:nvPr/>
        </p:nvSpPr>
        <p:spPr>
          <a:xfrm>
            <a:off x="548640" y="1353312"/>
            <a:ext cx="1280160" cy="347472"/>
          </a:xfrm>
          <a:prstGeom prst="rect">
            <a:avLst/>
          </a:prstGeom>
          <a:noFill/>
          <a:ln/>
        </p:spPr>
        <p:txBody>
          <a:bodyPr wrap="square" lIns="0" tIns="0" rIns="0" bIns="0" rtlCol="0" anchor="ctr"/>
          <a:lstStyle/>
          <a:p>
            <a:pPr indent="0" marL="0">
              <a:buNone/>
            </a:pPr>
            <a:r>
              <a:rPr lang="en-US" sz="1050" b="1" spc="200" kern="0" dirty="0">
                <a:solidFill>
                  <a:schemeClr val="accent1"/>
                </a:solidFill>
              </a:rPr>
              <a:t>GFR RULE 144</a:t>
            </a:r>
            <a:endParaRPr lang="en-US" sz="1050" dirty="0"/>
          </a:p>
        </p:txBody>
      </p:sp>
      <p:sp>
        <p:nvSpPr>
          <p:cNvPr id="7" name="Principle 1"/>
          <p:cNvSpPr/>
          <p:nvPr/>
        </p:nvSpPr>
        <p:spPr>
          <a:xfrm>
            <a:off x="1828800" y="1353312"/>
            <a:ext cx="1188720" cy="347472"/>
          </a:xfrm>
          <a:prstGeom prst="roundRect">
            <a:avLst>
              <a:gd name="adj" fmla="val 50000"/>
            </a:avLst>
          </a:prstGeom>
          <a:solidFill>
            <a:schemeClr val="accent4"/>
          </a:solidFill>
          <a:ln w="9525">
            <a:solidFill>
              <a:schemeClr val="accent4"/>
            </a:solidFill>
            <a:prstDash val="solid"/>
          </a:ln>
        </p:spPr>
      </p:sp>
      <p:sp>
        <p:nvSpPr>
          <p:cNvPr id="8" name="Text 5"/>
          <p:cNvSpPr txBox="1"/>
          <p:nvPr/>
        </p:nvSpPr>
        <p:spPr>
          <a:xfrm>
            <a:off x="1828800" y="1353312"/>
            <a:ext cx="1188720" cy="347472"/>
          </a:xfrm>
          <a:prstGeom prst="rect">
            <a:avLst/>
          </a:prstGeom>
          <a:noFill/>
          <a:ln/>
        </p:spPr>
        <p:txBody>
          <a:bodyPr wrap="square" lIns="0" tIns="0" rIns="0" bIns="0" rtlCol="0" anchor="ctr"/>
          <a:lstStyle/>
          <a:p>
            <a:pPr algn="ctr" indent="0" marL="0">
              <a:buNone/>
            </a:pPr>
            <a:r>
              <a:rPr lang="en-US" sz="1150" b="1" dirty="0">
                <a:solidFill>
                  <a:schemeClr val="tx2"/>
                </a:solidFill>
              </a:rPr>
              <a:t>Efficiency</a:t>
            </a:r>
            <a:endParaRPr lang="en-US" sz="1150" dirty="0"/>
          </a:p>
        </p:txBody>
      </p:sp>
      <p:sp>
        <p:nvSpPr>
          <p:cNvPr id="9" name="Principle 2"/>
          <p:cNvSpPr/>
          <p:nvPr/>
        </p:nvSpPr>
        <p:spPr>
          <a:xfrm>
            <a:off x="3108960" y="1353312"/>
            <a:ext cx="1097280" cy="347472"/>
          </a:xfrm>
          <a:prstGeom prst="roundRect">
            <a:avLst>
              <a:gd name="adj" fmla="val 50000"/>
            </a:avLst>
          </a:prstGeom>
          <a:solidFill>
            <a:schemeClr val="accent4"/>
          </a:solidFill>
          <a:ln w="9525">
            <a:solidFill>
              <a:schemeClr val="accent4"/>
            </a:solidFill>
            <a:prstDash val="solid"/>
          </a:ln>
        </p:spPr>
      </p:sp>
      <p:sp>
        <p:nvSpPr>
          <p:cNvPr id="10" name="Text 7"/>
          <p:cNvSpPr txBox="1"/>
          <p:nvPr/>
        </p:nvSpPr>
        <p:spPr>
          <a:xfrm>
            <a:off x="3108960" y="1353312"/>
            <a:ext cx="1097280" cy="347472"/>
          </a:xfrm>
          <a:prstGeom prst="rect">
            <a:avLst/>
          </a:prstGeom>
          <a:noFill/>
          <a:ln/>
        </p:spPr>
        <p:txBody>
          <a:bodyPr wrap="square" lIns="0" tIns="0" rIns="0" bIns="0" rtlCol="0" anchor="ctr"/>
          <a:lstStyle/>
          <a:p>
            <a:pPr algn="ctr" indent="0" marL="0">
              <a:buNone/>
            </a:pPr>
            <a:r>
              <a:rPr lang="en-US" sz="1150" b="1" dirty="0">
                <a:solidFill>
                  <a:schemeClr val="tx2"/>
                </a:solidFill>
              </a:rPr>
              <a:t>Economy</a:t>
            </a:r>
            <a:endParaRPr lang="en-US" sz="1150" dirty="0"/>
          </a:p>
        </p:txBody>
      </p:sp>
      <p:sp>
        <p:nvSpPr>
          <p:cNvPr id="11" name="Principle 3"/>
          <p:cNvSpPr/>
          <p:nvPr/>
        </p:nvSpPr>
        <p:spPr>
          <a:xfrm>
            <a:off x="4297680" y="1353312"/>
            <a:ext cx="1325880" cy="347472"/>
          </a:xfrm>
          <a:prstGeom prst="roundRect">
            <a:avLst>
              <a:gd name="adj" fmla="val 50000"/>
            </a:avLst>
          </a:prstGeom>
          <a:solidFill>
            <a:schemeClr val="accent4"/>
          </a:solidFill>
          <a:ln w="9525">
            <a:solidFill>
              <a:schemeClr val="accent4"/>
            </a:solidFill>
            <a:prstDash val="solid"/>
          </a:ln>
        </p:spPr>
      </p:sp>
      <p:sp>
        <p:nvSpPr>
          <p:cNvPr id="12" name="Text 9"/>
          <p:cNvSpPr txBox="1"/>
          <p:nvPr/>
        </p:nvSpPr>
        <p:spPr>
          <a:xfrm>
            <a:off x="4297680" y="1353312"/>
            <a:ext cx="1325880" cy="347472"/>
          </a:xfrm>
          <a:prstGeom prst="rect">
            <a:avLst/>
          </a:prstGeom>
          <a:noFill/>
          <a:ln/>
        </p:spPr>
        <p:txBody>
          <a:bodyPr wrap="square" lIns="0" tIns="0" rIns="0" bIns="0" rtlCol="0" anchor="ctr"/>
          <a:lstStyle/>
          <a:p>
            <a:pPr algn="ctr" indent="0" marL="0">
              <a:buNone/>
            </a:pPr>
            <a:r>
              <a:rPr lang="en-US" sz="1150" b="1" dirty="0">
                <a:solidFill>
                  <a:schemeClr val="tx2"/>
                </a:solidFill>
              </a:rPr>
              <a:t>Transparency</a:t>
            </a:r>
            <a:endParaRPr lang="en-US" sz="1150" dirty="0"/>
          </a:p>
        </p:txBody>
      </p:sp>
      <p:sp>
        <p:nvSpPr>
          <p:cNvPr id="13" name="Principle 4"/>
          <p:cNvSpPr/>
          <p:nvPr/>
        </p:nvSpPr>
        <p:spPr>
          <a:xfrm>
            <a:off x="5715000" y="1353312"/>
            <a:ext cx="3063240" cy="347472"/>
          </a:xfrm>
          <a:prstGeom prst="roundRect">
            <a:avLst>
              <a:gd name="adj" fmla="val 50000"/>
            </a:avLst>
          </a:prstGeom>
          <a:solidFill>
            <a:schemeClr val="accent5"/>
          </a:solidFill>
          <a:ln w="9525">
            <a:solidFill>
              <a:schemeClr val="accent3"/>
            </a:solidFill>
            <a:prstDash val="solid"/>
          </a:ln>
        </p:spPr>
      </p:sp>
      <p:sp>
        <p:nvSpPr>
          <p:cNvPr id="14" name="Text 11"/>
          <p:cNvSpPr txBox="1"/>
          <p:nvPr/>
        </p:nvSpPr>
        <p:spPr>
          <a:xfrm>
            <a:off x="5715000" y="1353312"/>
            <a:ext cx="3063240" cy="347472"/>
          </a:xfrm>
          <a:prstGeom prst="rect">
            <a:avLst/>
          </a:prstGeom>
          <a:noFill/>
          <a:ln/>
        </p:spPr>
        <p:txBody>
          <a:bodyPr wrap="square" lIns="0" tIns="0" rIns="0" bIns="0" rtlCol="0" anchor="ctr"/>
          <a:lstStyle/>
          <a:p>
            <a:pPr algn="ctr" indent="0" marL="0">
              <a:buNone/>
            </a:pPr>
            <a:r>
              <a:rPr lang="en-US" sz="1150" b="1" dirty="0">
                <a:solidFill>
                  <a:schemeClr val="tx2"/>
                </a:solidFill>
              </a:rPr>
              <a:t>Fair and equitable treatment of suppliers</a:t>
            </a:r>
            <a:endParaRPr lang="en-US" sz="1150" dirty="0"/>
          </a:p>
        </p:txBody>
      </p:sp>
      <p:sp>
        <p:nvSpPr>
          <p:cNvPr id="15" name="Principle 5"/>
          <p:cNvSpPr/>
          <p:nvPr/>
        </p:nvSpPr>
        <p:spPr>
          <a:xfrm>
            <a:off x="8869680" y="1353312"/>
            <a:ext cx="1280160" cy="347472"/>
          </a:xfrm>
          <a:prstGeom prst="roundRect">
            <a:avLst>
              <a:gd name="adj" fmla="val 50000"/>
            </a:avLst>
          </a:prstGeom>
          <a:solidFill>
            <a:schemeClr val="accent4"/>
          </a:solidFill>
          <a:ln w="9525">
            <a:solidFill>
              <a:schemeClr val="accent4"/>
            </a:solidFill>
            <a:prstDash val="solid"/>
          </a:ln>
        </p:spPr>
      </p:sp>
      <p:sp>
        <p:nvSpPr>
          <p:cNvPr id="16" name="Text 13"/>
          <p:cNvSpPr txBox="1"/>
          <p:nvPr/>
        </p:nvSpPr>
        <p:spPr>
          <a:xfrm>
            <a:off x="8869680" y="1353312"/>
            <a:ext cx="1280160" cy="347472"/>
          </a:xfrm>
          <a:prstGeom prst="rect">
            <a:avLst/>
          </a:prstGeom>
          <a:noFill/>
          <a:ln/>
        </p:spPr>
        <p:txBody>
          <a:bodyPr wrap="square" lIns="0" tIns="0" rIns="0" bIns="0" rtlCol="0" anchor="ctr"/>
          <a:lstStyle/>
          <a:p>
            <a:pPr algn="ctr" indent="0" marL="0">
              <a:buNone/>
            </a:pPr>
            <a:r>
              <a:rPr lang="en-US" sz="1150" b="1" dirty="0">
                <a:solidFill>
                  <a:schemeClr val="tx2"/>
                </a:solidFill>
              </a:rPr>
              <a:t>Competition</a:t>
            </a:r>
            <a:endParaRPr lang="en-US" sz="1150" dirty="0"/>
          </a:p>
        </p:txBody>
      </p:sp>
      <p:sp>
        <p:nvSpPr>
          <p:cNvPr id="17" name="Text 14"/>
          <p:cNvSpPr txBox="1"/>
          <p:nvPr/>
        </p:nvSpPr>
        <p:spPr>
          <a:xfrm>
            <a:off x="10287000" y="1353312"/>
            <a:ext cx="1353312" cy="347472"/>
          </a:xfrm>
          <a:prstGeom prst="rect">
            <a:avLst/>
          </a:prstGeom>
          <a:noFill/>
          <a:ln/>
        </p:spPr>
        <p:txBody>
          <a:bodyPr wrap="square" lIns="0" tIns="0" rIns="0" bIns="0" rtlCol="0" anchor="ctr"/>
          <a:lstStyle/>
          <a:p>
            <a:pPr indent="0" marL="0">
              <a:buNone/>
            </a:pPr>
            <a:r>
              <a:rPr lang="en-US" sz="1050" i="1" dirty="0">
                <a:solidFill>
                  <a:schemeClr val="accent6"/>
                </a:solidFill>
              </a:rPr>
              <a:t>+ officer accountable for delegated powers</a:t>
            </a:r>
            <a:endParaRPr lang="en-US" sz="1050" dirty="0"/>
          </a:p>
        </p:txBody>
      </p:sp>
      <p:sp>
        <p:nvSpPr>
          <p:cNvPr id="18" name="Text 15"/>
          <p:cNvSpPr txBox="1"/>
          <p:nvPr/>
        </p:nvSpPr>
        <p:spPr>
          <a:xfrm>
            <a:off x="548640" y="1874520"/>
            <a:ext cx="6126480" cy="274320"/>
          </a:xfrm>
          <a:prstGeom prst="rect">
            <a:avLst/>
          </a:prstGeom>
          <a:noFill/>
          <a:ln/>
        </p:spPr>
        <p:txBody>
          <a:bodyPr wrap="square" lIns="0" tIns="0" rIns="0" bIns="0" rtlCol="0" anchor="ctr"/>
          <a:lstStyle/>
          <a:p>
            <a:pPr indent="0" marL="0">
              <a:buNone/>
            </a:pPr>
            <a:r>
              <a:rPr lang="en-US" sz="1300" b="1" dirty="0">
                <a:solidFill>
                  <a:schemeClr val="tx2"/>
                </a:solidFill>
              </a:rPr>
              <a:t>Buying goods outside GeM — only when the item is not on GeM</a:t>
            </a:r>
            <a:endParaRPr lang="en-US" sz="1300" dirty="0"/>
          </a:p>
        </p:txBody>
      </p:sp>
      <p:graphicFrame>
        <p:nvGraphicFramePr>
          <p:cNvPr id="5" name="Thresholds table"/>
          <p:cNvGraphicFramePr>
            <a:graphicFrameLocks noGrp="1"/>
          </p:cNvGraphicFramePr>
          <p:nvPr>
            <p:extLst>
              <p:ext uri="{D42A27DB-BD31-4B8C-83A1-F6EECF244321}">
                <p14:modId xmlns:p14="http://schemas.microsoft.com/office/powerpoint/2010/main" val="1579011935"/>
              </p:ext>
            </p:extLst>
          </p:nvPr>
        </p:nvGraphicFramePr>
        <p:xfrm>
          <a:off x="548640" y="2194560"/>
          <a:ext cx="6126480" cy="914400"/>
        </p:xfrm>
        <a:graphic>
          <a:graphicData uri="http://schemas.openxmlformats.org/drawingml/2006/table">
            <a:tbl>
              <a:tblPr/>
              <a:tblGrid>
                <a:gridCol w="1325880"/>
                <a:gridCol w="2880360"/>
                <a:gridCol w="640080"/>
                <a:gridCol w="1280160"/>
              </a:tblGrid>
              <a:tr h="301752">
                <a:tc>
                  <a:txBody>
                    <a:bodyPr/>
                    <a:lstStyle/>
                    <a:p>
                      <a:pPr indent="0" marL="0">
                        <a:buNone/>
                      </a:pPr>
                      <a:r>
                        <a:rPr lang="en-US" sz="1050" b="1" dirty="0">
                          <a:solidFill>
                            <a:srgbClr val="FFFFFF"/>
                          </a:solidFill>
                        </a:rPr>
                        <a:t>Estimated value</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1B1230"/>
                    </a:solidFill>
                  </a:tcPr>
                </a:tc>
                <a:tc>
                  <a:txBody>
                    <a:bodyPr/>
                    <a:lstStyle/>
                    <a:p>
                      <a:pPr indent="0" marL="0">
                        <a:buNone/>
                      </a:pPr>
                      <a:r>
                        <a:rPr lang="en-US" sz="1050" b="1" dirty="0">
                          <a:solidFill>
                            <a:srgbClr val="FFFFFF"/>
                          </a:solidFill>
                        </a:rPr>
                        <a:t>Method</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1B1230"/>
                    </a:solidFill>
                  </a:tcPr>
                </a:tc>
                <a:tc>
                  <a:txBody>
                    <a:bodyPr/>
                    <a:lstStyle/>
                    <a:p>
                      <a:pPr indent="0" marL="0">
                        <a:buNone/>
                      </a:pPr>
                      <a:r>
                        <a:rPr lang="en-US" sz="1050" b="1" dirty="0">
                          <a:solidFill>
                            <a:srgbClr val="FFFFFF"/>
                          </a:solidFill>
                        </a:rPr>
                        <a:t>Rule</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1B1230"/>
                    </a:solidFill>
                  </a:tcPr>
                </a:tc>
                <a:tc>
                  <a:txBody>
                    <a:bodyPr/>
                    <a:lstStyle/>
                    <a:p>
                      <a:pPr indent="0" marL="0">
                        <a:buNone/>
                      </a:pPr>
                      <a:r>
                        <a:rPr lang="en-US" sz="1050" b="1" dirty="0">
                          <a:solidFill>
                            <a:srgbClr val="FFFFFF"/>
                          </a:solidFill>
                        </a:rPr>
                        <a:t>Before Jul 2024</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1B1230"/>
                    </a:solidFill>
                  </a:tcPr>
                </a:tc>
              </a:tr>
              <a:tr h="301752">
                <a:tc>
                  <a:txBody>
                    <a:bodyPr/>
                    <a:lstStyle/>
                    <a:p>
                      <a:pPr indent="0" marL="0">
                        <a:buNone/>
                      </a:pPr>
                      <a:r>
                        <a:rPr lang="en-US" sz="1050" dirty="0">
                          <a:solidFill>
                            <a:srgbClr val="2A1B3D"/>
                          </a:solidFill>
                        </a:rPr>
                        <a:t>Up to ₹50,000</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FFFFFF"/>
                    </a:solidFill>
                  </a:tcPr>
                </a:tc>
                <a:tc>
                  <a:txBody>
                    <a:bodyPr/>
                    <a:lstStyle/>
                    <a:p>
                      <a:pPr indent="0" marL="0">
                        <a:buNone/>
                      </a:pPr>
                      <a:r>
                        <a:rPr lang="en-US" sz="1050" dirty="0">
                          <a:solidFill>
                            <a:srgbClr val="2A1B3D"/>
                          </a:solidFill>
                        </a:rPr>
                        <a:t>Purchase without quotation (officer's certificate)</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FFFFFF"/>
                    </a:solidFill>
                  </a:tcPr>
                </a:tc>
                <a:tc>
                  <a:txBody>
                    <a:bodyPr/>
                    <a:lstStyle/>
                    <a:p>
                      <a:pPr indent="0" marL="0">
                        <a:buNone/>
                      </a:pPr>
                      <a:r>
                        <a:rPr lang="en-US" sz="1050" dirty="0">
                          <a:solidFill>
                            <a:srgbClr val="2A1B3D"/>
                          </a:solidFill>
                        </a:rPr>
                        <a:t>154</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FFFFFF"/>
                    </a:solidFill>
                  </a:tcPr>
                </a:tc>
                <a:tc>
                  <a:txBody>
                    <a:bodyPr/>
                    <a:lstStyle/>
                    <a:p>
                      <a:pPr indent="0" marL="0">
                        <a:buNone/>
                      </a:pPr>
                      <a:r>
                        <a:rPr lang="en-US" sz="1050" i="1" dirty="0">
                          <a:solidFill>
                            <a:srgbClr val="7A6888"/>
                          </a:solidFill>
                        </a:rPr>
                        <a:t>Up to ₹25,000</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2A1B3D"/>
                          </a:solidFill>
                        </a:rPr>
                        <a:t>₹50,000 – ₹5 lakh</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FFFFFF"/>
                    </a:solidFill>
                  </a:tcPr>
                </a:tc>
                <a:tc>
                  <a:txBody>
                    <a:bodyPr/>
                    <a:lstStyle/>
                    <a:p>
                      <a:pPr indent="0" marL="0">
                        <a:buNone/>
                      </a:pPr>
                      <a:r>
                        <a:rPr lang="en-US" sz="1050" dirty="0">
                          <a:solidFill>
                            <a:srgbClr val="2A1B3D"/>
                          </a:solidFill>
                        </a:rPr>
                        <a:t>Local Purchase Committee of three</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FFFFFF"/>
                    </a:solidFill>
                  </a:tcPr>
                </a:tc>
                <a:tc>
                  <a:txBody>
                    <a:bodyPr/>
                    <a:lstStyle/>
                    <a:p>
                      <a:pPr indent="0" marL="0">
                        <a:buNone/>
                      </a:pPr>
                      <a:r>
                        <a:rPr lang="en-US" sz="1050" dirty="0">
                          <a:solidFill>
                            <a:srgbClr val="2A1B3D"/>
                          </a:solidFill>
                        </a:rPr>
                        <a:t>155</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FFFFFF"/>
                    </a:solidFill>
                  </a:tcPr>
                </a:tc>
                <a:tc>
                  <a:txBody>
                    <a:bodyPr/>
                    <a:lstStyle/>
                    <a:p>
                      <a:pPr indent="0" marL="0">
                        <a:buNone/>
                      </a:pPr>
                      <a:r>
                        <a:rPr lang="en-US" sz="1050" i="1" dirty="0">
                          <a:solidFill>
                            <a:srgbClr val="7A6888"/>
                          </a:solidFill>
                        </a:rPr>
                        <a:t>₹25,000 – ₹2.5 lakh</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2A1B3D"/>
                          </a:solidFill>
                        </a:rPr>
                        <a:t>Up to ₹50 lakh</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FFFFFF"/>
                    </a:solidFill>
                  </a:tcPr>
                </a:tc>
                <a:tc>
                  <a:txBody>
                    <a:bodyPr/>
                    <a:lstStyle/>
                    <a:p>
                      <a:pPr indent="0" marL="0">
                        <a:buNone/>
                      </a:pPr>
                      <a:r>
                        <a:rPr lang="en-US" sz="1050" dirty="0">
                          <a:solidFill>
                            <a:srgbClr val="2A1B3D"/>
                          </a:solidFill>
                        </a:rPr>
                        <a:t>Limited Tender Enquiry (more than 3 suppliers)</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FFFFFF"/>
                    </a:solidFill>
                  </a:tcPr>
                </a:tc>
                <a:tc>
                  <a:txBody>
                    <a:bodyPr/>
                    <a:lstStyle/>
                    <a:p>
                      <a:pPr indent="0" marL="0">
                        <a:buNone/>
                      </a:pPr>
                      <a:r>
                        <a:rPr lang="en-US" sz="1050" dirty="0">
                          <a:solidFill>
                            <a:srgbClr val="2A1B3D"/>
                          </a:solidFill>
                        </a:rPr>
                        <a:t>162</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FFFFFF"/>
                    </a:solidFill>
                  </a:tcPr>
                </a:tc>
                <a:tc>
                  <a:txBody>
                    <a:bodyPr/>
                    <a:lstStyle/>
                    <a:p>
                      <a:pPr indent="0" marL="0">
                        <a:buNone/>
                      </a:pPr>
                      <a:r>
                        <a:rPr lang="en-US" sz="1050" i="1" dirty="0">
                          <a:solidFill>
                            <a:srgbClr val="7A6888"/>
                          </a:solidFill>
                        </a:rPr>
                        <a:t>Up to ₹25 lakh</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2A1B3D"/>
                          </a:solidFill>
                        </a:rPr>
                        <a:t>₹50 lakh and above</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FFFFFF"/>
                    </a:solidFill>
                  </a:tcPr>
                </a:tc>
                <a:tc>
                  <a:txBody>
                    <a:bodyPr/>
                    <a:lstStyle/>
                    <a:p>
                      <a:pPr indent="0" marL="0">
                        <a:buNone/>
                      </a:pPr>
                      <a:r>
                        <a:rPr lang="en-US" sz="1050" dirty="0">
                          <a:solidFill>
                            <a:srgbClr val="2A1B3D"/>
                          </a:solidFill>
                        </a:rPr>
                        <a:t>Advertised (open) tender</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FFFFFF"/>
                    </a:solidFill>
                  </a:tcPr>
                </a:tc>
                <a:tc>
                  <a:txBody>
                    <a:bodyPr/>
                    <a:lstStyle/>
                    <a:p>
                      <a:pPr indent="0" marL="0">
                        <a:buNone/>
                      </a:pPr>
                      <a:r>
                        <a:rPr lang="en-US" sz="1050" dirty="0">
                          <a:solidFill>
                            <a:srgbClr val="2A1B3D"/>
                          </a:solidFill>
                        </a:rPr>
                        <a:t>161</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FFFFFF"/>
                    </a:solidFill>
                  </a:tcPr>
                </a:tc>
                <a:tc>
                  <a:txBody>
                    <a:bodyPr/>
                    <a:lstStyle/>
                    <a:p>
                      <a:pPr indent="0" marL="0">
                        <a:buNone/>
                      </a:pPr>
                      <a:r>
                        <a:rPr lang="en-US" sz="1050" i="1" dirty="0">
                          <a:solidFill>
                            <a:srgbClr val="7A6888"/>
                          </a:solidFill>
                        </a:rPr>
                        <a:t>₹25 lakh and above</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2A1B3D"/>
                          </a:solidFill>
                        </a:rPr>
                        <a:t>Any, defined cases</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FFFFFF"/>
                    </a:solidFill>
                  </a:tcPr>
                </a:tc>
                <a:tc>
                  <a:txBody>
                    <a:bodyPr/>
                    <a:lstStyle/>
                    <a:p>
                      <a:pPr indent="0" marL="0">
                        <a:buNone/>
                      </a:pPr>
                      <a:r>
                        <a:rPr lang="en-US" sz="1050" dirty="0">
                          <a:solidFill>
                            <a:srgbClr val="2A1B3D"/>
                          </a:solidFill>
                        </a:rPr>
                        <a:t>Single tender: proprietary, emergency, standardisation</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FFFFFF"/>
                    </a:solidFill>
                  </a:tcPr>
                </a:tc>
                <a:tc>
                  <a:txBody>
                    <a:bodyPr/>
                    <a:lstStyle/>
                    <a:p>
                      <a:pPr indent="0" marL="0">
                        <a:buNone/>
                      </a:pPr>
                      <a:r>
                        <a:rPr lang="en-US" sz="1050" dirty="0">
                          <a:solidFill>
                            <a:srgbClr val="2A1B3D"/>
                          </a:solidFill>
                        </a:rPr>
                        <a:t>166</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FFFFFF"/>
                    </a:solidFill>
                  </a:tcPr>
                </a:tc>
                <a:tc>
                  <a:txBody>
                    <a:bodyPr/>
                    <a:lstStyle/>
                    <a:p>
                      <a:pPr indent="0" marL="0">
                        <a:buNone/>
                      </a:pPr>
                      <a:r>
                        <a:rPr lang="en-US" sz="1050" i="1" dirty="0">
                          <a:solidFill>
                            <a:srgbClr val="7A6888"/>
                          </a:solidFill>
                        </a:rPr>
                        <a:t>Unchanged</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2A1B3D"/>
                          </a:solidFill>
                        </a:rPr>
                        <a:t>Any</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FFFFFF"/>
                    </a:solidFill>
                  </a:tcPr>
                </a:tc>
                <a:tc>
                  <a:txBody>
                    <a:bodyPr/>
                    <a:lstStyle/>
                    <a:p>
                      <a:pPr indent="0" marL="0">
                        <a:buNone/>
                      </a:pPr>
                      <a:r>
                        <a:rPr lang="en-US" sz="1050" dirty="0">
                          <a:solidFill>
                            <a:srgbClr val="2A1B3D"/>
                          </a:solidFill>
                        </a:rPr>
                        <a:t>e-Reverse auction; two-stage bidding</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FFFFFF"/>
                    </a:solidFill>
                  </a:tcPr>
                </a:tc>
                <a:tc>
                  <a:txBody>
                    <a:bodyPr/>
                    <a:lstStyle/>
                    <a:p>
                      <a:pPr indent="0" marL="0">
                        <a:buNone/>
                      </a:pPr>
                      <a:r>
                        <a:rPr lang="en-US" sz="1050" dirty="0">
                          <a:solidFill>
                            <a:srgbClr val="2A1B3D"/>
                          </a:solidFill>
                        </a:rPr>
                        <a:t>158, 167</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FFFFFF"/>
                    </a:solidFill>
                  </a:tcPr>
                </a:tc>
                <a:tc>
                  <a:txBody>
                    <a:bodyPr/>
                    <a:lstStyle/>
                    <a:p>
                      <a:pPr indent="0" marL="0">
                        <a:buNone/>
                      </a:pPr>
                      <a:r>
                        <a:rPr lang="en-US" sz="1050" i="1" dirty="0">
                          <a:solidFill>
                            <a:srgbClr val="7A6888"/>
                          </a:solidFill>
                        </a:rPr>
                        <a:t>Unchanged</a:t>
                      </a:r>
                      <a:endParaRPr lang="en-US" sz="1050" dirty="0"/>
                    </a:p>
                  </a:txBody>
                  <a:tcPr marL="45720" marR="45720" marT="45720" marB="45720" anchor="ctr">
                    <a:lnL w="6350" cap="flat" cmpd="sng" algn="ctr">
                      <a:solidFill>
                        <a:srgbClr val="E2D6EE"/>
                      </a:solidFill>
                      <a:prstDash val="solid"/>
                      <a:round/>
                      <a:headEnd type="none" w="med" len="med"/>
                      <a:tailEnd type="none" w="med" len="med"/>
                    </a:lnL>
                    <a:lnR w="6350" cap="flat" cmpd="sng" algn="ctr">
                      <a:solidFill>
                        <a:srgbClr val="E2D6EE"/>
                      </a:solidFill>
                      <a:prstDash val="solid"/>
                      <a:round/>
                      <a:headEnd type="none" w="med" len="med"/>
                      <a:tailEnd type="none" w="med" len="med"/>
                    </a:lnR>
                    <a:lnT w="6350" cap="flat" cmpd="sng" algn="ctr">
                      <a:solidFill>
                        <a:srgbClr val="E2D6EE"/>
                      </a:solidFill>
                      <a:prstDash val="solid"/>
                      <a:round/>
                      <a:headEnd type="none" w="med" len="med"/>
                      <a:tailEnd type="none" w="med" len="med"/>
                    </a:lnT>
                    <a:lnB w="6350" cap="flat" cmpd="sng" algn="ctr">
                      <a:solidFill>
                        <a:srgbClr val="E2D6EE"/>
                      </a:solidFill>
                      <a:prstDash val="solid"/>
                      <a:round/>
                      <a:headEnd type="none" w="med" len="med"/>
                      <a:tailEnd type="none" w="med" len="med"/>
                    </a:lnB>
                    <a:solidFill>
                      <a:srgbClr val="FFFFFF"/>
                    </a:solidFill>
                  </a:tcPr>
                </a:tc>
              </a:tr>
            </a:tbl>
          </a:graphicData>
        </a:graphic>
      </p:graphicFrame>
      <p:sp>
        <p:nvSpPr>
          <p:cNvPr id="20" name="Services strip"/>
          <p:cNvSpPr/>
          <p:nvPr/>
        </p:nvSpPr>
        <p:spPr>
          <a:xfrm>
            <a:off x="548640" y="4443984"/>
            <a:ext cx="6126480" cy="502920"/>
          </a:xfrm>
          <a:prstGeom prst="roundRect">
            <a:avLst>
              <a:gd name="adj" fmla="val 18182"/>
            </a:avLst>
          </a:prstGeom>
          <a:solidFill>
            <a:schemeClr val="accent4"/>
          </a:solidFill>
          <a:ln w="9525">
            <a:solidFill>
              <a:schemeClr val="accent4"/>
            </a:solidFill>
            <a:prstDash val="solid"/>
          </a:ln>
        </p:spPr>
      </p:sp>
      <p:sp>
        <p:nvSpPr>
          <p:cNvPr id="21" name="Text 17"/>
          <p:cNvSpPr txBox="1"/>
          <p:nvPr/>
        </p:nvSpPr>
        <p:spPr>
          <a:xfrm>
            <a:off x="685800" y="4443984"/>
            <a:ext cx="5897880" cy="502920"/>
          </a:xfrm>
          <a:prstGeom prst="rect">
            <a:avLst/>
          </a:prstGeom>
          <a:noFill/>
          <a:ln/>
        </p:spPr>
        <p:txBody>
          <a:bodyPr wrap="square" lIns="0" tIns="0" rIns="0" bIns="0" rtlCol="0" anchor="ctr"/>
          <a:lstStyle/>
          <a:p>
            <a:pPr indent="0" marL="0">
              <a:buNone/>
            </a:pPr>
            <a:r>
              <a:rPr lang="en-US" sz="950" b="1" dirty="0">
                <a:solidFill>
                  <a:schemeClr val="accent2"/>
                </a:solidFill>
              </a:rPr>
              <a:t>Services </a:t>
            </a:r>
            <a:pPr indent="0" marL="0">
              <a:buNone/>
            </a:pPr>
            <a:r>
              <a:rPr lang="en-US" sz="950" dirty="0">
                <a:solidFill>
                  <a:schemeClr val="tx1"/>
                </a:solidFill>
              </a:rPr>
              <a:t>(Department of Expenditure (DoE) Office Memorandum (OM), 10 Jul 2024): non-consulting services by limited tender up to ₹50 lakh (Rule 201, was ₹10 lakh); consultancy needs an advertised Expression of Interest above ₹50 lakh (Rule 183, was ₹25 lakh).</a:t>
            </a:r>
            <a:endParaRPr lang="en-US" sz="950" dirty="0"/>
          </a:p>
        </p:txBody>
      </p:sp>
      <p:sp>
        <p:nvSpPr>
          <p:cNvPr id="22" name="Who approves"/>
          <p:cNvSpPr/>
          <p:nvPr/>
        </p:nvSpPr>
        <p:spPr>
          <a:xfrm>
            <a:off x="548640" y="5056632"/>
            <a:ext cx="2999232" cy="1097280"/>
          </a:xfrm>
          <a:prstGeom prst="roundRect">
            <a:avLst>
              <a:gd name="adj" fmla="val 8333"/>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23" name="Text 19"/>
          <p:cNvSpPr txBox="1"/>
          <p:nvPr/>
        </p:nvSpPr>
        <p:spPr>
          <a:xfrm>
            <a:off x="685800" y="5120640"/>
            <a:ext cx="2724912" cy="274320"/>
          </a:xfrm>
          <a:prstGeom prst="rect">
            <a:avLst/>
          </a:prstGeom>
          <a:noFill/>
          <a:ln/>
        </p:spPr>
        <p:txBody>
          <a:bodyPr wrap="square" lIns="0" tIns="0" rIns="0" bIns="0" rtlCol="0" anchor="ctr"/>
          <a:lstStyle/>
          <a:p>
            <a:pPr indent="0" marL="0">
              <a:buNone/>
            </a:pPr>
            <a:r>
              <a:rPr lang="en-US" sz="1300" b="1" dirty="0">
                <a:solidFill>
                  <a:schemeClr val="accent1"/>
                </a:solidFill>
              </a:rPr>
              <a:t>Who approves</a:t>
            </a:r>
            <a:endParaRPr lang="en-US" sz="1300" dirty="0"/>
          </a:p>
        </p:txBody>
      </p:sp>
      <p:sp>
        <p:nvSpPr>
          <p:cNvPr id="24" name="Text 20"/>
          <p:cNvSpPr txBox="1"/>
          <p:nvPr/>
        </p:nvSpPr>
        <p:spPr>
          <a:xfrm>
            <a:off x="685800" y="5413248"/>
            <a:ext cx="2743200" cy="713232"/>
          </a:xfrm>
          <a:prstGeom prst="rect">
            <a:avLst/>
          </a:prstGeom>
          <a:noFill/>
          <a:ln/>
        </p:spPr>
        <p:txBody>
          <a:bodyPr wrap="square" lIns="0" tIns="0" rIns="0" bIns="0" rtlCol="0" anchor="t"/>
          <a:lstStyle/>
          <a:p>
            <a:pPr indent="0" marL="0">
              <a:buNone/>
            </a:pPr>
            <a:r>
              <a:rPr lang="en-US" sz="950" dirty="0">
                <a:solidFill>
                  <a:schemeClr val="tx1"/>
                </a:solidFill>
              </a:rPr>
              <a:t>DFPR 2024, Rule 11: Secretary up to ₹100 crore (open or limited tender) and ₹25 crore (single, proprietary or negotiated); above that, the Minister. Financial Adviser concurrence unless re-delegated.</a:t>
            </a:r>
            <a:endParaRPr lang="en-US" sz="950" dirty="0"/>
          </a:p>
        </p:txBody>
      </p:sp>
      <p:sp>
        <p:nvSpPr>
          <p:cNvPr id="25" name="Transparency and disputes"/>
          <p:cNvSpPr/>
          <p:nvPr/>
        </p:nvSpPr>
        <p:spPr>
          <a:xfrm>
            <a:off x="3675888" y="5056632"/>
            <a:ext cx="2999232" cy="1097280"/>
          </a:xfrm>
          <a:prstGeom prst="roundRect">
            <a:avLst>
              <a:gd name="adj" fmla="val 8333"/>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26" name="Text 22"/>
          <p:cNvSpPr txBox="1"/>
          <p:nvPr/>
        </p:nvSpPr>
        <p:spPr>
          <a:xfrm>
            <a:off x="3813048" y="5120640"/>
            <a:ext cx="2724912" cy="274320"/>
          </a:xfrm>
          <a:prstGeom prst="rect">
            <a:avLst/>
          </a:prstGeom>
          <a:noFill/>
          <a:ln/>
        </p:spPr>
        <p:txBody>
          <a:bodyPr wrap="square" lIns="0" tIns="0" rIns="0" bIns="0" rtlCol="0" anchor="ctr"/>
          <a:lstStyle/>
          <a:p>
            <a:pPr indent="0" marL="0">
              <a:buNone/>
            </a:pPr>
            <a:r>
              <a:rPr lang="en-US" sz="1300" b="1" dirty="0">
                <a:solidFill>
                  <a:schemeClr val="accent1"/>
                </a:solidFill>
              </a:rPr>
              <a:t>Transparency and disputes</a:t>
            </a:r>
            <a:endParaRPr lang="en-US" sz="1300" dirty="0"/>
          </a:p>
        </p:txBody>
      </p:sp>
      <p:sp>
        <p:nvSpPr>
          <p:cNvPr id="27" name="Text 23"/>
          <p:cNvSpPr txBox="1"/>
          <p:nvPr/>
        </p:nvSpPr>
        <p:spPr>
          <a:xfrm>
            <a:off x="3813048" y="5413248"/>
            <a:ext cx="2743200" cy="713232"/>
          </a:xfrm>
          <a:prstGeom prst="rect">
            <a:avLst/>
          </a:prstGeom>
          <a:noFill/>
          <a:ln/>
        </p:spPr>
        <p:txBody>
          <a:bodyPr wrap="square" lIns="0" tIns="0" rIns="0" bIns="0" rtlCol="0" anchor="t"/>
          <a:lstStyle/>
          <a:p>
            <a:pPr indent="0" marL="0">
              <a:buNone/>
            </a:pPr>
            <a:r>
              <a:rPr lang="en-US" sz="950" dirty="0">
                <a:solidFill>
                  <a:schemeClr val="tx1"/>
                </a:solidFill>
              </a:rPr>
              <a:t>All tenders and awards on the GeM–Central Public Procurement Portal (CPPP); bids online only (Rules 159–160). Arbitration not routine; norm: disputes under ₹10 crore; mediation encouraged (DoE OM, 3 Jun 2024).</a:t>
            </a:r>
            <a:endParaRPr lang="en-US" sz="950" dirty="0"/>
          </a:p>
        </p:txBody>
      </p:sp>
      <p:sp>
        <p:nvSpPr>
          <p:cNvPr id="28" name="Bid security"/>
          <p:cNvSpPr/>
          <p:nvPr/>
        </p:nvSpPr>
        <p:spPr>
          <a:xfrm>
            <a:off x="6858000" y="1874520"/>
            <a:ext cx="2331720" cy="1353312"/>
          </a:xfrm>
          <a:prstGeom prst="roundRect">
            <a:avLst>
              <a:gd name="adj" fmla="val 6757"/>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29" name="Text 25"/>
          <p:cNvSpPr txBox="1"/>
          <p:nvPr/>
        </p:nvSpPr>
        <p:spPr>
          <a:xfrm>
            <a:off x="6995160" y="1947672"/>
            <a:ext cx="2075688" cy="411480"/>
          </a:xfrm>
          <a:prstGeom prst="rect">
            <a:avLst/>
          </a:prstGeom>
          <a:noFill/>
          <a:ln/>
        </p:spPr>
        <p:txBody>
          <a:bodyPr wrap="square" lIns="0" tIns="0" rIns="0" bIns="0" rtlCol="0" anchor="t"/>
          <a:lstStyle/>
          <a:p>
            <a:pPr indent="0" marL="0">
              <a:buNone/>
            </a:pPr>
            <a:r>
              <a:rPr lang="en-US" sz="1200" b="1" dirty="0">
                <a:solidFill>
                  <a:schemeClr val="tx2"/>
                </a:solidFill>
              </a:rPr>
              <a:t>Bid security</a:t>
            </a:r>
            <a:endParaRPr lang="en-US" sz="1200" dirty="0"/>
          </a:p>
          <a:p>
            <a:pPr indent="0" marL="0">
              <a:buNone/>
            </a:pPr>
            <a:r>
              <a:rPr lang="en-US" sz="950" b="1" dirty="0">
                <a:solidFill>
                  <a:schemeClr val="accent1"/>
                </a:solidFill>
              </a:rPr>
              <a:t>Rule 170</a:t>
            </a:r>
            <a:endParaRPr lang="en-US" sz="1200" dirty="0"/>
          </a:p>
        </p:txBody>
      </p:sp>
      <p:sp>
        <p:nvSpPr>
          <p:cNvPr id="30" name="Text 26"/>
          <p:cNvSpPr txBox="1"/>
          <p:nvPr/>
        </p:nvSpPr>
        <p:spPr>
          <a:xfrm>
            <a:off x="6995160" y="2377440"/>
            <a:ext cx="2093976" cy="804672"/>
          </a:xfrm>
          <a:prstGeom prst="rect">
            <a:avLst/>
          </a:prstGeom>
          <a:noFill/>
          <a:ln/>
        </p:spPr>
        <p:txBody>
          <a:bodyPr wrap="square" lIns="0" tIns="0" rIns="0" bIns="0" rtlCol="0" anchor="t"/>
          <a:lstStyle/>
          <a:p>
            <a:pPr indent="0" marL="0">
              <a:buNone/>
            </a:pPr>
            <a:r>
              <a:rPr lang="en-US" sz="950" dirty="0">
                <a:solidFill>
                  <a:schemeClr val="tx1"/>
                </a:solidFill>
              </a:rPr>
              <a:t>2–5% of estimated value, valid 45 days beyond bid validity. Exempt: MSEs and recognised startups.</a:t>
            </a:r>
            <a:endParaRPr lang="en-US" sz="950" dirty="0"/>
          </a:p>
        </p:txBody>
      </p:sp>
      <p:sp>
        <p:nvSpPr>
          <p:cNvPr id="31" name="Performance security"/>
          <p:cNvSpPr/>
          <p:nvPr/>
        </p:nvSpPr>
        <p:spPr>
          <a:xfrm>
            <a:off x="9308592" y="1874520"/>
            <a:ext cx="2331720" cy="1353312"/>
          </a:xfrm>
          <a:prstGeom prst="roundRect">
            <a:avLst>
              <a:gd name="adj" fmla="val 6757"/>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32" name="Text 28"/>
          <p:cNvSpPr txBox="1"/>
          <p:nvPr/>
        </p:nvSpPr>
        <p:spPr>
          <a:xfrm>
            <a:off x="9445752" y="1947672"/>
            <a:ext cx="2075688" cy="411480"/>
          </a:xfrm>
          <a:prstGeom prst="rect">
            <a:avLst/>
          </a:prstGeom>
          <a:noFill/>
          <a:ln/>
        </p:spPr>
        <p:txBody>
          <a:bodyPr wrap="square" lIns="0" tIns="0" rIns="0" bIns="0" rtlCol="0" anchor="t"/>
          <a:lstStyle/>
          <a:p>
            <a:pPr indent="0" marL="0">
              <a:buNone/>
            </a:pPr>
            <a:r>
              <a:rPr lang="en-US" sz="1200" b="1" dirty="0">
                <a:solidFill>
                  <a:schemeClr val="tx2"/>
                </a:solidFill>
              </a:rPr>
              <a:t>Performance security</a:t>
            </a:r>
            <a:endParaRPr lang="en-US" sz="1200" dirty="0"/>
          </a:p>
          <a:p>
            <a:pPr indent="0" marL="0">
              <a:buNone/>
            </a:pPr>
            <a:r>
              <a:rPr lang="en-US" sz="950" b="1" dirty="0">
                <a:solidFill>
                  <a:schemeClr val="accent1"/>
                </a:solidFill>
              </a:rPr>
              <a:t>Rule 171</a:t>
            </a:r>
            <a:endParaRPr lang="en-US" sz="1200" dirty="0"/>
          </a:p>
        </p:txBody>
      </p:sp>
      <p:sp>
        <p:nvSpPr>
          <p:cNvPr id="33" name="Text 29"/>
          <p:cNvSpPr txBox="1"/>
          <p:nvPr/>
        </p:nvSpPr>
        <p:spPr>
          <a:xfrm>
            <a:off x="9445752" y="2377440"/>
            <a:ext cx="2093976" cy="804672"/>
          </a:xfrm>
          <a:prstGeom prst="rect">
            <a:avLst/>
          </a:prstGeom>
          <a:noFill/>
          <a:ln/>
        </p:spPr>
        <p:txBody>
          <a:bodyPr wrap="square" lIns="0" tIns="0" rIns="0" bIns="0" rtlCol="0" anchor="t"/>
          <a:lstStyle/>
          <a:p>
            <a:pPr indent="0" marL="0">
              <a:buNone/>
            </a:pPr>
            <a:r>
              <a:rPr lang="en-US" sz="950" dirty="0">
                <a:solidFill>
                  <a:schemeClr val="tx1"/>
                </a:solidFill>
              </a:rPr>
              <a:t>3–5% for goods and services (3–10% works), valid 60 days beyond all obligations.</a:t>
            </a:r>
            <a:endParaRPr lang="en-US" sz="950" dirty="0"/>
          </a:p>
        </p:txBody>
      </p:sp>
      <p:sp>
        <p:nvSpPr>
          <p:cNvPr id="34" name="Advances"/>
          <p:cNvSpPr/>
          <p:nvPr/>
        </p:nvSpPr>
        <p:spPr>
          <a:xfrm>
            <a:off x="6858000" y="3337560"/>
            <a:ext cx="2331720" cy="1353312"/>
          </a:xfrm>
          <a:prstGeom prst="roundRect">
            <a:avLst>
              <a:gd name="adj" fmla="val 6757"/>
            </a:avLst>
          </a:prstGeom>
          <a:solidFill>
            <a:schemeClr val="accent5"/>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35" name="Text 31"/>
          <p:cNvSpPr txBox="1"/>
          <p:nvPr/>
        </p:nvSpPr>
        <p:spPr>
          <a:xfrm>
            <a:off x="6995160" y="3410712"/>
            <a:ext cx="2075688" cy="411480"/>
          </a:xfrm>
          <a:prstGeom prst="rect">
            <a:avLst/>
          </a:prstGeom>
          <a:noFill/>
          <a:ln/>
        </p:spPr>
        <p:txBody>
          <a:bodyPr wrap="square" lIns="0" tIns="0" rIns="0" bIns="0" rtlCol="0" anchor="t"/>
          <a:lstStyle/>
          <a:p>
            <a:pPr indent="0" marL="0">
              <a:buNone/>
            </a:pPr>
            <a:r>
              <a:rPr lang="en-US" sz="1200" b="1" dirty="0">
                <a:solidFill>
                  <a:schemeClr val="tx2"/>
                </a:solidFill>
              </a:rPr>
              <a:t>Advances</a:t>
            </a:r>
            <a:endParaRPr lang="en-US" sz="1200" dirty="0"/>
          </a:p>
          <a:p>
            <a:pPr indent="0" marL="0">
              <a:buNone/>
            </a:pPr>
            <a:r>
              <a:rPr lang="en-US" sz="950" b="1" dirty="0">
                <a:solidFill>
                  <a:schemeClr val="accent1"/>
                </a:solidFill>
              </a:rPr>
              <a:t>Rule 172</a:t>
            </a:r>
            <a:endParaRPr lang="en-US" sz="1200" dirty="0"/>
          </a:p>
        </p:txBody>
      </p:sp>
      <p:sp>
        <p:nvSpPr>
          <p:cNvPr id="36" name="Text 32"/>
          <p:cNvSpPr txBox="1"/>
          <p:nvPr/>
        </p:nvSpPr>
        <p:spPr>
          <a:xfrm>
            <a:off x="6995160" y="3840480"/>
            <a:ext cx="2093976" cy="804672"/>
          </a:xfrm>
          <a:prstGeom prst="rect">
            <a:avLst/>
          </a:prstGeom>
          <a:noFill/>
          <a:ln/>
        </p:spPr>
        <p:txBody>
          <a:bodyPr wrap="square" lIns="0" tIns="0" rIns="0" bIns="0" rtlCol="0" anchor="t"/>
          <a:lstStyle/>
          <a:p>
            <a:pPr indent="0" marL="0">
              <a:buNone/>
            </a:pPr>
            <a:r>
              <a:rPr lang="en-US" sz="950" dirty="0">
                <a:solidFill>
                  <a:schemeClr val="tx1"/>
                </a:solidFill>
              </a:rPr>
              <a:t>Normally pay after supply. Advance cap: 30% private firms, 40% government bodies; relaxable with the Financial Adviser.</a:t>
            </a:r>
            <a:endParaRPr lang="en-US" sz="950" dirty="0"/>
          </a:p>
        </p:txBody>
      </p:sp>
      <p:sp>
        <p:nvSpPr>
          <p:cNvPr id="37" name="Make in India"/>
          <p:cNvSpPr/>
          <p:nvPr/>
        </p:nvSpPr>
        <p:spPr>
          <a:xfrm>
            <a:off x="9308592" y="3337560"/>
            <a:ext cx="2331720" cy="1353312"/>
          </a:xfrm>
          <a:prstGeom prst="roundRect">
            <a:avLst>
              <a:gd name="adj" fmla="val 6757"/>
            </a:avLst>
          </a:prstGeom>
          <a:solidFill>
            <a:schemeClr val="accent5"/>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38" name="Text 34"/>
          <p:cNvSpPr txBox="1"/>
          <p:nvPr/>
        </p:nvSpPr>
        <p:spPr>
          <a:xfrm>
            <a:off x="9445752" y="3410712"/>
            <a:ext cx="2075688" cy="411480"/>
          </a:xfrm>
          <a:prstGeom prst="rect">
            <a:avLst/>
          </a:prstGeom>
          <a:noFill/>
          <a:ln/>
        </p:spPr>
        <p:txBody>
          <a:bodyPr wrap="square" lIns="0" tIns="0" rIns="0" bIns="0" rtlCol="0" anchor="t"/>
          <a:lstStyle/>
          <a:p>
            <a:pPr indent="0" marL="0">
              <a:buNone/>
            </a:pPr>
            <a:r>
              <a:rPr lang="en-US" sz="1200" b="1" dirty="0">
                <a:solidFill>
                  <a:schemeClr val="tx2"/>
                </a:solidFill>
              </a:rPr>
              <a:t>Make in India</a:t>
            </a:r>
            <a:endParaRPr lang="en-US" sz="1200" dirty="0"/>
          </a:p>
          <a:p>
            <a:pPr indent="0" marL="0">
              <a:buNone/>
            </a:pPr>
            <a:r>
              <a:rPr lang="en-US" sz="950" b="1" dirty="0">
                <a:solidFill>
                  <a:schemeClr val="accent1"/>
                </a:solidFill>
              </a:rPr>
              <a:t>Order 2017</a:t>
            </a:r>
            <a:endParaRPr lang="en-US" sz="1200" dirty="0"/>
          </a:p>
        </p:txBody>
      </p:sp>
      <p:sp>
        <p:nvSpPr>
          <p:cNvPr id="39" name="Text 35"/>
          <p:cNvSpPr txBox="1"/>
          <p:nvPr/>
        </p:nvSpPr>
        <p:spPr>
          <a:xfrm>
            <a:off x="9445752" y="3840480"/>
            <a:ext cx="2093976" cy="804672"/>
          </a:xfrm>
          <a:prstGeom prst="rect">
            <a:avLst/>
          </a:prstGeom>
          <a:noFill/>
          <a:ln/>
        </p:spPr>
        <p:txBody>
          <a:bodyPr wrap="square" lIns="0" tIns="0" rIns="0" bIns="0" rtlCol="0" anchor="t"/>
          <a:lstStyle/>
          <a:p>
            <a:pPr indent="0" marL="0">
              <a:buNone/>
            </a:pPr>
            <a:r>
              <a:rPr lang="en-US" sz="950" dirty="0">
                <a:solidFill>
                  <a:schemeClr val="tx1"/>
                </a:solidFill>
              </a:rPr>
              <a:t>Class-I local supplier: ≥50% local content (Class-II ≥20%); 20% purchase preference. No global tender up to ₹200 crore (Rule 161(iv)).</a:t>
            </a:r>
            <a:endParaRPr lang="en-US" sz="950" dirty="0"/>
          </a:p>
        </p:txBody>
      </p:sp>
      <p:sp>
        <p:nvSpPr>
          <p:cNvPr id="40" name="MSEs and startups"/>
          <p:cNvSpPr/>
          <p:nvPr/>
        </p:nvSpPr>
        <p:spPr>
          <a:xfrm>
            <a:off x="6858000" y="4800600"/>
            <a:ext cx="2331720" cy="1353312"/>
          </a:xfrm>
          <a:prstGeom prst="roundRect">
            <a:avLst>
              <a:gd name="adj" fmla="val 6757"/>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41" name="Text 37"/>
          <p:cNvSpPr txBox="1"/>
          <p:nvPr/>
        </p:nvSpPr>
        <p:spPr>
          <a:xfrm>
            <a:off x="6995160" y="4873752"/>
            <a:ext cx="2075688" cy="411480"/>
          </a:xfrm>
          <a:prstGeom prst="rect">
            <a:avLst/>
          </a:prstGeom>
          <a:noFill/>
          <a:ln/>
        </p:spPr>
        <p:txBody>
          <a:bodyPr wrap="square" lIns="0" tIns="0" rIns="0" bIns="0" rtlCol="0" anchor="t"/>
          <a:lstStyle/>
          <a:p>
            <a:pPr indent="0" marL="0">
              <a:buNone/>
            </a:pPr>
            <a:r>
              <a:rPr lang="en-US" sz="1200" b="1" dirty="0">
                <a:solidFill>
                  <a:schemeClr val="tx2"/>
                </a:solidFill>
              </a:rPr>
              <a:t>MSEs and startups</a:t>
            </a:r>
            <a:endParaRPr lang="en-US" sz="1200" dirty="0"/>
          </a:p>
          <a:p>
            <a:pPr indent="0" marL="0">
              <a:buNone/>
            </a:pPr>
            <a:r>
              <a:rPr lang="en-US" sz="950" b="1" dirty="0">
                <a:solidFill>
                  <a:schemeClr val="accent1"/>
                </a:solidFill>
              </a:rPr>
              <a:t>Order 2012</a:t>
            </a:r>
            <a:endParaRPr lang="en-US" sz="1200" dirty="0"/>
          </a:p>
        </p:txBody>
      </p:sp>
      <p:sp>
        <p:nvSpPr>
          <p:cNvPr id="42" name="Text 38"/>
          <p:cNvSpPr txBox="1"/>
          <p:nvPr/>
        </p:nvSpPr>
        <p:spPr>
          <a:xfrm>
            <a:off x="6995160" y="5303520"/>
            <a:ext cx="2093976" cy="804672"/>
          </a:xfrm>
          <a:prstGeom prst="rect">
            <a:avLst/>
          </a:prstGeom>
          <a:noFill/>
          <a:ln/>
        </p:spPr>
        <p:txBody>
          <a:bodyPr wrap="square" lIns="0" tIns="0" rIns="0" bIns="0" rtlCol="0" anchor="t"/>
          <a:lstStyle/>
          <a:p>
            <a:pPr indent="0" marL="0">
              <a:buNone/>
            </a:pPr>
            <a:r>
              <a:rPr lang="en-US" sz="950" dirty="0">
                <a:solidFill>
                  <a:schemeClr val="tx1"/>
                </a:solidFill>
              </a:rPr>
              <a:t>25% annual target, incl. 4% Scheduled Caste/Scheduled Tribe-owned and 3% women-owned. MSEs within lowest bid (L1) + 15% may supply 25% at L1. Startups: relaxed turnover and experience.</a:t>
            </a:r>
            <a:endParaRPr lang="en-US" sz="950" dirty="0"/>
          </a:p>
        </p:txBody>
      </p:sp>
      <p:sp>
        <p:nvSpPr>
          <p:cNvPr id="43" name="Land border and integrity"/>
          <p:cNvSpPr/>
          <p:nvPr/>
        </p:nvSpPr>
        <p:spPr>
          <a:xfrm>
            <a:off x="9308592" y="4800600"/>
            <a:ext cx="2331720" cy="1353312"/>
          </a:xfrm>
          <a:prstGeom prst="roundRect">
            <a:avLst>
              <a:gd name="adj" fmla="val 6757"/>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44" name="Text 40"/>
          <p:cNvSpPr txBox="1"/>
          <p:nvPr/>
        </p:nvSpPr>
        <p:spPr>
          <a:xfrm>
            <a:off x="9445752" y="4873752"/>
            <a:ext cx="2075688" cy="411480"/>
          </a:xfrm>
          <a:prstGeom prst="rect">
            <a:avLst/>
          </a:prstGeom>
          <a:noFill/>
          <a:ln/>
        </p:spPr>
        <p:txBody>
          <a:bodyPr wrap="square" lIns="0" tIns="0" rIns="0" bIns="0" rtlCol="0" anchor="t"/>
          <a:lstStyle/>
          <a:p>
            <a:pPr indent="0" marL="0">
              <a:buNone/>
            </a:pPr>
            <a:r>
              <a:rPr lang="en-US" sz="1200" b="1" dirty="0">
                <a:solidFill>
                  <a:schemeClr val="tx2"/>
                </a:solidFill>
              </a:rPr>
              <a:t>Land border and integrity</a:t>
            </a:r>
            <a:endParaRPr lang="en-US" sz="1200" dirty="0"/>
          </a:p>
          <a:p>
            <a:pPr indent="0" marL="0">
              <a:buNone/>
            </a:pPr>
            <a:r>
              <a:rPr lang="en-US" sz="950" b="1" dirty="0">
                <a:solidFill>
                  <a:schemeClr val="accent1"/>
                </a:solidFill>
              </a:rPr>
              <a:t>Rules 144(xi), 151, 175</a:t>
            </a:r>
            <a:endParaRPr lang="en-US" sz="1200" dirty="0"/>
          </a:p>
        </p:txBody>
      </p:sp>
      <p:sp>
        <p:nvSpPr>
          <p:cNvPr id="45" name="Text 41"/>
          <p:cNvSpPr txBox="1"/>
          <p:nvPr/>
        </p:nvSpPr>
        <p:spPr>
          <a:xfrm>
            <a:off x="9445752" y="5303520"/>
            <a:ext cx="2093976" cy="804672"/>
          </a:xfrm>
          <a:prstGeom prst="rect">
            <a:avLst/>
          </a:prstGeom>
          <a:noFill/>
          <a:ln/>
        </p:spPr>
        <p:txBody>
          <a:bodyPr wrap="square" lIns="0" tIns="0" rIns="0" bIns="0" rtlCol="0" anchor="t"/>
          <a:lstStyle/>
          <a:p>
            <a:pPr indent="0" marL="0">
              <a:buNone/>
            </a:pPr>
            <a:r>
              <a:rPr lang="en-US" sz="950" dirty="0">
                <a:solidFill>
                  <a:schemeClr val="tx1"/>
                </a:solidFill>
              </a:rPr>
              <a:t>Land-border bidders register with a Department for Promotion of Industry and Internal Trade committee. Code of Integrity; debarment.</a:t>
            </a:r>
            <a:endParaRPr lang="en-US" sz="950" dirty="0"/>
          </a:p>
        </p:txBody>
      </p:sp>
      <p:sp>
        <p:nvSpPr>
          <p:cNvPr id="25" name="Slide Number Placeholder 0"/>
          <p:cNvSpPr>
            <a:spLocks noGrp="1"/>
          </p:cNvSpPr>
          <p:nvPr>
            <p:ph type="sldNum" sz="quarter" idx="4294967295"/>
          </p:nvPr>
        </p:nvSpPr>
        <p:spPr>
          <a:xfrm>
            <a:off x="11183112"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body" hasCustomPrompt="1"/>
          </p:nvPr>
        </p:nvSpPr>
        <p:spPr>
          <a:xfrm>
            <a:off x="886968" y="283464"/>
            <a:ext cx="1069848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PART 2  ·  HOW GeM AND PUBLIC PROCUREMENT STARTED</a:t>
            </a:r>
            <a:endParaRPr lang="en-US" sz="1100" dirty="0"/>
          </a:p>
        </p:txBody>
      </p:sp>
      <p:sp>
        <p:nvSpPr>
          <p:cNvPr id="3" name="Text 0"/>
          <p:cNvSpPr/>
          <p:nvPr>
            <p:ph idx="102" type="title" hasCustomPrompt="1"/>
          </p:nvPr>
        </p:nvSpPr>
        <p:spPr>
          <a:xfrm>
            <a:off x="548640" y="603504"/>
            <a:ext cx="11064240" cy="603504"/>
          </a:xfrm>
          <a:prstGeom prst="rect">
            <a:avLst/>
          </a:prstGeom>
          <a:noFill/>
          <a:ln/>
        </p:spPr>
        <p:txBody>
          <a:bodyPr wrap="square" lIns="0" tIns="0" rIns="0" bIns="0" rtlCol="0" anchor="ctr"/>
          <a:lstStyle/>
          <a:p>
            <a:pPr algn="l" indent="0" marL="0">
              <a:buNone/>
            </a:pPr>
            <a:r>
              <a:rPr lang="en-US" sz="3000" b="1" dirty="0">
                <a:solidFill>
                  <a:schemeClr val="tx2"/>
                </a:solidFill>
              </a:rPr>
              <a:t>From central stores to an online marketplace</a:t>
            </a:r>
            <a:endParaRPr lang="en-US" sz="3000" dirty="0"/>
          </a:p>
        </p:txBody>
      </p:sp>
      <p:sp>
        <p:nvSpPr>
          <p:cNvPr id="4" name="Text 0"/>
          <p:cNvSpPr/>
          <p:nvPr>
            <p:ph idx="103" type="body" hasCustomPrompt="1"/>
          </p:nvPr>
        </p:nvSpPr>
        <p:spPr>
          <a:xfrm>
            <a:off x="548640" y="6291072"/>
            <a:ext cx="10424160" cy="411480"/>
          </a:xfrm>
          <a:prstGeom prst="rect">
            <a:avLst/>
          </a:prstGeom>
          <a:noFill/>
          <a:ln/>
        </p:spPr>
        <p:txBody>
          <a:bodyPr wrap="square" lIns="0" tIns="0" rIns="0" bIns="0" rtlCol="0" anchor="t"/>
          <a:lstStyle/>
          <a:p>
            <a:pPr indent="0" marL="0">
              <a:buNone/>
            </a:pPr>
            <a:r>
              <a:rPr lang="en-US" sz="950" dirty="0">
                <a:solidFill>
                  <a:schemeClr val="accent6"/>
                </a:solidFill>
              </a:rPr>
              <a:t>Sources: PIB release on GFR 2017, 7 Mar 2017; CAG Report No. 18 of 2020; GFR 2017, Rules 147, 149, 150, 159; DoE OMs of 4 Feb 2019, 23 Jan 2020, 5 Feb 2020 and 11 Jun 2021; Goods Manual 2024, paras 4.17.2, 5.1.1; Goods Manual June 2022 (2017 foreword); Constitution, Art. 107(5). † Secondary (GKToday; PRS Legislative Research).</a:t>
            </a:r>
            <a:endParaRPr lang="en-US" sz="950" dirty="0"/>
          </a:p>
        </p:txBody>
      </p:sp>
      <p:sp>
        <p:nvSpPr>
          <p:cNvPr id="6" name="Text 3"/>
          <p:cNvSpPr txBox="1"/>
          <p:nvPr/>
        </p:nvSpPr>
        <p:spPr>
          <a:xfrm>
            <a:off x="548640" y="1353312"/>
            <a:ext cx="521208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THEN — HOW CENTRAL BUYING AND ITS RULES EVOLVED</a:t>
            </a:r>
            <a:endParaRPr lang="en-US" sz="1100" dirty="0"/>
          </a:p>
        </p:txBody>
      </p:sp>
      <p:sp>
        <p:nvSpPr>
          <p:cNvPr id="7" name="Then axis"/>
          <p:cNvSpPr/>
          <p:nvPr/>
        </p:nvSpPr>
        <p:spPr>
          <a:xfrm>
            <a:off x="749808" y="1920240"/>
            <a:ext cx="0" cy="3744468"/>
          </a:xfrm>
          <a:prstGeom prst="line">
            <a:avLst/>
          </a:prstGeom>
          <a:noFill/>
          <a:ln w="25400">
            <a:solidFill>
              <a:schemeClr val="accent3"/>
            </a:solidFill>
            <a:prstDash val="solid"/>
          </a:ln>
        </p:spPr>
      </p:sp>
      <p:sp>
        <p:nvSpPr>
          <p:cNvPr id="8" name="Then marker 1"/>
          <p:cNvSpPr/>
          <p:nvPr/>
        </p:nvSpPr>
        <p:spPr>
          <a:xfrm>
            <a:off x="658368" y="1828800"/>
            <a:ext cx="182880" cy="182880"/>
          </a:xfrm>
          <a:prstGeom prst="diamond">
            <a:avLst/>
          </a:prstGeom>
          <a:solidFill>
            <a:schemeClr val="accent2"/>
          </a:solidFill>
          <a:ln w="12700">
            <a:solidFill>
              <a:schemeClr val="bg1"/>
            </a:solidFill>
            <a:prstDash val="solid"/>
          </a:ln>
        </p:spPr>
      </p:sp>
      <p:sp>
        <p:nvSpPr>
          <p:cNvPr id="9" name="Text 6"/>
          <p:cNvSpPr txBox="1"/>
          <p:nvPr/>
        </p:nvSpPr>
        <p:spPr>
          <a:xfrm>
            <a:off x="987552" y="1810512"/>
            <a:ext cx="1143000" cy="274320"/>
          </a:xfrm>
          <a:prstGeom prst="rect">
            <a:avLst/>
          </a:prstGeom>
          <a:noFill/>
          <a:ln/>
        </p:spPr>
        <p:txBody>
          <a:bodyPr wrap="square" lIns="0" tIns="0" rIns="0" bIns="0" rtlCol="0" anchor="t"/>
          <a:lstStyle/>
          <a:p>
            <a:pPr indent="0" marL="0">
              <a:buNone/>
            </a:pPr>
            <a:r>
              <a:rPr lang="en-US" sz="1150" b="1" dirty="0">
                <a:solidFill>
                  <a:schemeClr val="tx2"/>
                </a:solidFill>
              </a:rPr>
              <a:t>1860 †</a:t>
            </a:r>
            <a:endParaRPr lang="en-US" sz="1150" dirty="0"/>
          </a:p>
        </p:txBody>
      </p:sp>
      <p:sp>
        <p:nvSpPr>
          <p:cNvPr id="10" name="Text 7"/>
          <p:cNvSpPr txBox="1"/>
          <p:nvPr/>
        </p:nvSpPr>
        <p:spPr>
          <a:xfrm>
            <a:off x="2167128" y="1810512"/>
            <a:ext cx="3611880" cy="475488"/>
          </a:xfrm>
          <a:prstGeom prst="rect">
            <a:avLst/>
          </a:prstGeom>
          <a:noFill/>
          <a:ln/>
        </p:spPr>
        <p:txBody>
          <a:bodyPr wrap="square" lIns="0" tIns="0" rIns="0" bIns="0" rtlCol="0" anchor="t"/>
          <a:lstStyle/>
          <a:p>
            <a:pPr indent="0" marL="0">
              <a:buNone/>
            </a:pPr>
            <a:r>
              <a:rPr lang="en-US" sz="1100" dirty="0">
                <a:solidFill>
                  <a:schemeClr val="tx1"/>
                </a:solidFill>
              </a:rPr>
              <a:t>India Store Department, London, buys centrally for India</a:t>
            </a:r>
            <a:endParaRPr lang="en-US" sz="1100" dirty="0"/>
          </a:p>
        </p:txBody>
      </p:sp>
      <p:sp>
        <p:nvSpPr>
          <p:cNvPr id="11" name="Then marker 2"/>
          <p:cNvSpPr/>
          <p:nvPr/>
        </p:nvSpPr>
        <p:spPr>
          <a:xfrm>
            <a:off x="658368" y="2363724"/>
            <a:ext cx="182880" cy="182880"/>
          </a:xfrm>
          <a:prstGeom prst="diamond">
            <a:avLst/>
          </a:prstGeom>
          <a:solidFill>
            <a:schemeClr val="accent2"/>
          </a:solidFill>
          <a:ln w="12700">
            <a:solidFill>
              <a:schemeClr val="bg1"/>
            </a:solidFill>
            <a:prstDash val="solid"/>
          </a:ln>
        </p:spPr>
      </p:sp>
      <p:sp>
        <p:nvSpPr>
          <p:cNvPr id="12" name="Text 9"/>
          <p:cNvSpPr txBox="1"/>
          <p:nvPr/>
        </p:nvSpPr>
        <p:spPr>
          <a:xfrm>
            <a:off x="987552" y="2345436"/>
            <a:ext cx="1143000" cy="274320"/>
          </a:xfrm>
          <a:prstGeom prst="rect">
            <a:avLst/>
          </a:prstGeom>
          <a:noFill/>
          <a:ln/>
        </p:spPr>
        <p:txBody>
          <a:bodyPr wrap="square" lIns="0" tIns="0" rIns="0" bIns="0" rtlCol="0" anchor="t"/>
          <a:lstStyle/>
          <a:p>
            <a:pPr indent="0" marL="0">
              <a:buNone/>
            </a:pPr>
            <a:r>
              <a:rPr lang="en-US" sz="1150" b="1" dirty="0">
                <a:solidFill>
                  <a:schemeClr val="tx2"/>
                </a:solidFill>
              </a:rPr>
              <a:t>1922 †</a:t>
            </a:r>
            <a:endParaRPr lang="en-US" sz="1150" dirty="0"/>
          </a:p>
        </p:txBody>
      </p:sp>
      <p:sp>
        <p:nvSpPr>
          <p:cNvPr id="13" name="Text 10"/>
          <p:cNvSpPr txBox="1"/>
          <p:nvPr/>
        </p:nvSpPr>
        <p:spPr>
          <a:xfrm>
            <a:off x="2167128" y="2345436"/>
            <a:ext cx="3611880" cy="475488"/>
          </a:xfrm>
          <a:prstGeom prst="rect">
            <a:avLst/>
          </a:prstGeom>
          <a:noFill/>
          <a:ln/>
        </p:spPr>
        <p:txBody>
          <a:bodyPr wrap="square" lIns="0" tIns="0" rIns="0" bIns="0" rtlCol="0" anchor="t"/>
          <a:lstStyle/>
          <a:p>
            <a:pPr indent="0" marL="0">
              <a:buNone/>
            </a:pPr>
            <a:r>
              <a:rPr lang="en-US" sz="1100" dirty="0">
                <a:solidFill>
                  <a:schemeClr val="tx1"/>
                </a:solidFill>
              </a:rPr>
              <a:t>Indian Stores Department set up in India</a:t>
            </a:r>
            <a:endParaRPr lang="en-US" sz="1100" dirty="0"/>
          </a:p>
        </p:txBody>
      </p:sp>
      <p:sp>
        <p:nvSpPr>
          <p:cNvPr id="14" name="Then marker 3"/>
          <p:cNvSpPr/>
          <p:nvPr/>
        </p:nvSpPr>
        <p:spPr>
          <a:xfrm>
            <a:off x="658368" y="2898648"/>
            <a:ext cx="182880" cy="182880"/>
          </a:xfrm>
          <a:prstGeom prst="diamond">
            <a:avLst/>
          </a:prstGeom>
          <a:solidFill>
            <a:schemeClr val="accent2"/>
          </a:solidFill>
          <a:ln w="12700">
            <a:solidFill>
              <a:schemeClr val="bg1"/>
            </a:solidFill>
            <a:prstDash val="solid"/>
          </a:ln>
        </p:spPr>
      </p:sp>
      <p:sp>
        <p:nvSpPr>
          <p:cNvPr id="15" name="Text 12"/>
          <p:cNvSpPr txBox="1"/>
          <p:nvPr/>
        </p:nvSpPr>
        <p:spPr>
          <a:xfrm>
            <a:off x="987552" y="2880360"/>
            <a:ext cx="1143000" cy="274320"/>
          </a:xfrm>
          <a:prstGeom prst="rect">
            <a:avLst/>
          </a:prstGeom>
          <a:noFill/>
          <a:ln/>
        </p:spPr>
        <p:txBody>
          <a:bodyPr wrap="square" lIns="0" tIns="0" rIns="0" bIns="0" rtlCol="0" anchor="t"/>
          <a:lstStyle/>
          <a:p>
            <a:pPr indent="0" marL="0">
              <a:buNone/>
            </a:pPr>
            <a:r>
              <a:rPr lang="en-US" sz="1150" b="1" dirty="0">
                <a:solidFill>
                  <a:schemeClr val="tx2"/>
                </a:solidFill>
              </a:rPr>
              <a:t>1947</a:t>
            </a:r>
            <a:endParaRPr lang="en-US" sz="1150" dirty="0"/>
          </a:p>
        </p:txBody>
      </p:sp>
      <p:sp>
        <p:nvSpPr>
          <p:cNvPr id="16" name="Text 13"/>
          <p:cNvSpPr txBox="1"/>
          <p:nvPr/>
        </p:nvSpPr>
        <p:spPr>
          <a:xfrm>
            <a:off x="2167128" y="2880360"/>
            <a:ext cx="3611880" cy="475488"/>
          </a:xfrm>
          <a:prstGeom prst="rect">
            <a:avLst/>
          </a:prstGeom>
          <a:noFill/>
          <a:ln/>
        </p:spPr>
        <p:txBody>
          <a:bodyPr wrap="square" lIns="0" tIns="0" rIns="0" bIns="0" rtlCol="0" anchor="t"/>
          <a:lstStyle/>
          <a:p>
            <a:pPr indent="0" marL="0">
              <a:buNone/>
            </a:pPr>
            <a:r>
              <a:rPr lang="en-US" sz="1100" dirty="0">
                <a:solidFill>
                  <a:schemeClr val="tx1"/>
                </a:solidFill>
              </a:rPr>
              <a:t>First General Financial Rules bring financial orders into one place</a:t>
            </a:r>
            <a:endParaRPr lang="en-US" sz="1100" dirty="0"/>
          </a:p>
        </p:txBody>
      </p:sp>
      <p:sp>
        <p:nvSpPr>
          <p:cNvPr id="17" name="Then marker 4"/>
          <p:cNvSpPr/>
          <p:nvPr/>
        </p:nvSpPr>
        <p:spPr>
          <a:xfrm>
            <a:off x="658368" y="3433572"/>
            <a:ext cx="182880" cy="182880"/>
          </a:xfrm>
          <a:prstGeom prst="diamond">
            <a:avLst/>
          </a:prstGeom>
          <a:solidFill>
            <a:schemeClr val="accent2"/>
          </a:solidFill>
          <a:ln w="12700">
            <a:solidFill>
              <a:schemeClr val="bg1"/>
            </a:solidFill>
            <a:prstDash val="solid"/>
          </a:ln>
        </p:spPr>
      </p:sp>
      <p:sp>
        <p:nvSpPr>
          <p:cNvPr id="18" name="Text 15"/>
          <p:cNvSpPr txBox="1"/>
          <p:nvPr/>
        </p:nvSpPr>
        <p:spPr>
          <a:xfrm>
            <a:off x="987552" y="3415284"/>
            <a:ext cx="1143000" cy="274320"/>
          </a:xfrm>
          <a:prstGeom prst="rect">
            <a:avLst/>
          </a:prstGeom>
          <a:noFill/>
          <a:ln/>
        </p:spPr>
        <p:txBody>
          <a:bodyPr wrap="square" lIns="0" tIns="0" rIns="0" bIns="0" rtlCol="0" anchor="t"/>
          <a:lstStyle/>
          <a:p>
            <a:pPr indent="0" marL="0">
              <a:buNone/>
            </a:pPr>
            <a:r>
              <a:rPr lang="en-US" sz="1150" b="1" dirty="0">
                <a:solidFill>
                  <a:schemeClr val="tx2"/>
                </a:solidFill>
              </a:rPr>
              <a:t>1951</a:t>
            </a:r>
            <a:endParaRPr lang="en-US" sz="1150" dirty="0"/>
          </a:p>
        </p:txBody>
      </p:sp>
      <p:sp>
        <p:nvSpPr>
          <p:cNvPr id="19" name="Text 16"/>
          <p:cNvSpPr txBox="1"/>
          <p:nvPr/>
        </p:nvSpPr>
        <p:spPr>
          <a:xfrm>
            <a:off x="2167128" y="3415284"/>
            <a:ext cx="3611880" cy="475488"/>
          </a:xfrm>
          <a:prstGeom prst="rect">
            <a:avLst/>
          </a:prstGeom>
          <a:noFill/>
          <a:ln/>
        </p:spPr>
        <p:txBody>
          <a:bodyPr wrap="square" lIns="0" tIns="0" rIns="0" bIns="0" rtlCol="0" anchor="t"/>
          <a:lstStyle/>
          <a:p>
            <a:pPr indent="0" marL="0">
              <a:buNone/>
            </a:pPr>
            <a:r>
              <a:rPr lang="en-US" sz="1100" dirty="0">
                <a:solidFill>
                  <a:schemeClr val="tx1"/>
                </a:solidFill>
              </a:rPr>
              <a:t>DGS&amp;D becomes the Central Purchase Organisation</a:t>
            </a:r>
            <a:endParaRPr lang="en-US" sz="1100" dirty="0"/>
          </a:p>
        </p:txBody>
      </p:sp>
      <p:sp>
        <p:nvSpPr>
          <p:cNvPr id="20" name="Then marker 5"/>
          <p:cNvSpPr/>
          <p:nvPr/>
        </p:nvSpPr>
        <p:spPr>
          <a:xfrm>
            <a:off x="658368" y="3968496"/>
            <a:ext cx="182880" cy="182880"/>
          </a:xfrm>
          <a:prstGeom prst="diamond">
            <a:avLst/>
          </a:prstGeom>
          <a:solidFill>
            <a:schemeClr val="accent2"/>
          </a:solidFill>
          <a:ln w="12700">
            <a:solidFill>
              <a:schemeClr val="bg1"/>
            </a:solidFill>
            <a:prstDash val="solid"/>
          </a:ln>
        </p:spPr>
      </p:sp>
      <p:sp>
        <p:nvSpPr>
          <p:cNvPr id="21" name="Text 18"/>
          <p:cNvSpPr txBox="1"/>
          <p:nvPr/>
        </p:nvSpPr>
        <p:spPr>
          <a:xfrm>
            <a:off x="987552" y="3950208"/>
            <a:ext cx="1143000" cy="274320"/>
          </a:xfrm>
          <a:prstGeom prst="rect">
            <a:avLst/>
          </a:prstGeom>
          <a:noFill/>
          <a:ln/>
        </p:spPr>
        <p:txBody>
          <a:bodyPr wrap="square" lIns="0" tIns="0" rIns="0" bIns="0" rtlCol="0" anchor="t"/>
          <a:lstStyle/>
          <a:p>
            <a:pPr indent="0" marL="0">
              <a:buNone/>
            </a:pPr>
            <a:r>
              <a:rPr lang="en-US" sz="1150" b="1" dirty="0">
                <a:solidFill>
                  <a:schemeClr val="tx2"/>
                </a:solidFill>
              </a:rPr>
              <a:t>1963, 2005</a:t>
            </a:r>
            <a:endParaRPr lang="en-US" sz="1150" dirty="0"/>
          </a:p>
        </p:txBody>
      </p:sp>
      <p:sp>
        <p:nvSpPr>
          <p:cNvPr id="22" name="Text 19"/>
          <p:cNvSpPr txBox="1"/>
          <p:nvPr/>
        </p:nvSpPr>
        <p:spPr>
          <a:xfrm>
            <a:off x="2167128" y="3950208"/>
            <a:ext cx="3611880" cy="475488"/>
          </a:xfrm>
          <a:prstGeom prst="rect">
            <a:avLst/>
          </a:prstGeom>
          <a:noFill/>
          <a:ln/>
        </p:spPr>
        <p:txBody>
          <a:bodyPr wrap="square" lIns="0" tIns="0" rIns="0" bIns="0" rtlCol="0" anchor="t"/>
          <a:lstStyle/>
          <a:p>
            <a:pPr indent="0" marL="0">
              <a:buNone/>
            </a:pPr>
            <a:r>
              <a:rPr lang="en-US" sz="1100" dirty="0">
                <a:solidFill>
                  <a:schemeClr val="tx1"/>
                </a:solidFill>
              </a:rPr>
              <a:t>GFR reissued as GFR 1963 and GFR 2005</a:t>
            </a:r>
            <a:endParaRPr lang="en-US" sz="1100" dirty="0"/>
          </a:p>
        </p:txBody>
      </p:sp>
      <p:sp>
        <p:nvSpPr>
          <p:cNvPr id="23" name="Then marker 6"/>
          <p:cNvSpPr/>
          <p:nvPr/>
        </p:nvSpPr>
        <p:spPr>
          <a:xfrm>
            <a:off x="658368" y="4503420"/>
            <a:ext cx="182880" cy="182880"/>
          </a:xfrm>
          <a:prstGeom prst="diamond">
            <a:avLst/>
          </a:prstGeom>
          <a:solidFill>
            <a:schemeClr val="accent2"/>
          </a:solidFill>
          <a:ln w="12700">
            <a:solidFill>
              <a:schemeClr val="bg1"/>
            </a:solidFill>
            <a:prstDash val="solid"/>
          </a:ln>
        </p:spPr>
      </p:sp>
      <p:sp>
        <p:nvSpPr>
          <p:cNvPr id="24" name="Text 21"/>
          <p:cNvSpPr txBox="1"/>
          <p:nvPr/>
        </p:nvSpPr>
        <p:spPr>
          <a:xfrm>
            <a:off x="987552" y="4485132"/>
            <a:ext cx="1143000" cy="274320"/>
          </a:xfrm>
          <a:prstGeom prst="rect">
            <a:avLst/>
          </a:prstGeom>
          <a:noFill/>
          <a:ln/>
        </p:spPr>
        <p:txBody>
          <a:bodyPr wrap="square" lIns="0" tIns="0" rIns="0" bIns="0" rtlCol="0" anchor="t"/>
          <a:lstStyle/>
          <a:p>
            <a:pPr indent="0" marL="0">
              <a:buNone/>
            </a:pPr>
            <a:r>
              <a:rPr lang="en-US" sz="1150" b="1" dirty="0">
                <a:solidFill>
                  <a:schemeClr val="tx2"/>
                </a:solidFill>
              </a:rPr>
              <a:t>2006</a:t>
            </a:r>
            <a:endParaRPr lang="en-US" sz="1150" dirty="0"/>
          </a:p>
        </p:txBody>
      </p:sp>
      <p:sp>
        <p:nvSpPr>
          <p:cNvPr id="25" name="Text 22"/>
          <p:cNvSpPr txBox="1"/>
          <p:nvPr/>
        </p:nvSpPr>
        <p:spPr>
          <a:xfrm>
            <a:off x="2167128" y="4485132"/>
            <a:ext cx="3611880" cy="475488"/>
          </a:xfrm>
          <a:prstGeom prst="rect">
            <a:avLst/>
          </a:prstGeom>
          <a:noFill/>
          <a:ln/>
        </p:spPr>
        <p:txBody>
          <a:bodyPr wrap="square" lIns="0" tIns="0" rIns="0" bIns="0" rtlCol="0" anchor="t"/>
          <a:lstStyle/>
          <a:p>
            <a:pPr indent="0" marL="0">
              <a:buNone/>
            </a:pPr>
            <a:r>
              <a:rPr lang="en-US" sz="1100" dirty="0">
                <a:solidFill>
                  <a:schemeClr val="tx1"/>
                </a:solidFill>
              </a:rPr>
              <a:t>First MoF procurement manuals: Goods, Works, Consultants</a:t>
            </a:r>
            <a:endParaRPr lang="en-US" sz="1100" dirty="0"/>
          </a:p>
        </p:txBody>
      </p:sp>
      <p:sp>
        <p:nvSpPr>
          <p:cNvPr id="26" name="Then marker 7"/>
          <p:cNvSpPr/>
          <p:nvPr/>
        </p:nvSpPr>
        <p:spPr>
          <a:xfrm>
            <a:off x="658368" y="5038344"/>
            <a:ext cx="182880" cy="182880"/>
          </a:xfrm>
          <a:prstGeom prst="diamond">
            <a:avLst/>
          </a:prstGeom>
          <a:solidFill>
            <a:schemeClr val="accent2"/>
          </a:solidFill>
          <a:ln w="12700">
            <a:solidFill>
              <a:schemeClr val="bg1"/>
            </a:solidFill>
            <a:prstDash val="solid"/>
          </a:ln>
        </p:spPr>
      </p:sp>
      <p:sp>
        <p:nvSpPr>
          <p:cNvPr id="27" name="Text 24"/>
          <p:cNvSpPr txBox="1"/>
          <p:nvPr/>
        </p:nvSpPr>
        <p:spPr>
          <a:xfrm>
            <a:off x="987552" y="5020056"/>
            <a:ext cx="1143000" cy="274320"/>
          </a:xfrm>
          <a:prstGeom prst="rect">
            <a:avLst/>
          </a:prstGeom>
          <a:noFill/>
          <a:ln/>
        </p:spPr>
        <p:txBody>
          <a:bodyPr wrap="square" lIns="0" tIns="0" rIns="0" bIns="0" rtlCol="0" anchor="t"/>
          <a:lstStyle/>
          <a:p>
            <a:pPr indent="0" marL="0">
              <a:buNone/>
            </a:pPr>
            <a:r>
              <a:rPr lang="en-US" sz="1150" b="1" dirty="0">
                <a:solidFill>
                  <a:schemeClr val="tx2"/>
                </a:solidFill>
              </a:rPr>
              <a:t>14 May 2012</a:t>
            </a:r>
            <a:endParaRPr lang="en-US" sz="1150" dirty="0"/>
          </a:p>
        </p:txBody>
      </p:sp>
      <p:sp>
        <p:nvSpPr>
          <p:cNvPr id="28" name="Text 25"/>
          <p:cNvSpPr txBox="1"/>
          <p:nvPr/>
        </p:nvSpPr>
        <p:spPr>
          <a:xfrm>
            <a:off x="2167128" y="5020056"/>
            <a:ext cx="3611880" cy="475488"/>
          </a:xfrm>
          <a:prstGeom prst="rect">
            <a:avLst/>
          </a:prstGeom>
          <a:noFill/>
          <a:ln/>
        </p:spPr>
        <p:txBody>
          <a:bodyPr wrap="square" lIns="0" tIns="0" rIns="0" bIns="0" rtlCol="0" anchor="t"/>
          <a:lstStyle/>
          <a:p>
            <a:pPr indent="0" marL="0">
              <a:buNone/>
            </a:pPr>
            <a:r>
              <a:rPr lang="en-US" sz="1100" dirty="0">
                <a:solidFill>
                  <a:schemeClr val="tx1"/>
                </a:solidFill>
              </a:rPr>
              <a:t>Public Procurement Bill introduced; lapsed with the Lok Sabha in 2014 †</a:t>
            </a:r>
            <a:endParaRPr lang="en-US" sz="1100" dirty="0"/>
          </a:p>
        </p:txBody>
      </p:sp>
      <p:sp>
        <p:nvSpPr>
          <p:cNvPr id="29" name="Then marker 8"/>
          <p:cNvSpPr/>
          <p:nvPr/>
        </p:nvSpPr>
        <p:spPr>
          <a:xfrm>
            <a:off x="658368" y="5573268"/>
            <a:ext cx="182880" cy="182880"/>
          </a:xfrm>
          <a:prstGeom prst="diamond">
            <a:avLst/>
          </a:prstGeom>
          <a:solidFill>
            <a:schemeClr val="accent1"/>
          </a:solidFill>
          <a:ln w="12700">
            <a:solidFill>
              <a:schemeClr val="bg1"/>
            </a:solidFill>
            <a:prstDash val="solid"/>
          </a:ln>
        </p:spPr>
      </p:sp>
      <p:sp>
        <p:nvSpPr>
          <p:cNvPr id="30" name="Text 27"/>
          <p:cNvSpPr txBox="1"/>
          <p:nvPr/>
        </p:nvSpPr>
        <p:spPr>
          <a:xfrm>
            <a:off x="987552" y="5554980"/>
            <a:ext cx="1143000" cy="274320"/>
          </a:xfrm>
          <a:prstGeom prst="rect">
            <a:avLst/>
          </a:prstGeom>
          <a:noFill/>
          <a:ln/>
        </p:spPr>
        <p:txBody>
          <a:bodyPr wrap="square" lIns="0" tIns="0" rIns="0" bIns="0" rtlCol="0" anchor="t"/>
          <a:lstStyle/>
          <a:p>
            <a:pPr indent="0" marL="0">
              <a:buNone/>
            </a:pPr>
            <a:r>
              <a:rPr lang="en-US" sz="1150" b="1" dirty="0">
                <a:solidFill>
                  <a:schemeClr val="accent1"/>
                </a:solidFill>
              </a:rPr>
              <a:t>7 Mar 2017</a:t>
            </a:r>
            <a:endParaRPr lang="en-US" sz="1150" dirty="0"/>
          </a:p>
        </p:txBody>
      </p:sp>
      <p:sp>
        <p:nvSpPr>
          <p:cNvPr id="31" name="Text 28"/>
          <p:cNvSpPr txBox="1"/>
          <p:nvPr/>
        </p:nvSpPr>
        <p:spPr>
          <a:xfrm>
            <a:off x="2167128" y="5554980"/>
            <a:ext cx="3611880" cy="475488"/>
          </a:xfrm>
          <a:prstGeom prst="rect">
            <a:avLst/>
          </a:prstGeom>
          <a:noFill/>
          <a:ln/>
        </p:spPr>
        <p:txBody>
          <a:bodyPr wrap="square" lIns="0" tIns="0" rIns="0" bIns="0" rtlCol="0" anchor="t"/>
          <a:lstStyle/>
          <a:p>
            <a:pPr indent="0" marL="0">
              <a:buNone/>
            </a:pPr>
            <a:r>
              <a:rPr lang="en-US" sz="1100" dirty="0">
                <a:solidFill>
                  <a:schemeClr val="tx1"/>
                </a:solidFill>
              </a:rPr>
              <a:t>GFR 2017 released, reflecting the CPPP and GeM</a:t>
            </a:r>
            <a:endParaRPr lang="en-US" sz="1100" dirty="0"/>
          </a:p>
        </p:txBody>
      </p:sp>
      <p:sp>
        <p:nvSpPr>
          <p:cNvPr id="32" name="Text 29"/>
          <p:cNvSpPr txBox="1"/>
          <p:nvPr/>
        </p:nvSpPr>
        <p:spPr>
          <a:xfrm>
            <a:off x="5989320" y="1353312"/>
            <a:ext cx="557784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NOW — HOW GeM IS WRITTEN INTO THE RULES</a:t>
            </a:r>
            <a:endParaRPr lang="en-US" sz="1100" dirty="0"/>
          </a:p>
        </p:txBody>
      </p:sp>
      <p:sp>
        <p:nvSpPr>
          <p:cNvPr id="33" name="Rule card 1"/>
          <p:cNvSpPr/>
          <p:nvPr/>
        </p:nvSpPr>
        <p:spPr>
          <a:xfrm>
            <a:off x="5989320" y="1755648"/>
            <a:ext cx="5650992" cy="530352"/>
          </a:xfrm>
          <a:prstGeom prst="roundRect">
            <a:avLst>
              <a:gd name="adj" fmla="val 17241"/>
            </a:avLst>
          </a:prstGeom>
          <a:solidFill>
            <a:schemeClr val="accent5"/>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34" name="Text 31"/>
          <p:cNvSpPr txBox="1"/>
          <p:nvPr/>
        </p:nvSpPr>
        <p:spPr>
          <a:xfrm>
            <a:off x="6144768" y="1755648"/>
            <a:ext cx="1600200" cy="530352"/>
          </a:xfrm>
          <a:prstGeom prst="rect">
            <a:avLst/>
          </a:prstGeom>
          <a:noFill/>
          <a:ln/>
        </p:spPr>
        <p:txBody>
          <a:bodyPr wrap="square" lIns="0" tIns="0" rIns="0" bIns="0" rtlCol="0" anchor="ctr"/>
          <a:lstStyle/>
          <a:p>
            <a:pPr indent="0" marL="0">
              <a:buNone/>
            </a:pPr>
            <a:r>
              <a:rPr lang="en-US" sz="1150" b="1" dirty="0">
                <a:solidFill>
                  <a:schemeClr val="accent1"/>
                </a:solidFill>
              </a:rPr>
              <a:t>Rule 147</a:t>
            </a:r>
            <a:endParaRPr lang="en-US" sz="1150" dirty="0"/>
          </a:p>
        </p:txBody>
      </p:sp>
      <p:sp>
        <p:nvSpPr>
          <p:cNvPr id="35" name="Text 32"/>
          <p:cNvSpPr txBox="1"/>
          <p:nvPr/>
        </p:nvSpPr>
        <p:spPr>
          <a:xfrm>
            <a:off x="7790688" y="1755648"/>
            <a:ext cx="3730752" cy="530352"/>
          </a:xfrm>
          <a:prstGeom prst="rect">
            <a:avLst/>
          </a:prstGeom>
          <a:noFill/>
          <a:ln/>
        </p:spPr>
        <p:txBody>
          <a:bodyPr wrap="square" lIns="0" tIns="0" rIns="0" bIns="0" rtlCol="0" anchor="ctr"/>
          <a:lstStyle/>
          <a:p>
            <a:pPr indent="0" marL="0">
              <a:buNone/>
            </a:pPr>
            <a:r>
              <a:rPr lang="en-US" sz="1050" dirty="0">
                <a:solidFill>
                  <a:schemeClr val="tx1"/>
                </a:solidFill>
              </a:rPr>
              <a:t>Full purchasing powers only for goods and services not on GeM</a:t>
            </a:r>
            <a:endParaRPr lang="en-US" sz="1050" dirty="0"/>
          </a:p>
        </p:txBody>
      </p:sp>
      <p:sp>
        <p:nvSpPr>
          <p:cNvPr id="36" name="Rule card 2"/>
          <p:cNvSpPr/>
          <p:nvPr/>
        </p:nvSpPr>
        <p:spPr>
          <a:xfrm>
            <a:off x="5989320" y="2350008"/>
            <a:ext cx="5650992" cy="530352"/>
          </a:xfrm>
          <a:prstGeom prst="roundRect">
            <a:avLst>
              <a:gd name="adj" fmla="val 17241"/>
            </a:avLst>
          </a:prstGeom>
          <a:solidFill>
            <a:schemeClr val="accent5"/>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37" name="Text 34"/>
          <p:cNvSpPr txBox="1"/>
          <p:nvPr/>
        </p:nvSpPr>
        <p:spPr>
          <a:xfrm>
            <a:off x="6144768" y="2350008"/>
            <a:ext cx="1600200" cy="530352"/>
          </a:xfrm>
          <a:prstGeom prst="rect">
            <a:avLst/>
          </a:prstGeom>
          <a:noFill/>
          <a:ln/>
        </p:spPr>
        <p:txBody>
          <a:bodyPr wrap="square" lIns="0" tIns="0" rIns="0" bIns="0" rtlCol="0" anchor="ctr"/>
          <a:lstStyle/>
          <a:p>
            <a:pPr indent="0" marL="0">
              <a:buNone/>
            </a:pPr>
            <a:r>
              <a:rPr lang="en-US" sz="1150" b="1" dirty="0">
                <a:solidFill>
                  <a:schemeClr val="accent1"/>
                </a:solidFill>
              </a:rPr>
              <a:t>Rule 149</a:t>
            </a:r>
            <a:endParaRPr lang="en-US" sz="1150" dirty="0"/>
          </a:p>
        </p:txBody>
      </p:sp>
      <p:sp>
        <p:nvSpPr>
          <p:cNvPr id="38" name="Text 35"/>
          <p:cNvSpPr txBox="1"/>
          <p:nvPr/>
        </p:nvSpPr>
        <p:spPr>
          <a:xfrm>
            <a:off x="7790688" y="2350008"/>
            <a:ext cx="3730752" cy="530352"/>
          </a:xfrm>
          <a:prstGeom prst="rect">
            <a:avLst/>
          </a:prstGeom>
          <a:noFill/>
          <a:ln/>
        </p:spPr>
        <p:txBody>
          <a:bodyPr wrap="square" lIns="0" tIns="0" rIns="0" bIns="0" rtlCol="0" anchor="ctr"/>
          <a:lstStyle/>
          <a:p>
            <a:pPr indent="0" marL="0">
              <a:buNone/>
            </a:pPr>
            <a:r>
              <a:rPr lang="en-US" sz="1050" dirty="0">
                <a:solidFill>
                  <a:schemeClr val="tx1"/>
                </a:solidFill>
              </a:rPr>
              <a:t>Common-use goods and services available on GeM must be bought on GeM</a:t>
            </a:r>
            <a:endParaRPr lang="en-US" sz="1050" dirty="0"/>
          </a:p>
        </p:txBody>
      </p:sp>
      <p:sp>
        <p:nvSpPr>
          <p:cNvPr id="39" name="Rule card 3"/>
          <p:cNvSpPr/>
          <p:nvPr/>
        </p:nvSpPr>
        <p:spPr>
          <a:xfrm>
            <a:off x="5989320" y="2944368"/>
            <a:ext cx="5650992" cy="530352"/>
          </a:xfrm>
          <a:prstGeom prst="roundRect">
            <a:avLst>
              <a:gd name="adj" fmla="val 17241"/>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40" name="Text 37"/>
          <p:cNvSpPr txBox="1"/>
          <p:nvPr/>
        </p:nvSpPr>
        <p:spPr>
          <a:xfrm>
            <a:off x="6144768" y="2944368"/>
            <a:ext cx="1600200" cy="530352"/>
          </a:xfrm>
          <a:prstGeom prst="rect">
            <a:avLst/>
          </a:prstGeom>
          <a:noFill/>
          <a:ln/>
        </p:spPr>
        <p:txBody>
          <a:bodyPr wrap="square" lIns="0" tIns="0" rIns="0" bIns="0" rtlCol="0" anchor="ctr"/>
          <a:lstStyle/>
          <a:p>
            <a:pPr indent="0" marL="0">
              <a:buNone/>
            </a:pPr>
            <a:r>
              <a:rPr lang="en-US" sz="1150" b="1" dirty="0">
                <a:solidFill>
                  <a:schemeClr val="tx2"/>
                </a:solidFill>
              </a:rPr>
              <a:t>Rule 150</a:t>
            </a:r>
            <a:endParaRPr lang="en-US" sz="1150" dirty="0"/>
          </a:p>
        </p:txBody>
      </p:sp>
      <p:sp>
        <p:nvSpPr>
          <p:cNvPr id="41" name="Text 38"/>
          <p:cNvSpPr txBox="1"/>
          <p:nvPr/>
        </p:nvSpPr>
        <p:spPr>
          <a:xfrm>
            <a:off x="7790688" y="2944368"/>
            <a:ext cx="3730752" cy="530352"/>
          </a:xfrm>
          <a:prstGeom prst="rect">
            <a:avLst/>
          </a:prstGeom>
          <a:noFill/>
          <a:ln/>
        </p:spPr>
        <p:txBody>
          <a:bodyPr wrap="square" lIns="0" tIns="0" rIns="0" bIns="0" rtlCol="0" anchor="ctr"/>
          <a:lstStyle/>
          <a:p>
            <a:pPr indent="0" marL="0">
              <a:buNone/>
            </a:pPr>
            <a:r>
              <a:rPr lang="en-US" sz="1050" dirty="0">
                <a:solidFill>
                  <a:schemeClr val="tx1"/>
                </a:solidFill>
              </a:rPr>
              <a:t>Suppliers registered by departments to be on-boarded on GeM</a:t>
            </a:r>
            <a:endParaRPr lang="en-US" sz="1050" dirty="0"/>
          </a:p>
        </p:txBody>
      </p:sp>
      <p:sp>
        <p:nvSpPr>
          <p:cNvPr id="42" name="Rule card 4"/>
          <p:cNvSpPr/>
          <p:nvPr/>
        </p:nvSpPr>
        <p:spPr>
          <a:xfrm>
            <a:off x="5989320" y="3538728"/>
            <a:ext cx="5650992" cy="530352"/>
          </a:xfrm>
          <a:prstGeom prst="roundRect">
            <a:avLst>
              <a:gd name="adj" fmla="val 17241"/>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43" name="Text 40"/>
          <p:cNvSpPr txBox="1"/>
          <p:nvPr/>
        </p:nvSpPr>
        <p:spPr>
          <a:xfrm>
            <a:off x="6144768" y="3538728"/>
            <a:ext cx="1600200" cy="530352"/>
          </a:xfrm>
          <a:prstGeom prst="rect">
            <a:avLst/>
          </a:prstGeom>
          <a:noFill/>
          <a:ln/>
        </p:spPr>
        <p:txBody>
          <a:bodyPr wrap="square" lIns="0" tIns="0" rIns="0" bIns="0" rtlCol="0" anchor="ctr"/>
          <a:lstStyle/>
          <a:p>
            <a:pPr indent="0" marL="0">
              <a:buNone/>
            </a:pPr>
            <a:r>
              <a:rPr lang="en-US" sz="1150" b="1" dirty="0">
                <a:solidFill>
                  <a:schemeClr val="tx2"/>
                </a:solidFill>
              </a:rPr>
              <a:t>4 Feb 2019</a:t>
            </a:r>
            <a:endParaRPr lang="en-US" sz="1150" dirty="0"/>
          </a:p>
        </p:txBody>
      </p:sp>
      <p:sp>
        <p:nvSpPr>
          <p:cNvPr id="44" name="Text 41"/>
          <p:cNvSpPr txBox="1"/>
          <p:nvPr/>
        </p:nvSpPr>
        <p:spPr>
          <a:xfrm>
            <a:off x="7790688" y="3538728"/>
            <a:ext cx="3730752" cy="530352"/>
          </a:xfrm>
          <a:prstGeom prst="rect">
            <a:avLst/>
          </a:prstGeom>
          <a:noFill/>
          <a:ln/>
        </p:spPr>
        <p:txBody>
          <a:bodyPr wrap="square" lIns="0" tIns="0" rIns="0" bIns="0" rtlCol="0" anchor="ctr"/>
          <a:lstStyle/>
          <a:p>
            <a:pPr indent="0" marL="0">
              <a:buNone/>
            </a:pPr>
            <a:r>
              <a:rPr lang="en-US" sz="1050" dirty="0">
                <a:solidFill>
                  <a:schemeClr val="tx1"/>
                </a:solidFill>
              </a:rPr>
              <a:t>DoE replaces every reference to DGS&amp;D in GFR 2017 with GeM</a:t>
            </a:r>
            <a:endParaRPr lang="en-US" sz="1050" dirty="0"/>
          </a:p>
        </p:txBody>
      </p:sp>
      <p:sp>
        <p:nvSpPr>
          <p:cNvPr id="45" name="Rule card 5"/>
          <p:cNvSpPr/>
          <p:nvPr/>
        </p:nvSpPr>
        <p:spPr>
          <a:xfrm>
            <a:off x="5989320" y="4133088"/>
            <a:ext cx="5650992" cy="658368"/>
          </a:xfrm>
          <a:prstGeom prst="roundRect">
            <a:avLst>
              <a:gd name="adj" fmla="val 13889"/>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46" name="Text 43"/>
          <p:cNvSpPr txBox="1"/>
          <p:nvPr/>
        </p:nvSpPr>
        <p:spPr>
          <a:xfrm>
            <a:off x="6144768" y="4133088"/>
            <a:ext cx="1600200" cy="658368"/>
          </a:xfrm>
          <a:prstGeom prst="rect">
            <a:avLst/>
          </a:prstGeom>
          <a:noFill/>
          <a:ln/>
        </p:spPr>
        <p:txBody>
          <a:bodyPr wrap="square" lIns="0" tIns="0" rIns="0" bIns="0" rtlCol="0" anchor="ctr"/>
          <a:lstStyle/>
          <a:p>
            <a:pPr indent="0" marL="0">
              <a:buNone/>
            </a:pPr>
            <a:r>
              <a:rPr lang="en-US" sz="1150" b="1" dirty="0">
                <a:solidFill>
                  <a:schemeClr val="tx2"/>
                </a:solidFill>
              </a:rPr>
              <a:t>Buying outside GeM</a:t>
            </a:r>
            <a:endParaRPr lang="en-US" sz="1150" dirty="0"/>
          </a:p>
        </p:txBody>
      </p:sp>
      <p:sp>
        <p:nvSpPr>
          <p:cNvPr id="47" name="Text 44"/>
          <p:cNvSpPr txBox="1"/>
          <p:nvPr/>
        </p:nvSpPr>
        <p:spPr>
          <a:xfrm>
            <a:off x="7790688" y="4133088"/>
            <a:ext cx="3730752" cy="658368"/>
          </a:xfrm>
          <a:prstGeom prst="rect">
            <a:avLst/>
          </a:prstGeom>
          <a:noFill/>
          <a:ln/>
        </p:spPr>
        <p:txBody>
          <a:bodyPr wrap="square" lIns="0" tIns="0" rIns="0" bIns="0" rtlCol="0" anchor="ctr"/>
          <a:lstStyle/>
          <a:p>
            <a:pPr indent="0" marL="0">
              <a:buNone/>
            </a:pPr>
            <a:r>
              <a:rPr lang="en-US" sz="1050" dirty="0">
                <a:solidFill>
                  <a:schemeClr val="tx1"/>
                </a:solidFill>
              </a:rPr>
              <a:t>GeM Availability Report and Past Transaction Summary (GeMAR&amp;PTS) ID: introduced 23 Jan 2020; mandatory in all cases from 11 Jun 2021</a:t>
            </a:r>
            <a:endParaRPr lang="en-US" sz="1050" dirty="0"/>
          </a:p>
        </p:txBody>
      </p:sp>
      <p:sp>
        <p:nvSpPr>
          <p:cNvPr id="48" name="Rule card 6"/>
          <p:cNvSpPr/>
          <p:nvPr/>
        </p:nvSpPr>
        <p:spPr>
          <a:xfrm>
            <a:off x="5989320" y="4855464"/>
            <a:ext cx="5650992" cy="658368"/>
          </a:xfrm>
          <a:prstGeom prst="roundRect">
            <a:avLst>
              <a:gd name="adj" fmla="val 13889"/>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49" name="Text 46"/>
          <p:cNvSpPr txBox="1"/>
          <p:nvPr/>
        </p:nvSpPr>
        <p:spPr>
          <a:xfrm>
            <a:off x="6144768" y="4855464"/>
            <a:ext cx="1600200" cy="658368"/>
          </a:xfrm>
          <a:prstGeom prst="rect">
            <a:avLst/>
          </a:prstGeom>
          <a:noFill/>
          <a:ln/>
        </p:spPr>
        <p:txBody>
          <a:bodyPr wrap="square" lIns="0" tIns="0" rIns="0" bIns="0" rtlCol="0" anchor="ctr"/>
          <a:lstStyle/>
          <a:p>
            <a:pPr indent="0" marL="0">
              <a:buNone/>
            </a:pPr>
            <a:r>
              <a:rPr lang="en-US" sz="1150" b="1" dirty="0">
                <a:solidFill>
                  <a:schemeClr val="tx2"/>
                </a:solidFill>
              </a:rPr>
              <a:t>On GeM, but a compelling reason</a:t>
            </a:r>
            <a:endParaRPr lang="en-US" sz="1150" dirty="0"/>
          </a:p>
        </p:txBody>
      </p:sp>
      <p:sp>
        <p:nvSpPr>
          <p:cNvPr id="50" name="Text 47"/>
          <p:cNvSpPr txBox="1"/>
          <p:nvPr/>
        </p:nvSpPr>
        <p:spPr>
          <a:xfrm>
            <a:off x="7790688" y="4855464"/>
            <a:ext cx="3730752" cy="658368"/>
          </a:xfrm>
          <a:prstGeom prst="rect">
            <a:avLst/>
          </a:prstGeom>
          <a:noFill/>
          <a:ln/>
        </p:spPr>
        <p:txBody>
          <a:bodyPr wrap="square" lIns="0" tIns="0" rIns="0" bIns="0" rtlCol="0" anchor="ctr"/>
          <a:lstStyle/>
          <a:p>
            <a:pPr indent="0" marL="0">
              <a:buNone/>
            </a:pPr>
            <a:r>
              <a:rPr lang="en-US" sz="1050" dirty="0">
                <a:solidFill>
                  <a:schemeClr val="tx1"/>
                </a:solidFill>
              </a:rPr>
              <a:t>Approval of the Standing Committee of GeM (SCoGeM) and the Secretary (OM, 5 Feb 2020)</a:t>
            </a:r>
            <a:endParaRPr lang="en-US" sz="1050" dirty="0"/>
          </a:p>
        </p:txBody>
      </p:sp>
      <p:sp>
        <p:nvSpPr>
          <p:cNvPr id="51" name="Rule card 7"/>
          <p:cNvSpPr/>
          <p:nvPr/>
        </p:nvSpPr>
        <p:spPr>
          <a:xfrm>
            <a:off x="5989320" y="5577840"/>
            <a:ext cx="5650992" cy="658368"/>
          </a:xfrm>
          <a:prstGeom prst="roundRect">
            <a:avLst>
              <a:gd name="adj" fmla="val 13889"/>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52" name="Text 49"/>
          <p:cNvSpPr txBox="1"/>
          <p:nvPr/>
        </p:nvSpPr>
        <p:spPr>
          <a:xfrm>
            <a:off x="6144768" y="5577840"/>
            <a:ext cx="1600200" cy="658368"/>
          </a:xfrm>
          <a:prstGeom prst="rect">
            <a:avLst/>
          </a:prstGeom>
          <a:noFill/>
          <a:ln/>
        </p:spPr>
        <p:txBody>
          <a:bodyPr wrap="square" lIns="0" tIns="0" rIns="0" bIns="0" rtlCol="0" anchor="ctr"/>
          <a:lstStyle/>
          <a:p>
            <a:pPr indent="0" marL="0">
              <a:buNone/>
            </a:pPr>
            <a:r>
              <a:rPr lang="en-US" sz="1150" b="1" dirty="0">
                <a:solidFill>
                  <a:schemeClr val="tx2"/>
                </a:solidFill>
              </a:rPr>
              <a:t>Plan and publish</a:t>
            </a:r>
            <a:endParaRPr lang="en-US" sz="1150" dirty="0"/>
          </a:p>
        </p:txBody>
      </p:sp>
      <p:sp>
        <p:nvSpPr>
          <p:cNvPr id="53" name="Text 50"/>
          <p:cNvSpPr txBox="1"/>
          <p:nvPr/>
        </p:nvSpPr>
        <p:spPr>
          <a:xfrm>
            <a:off x="7790688" y="5577840"/>
            <a:ext cx="3730752" cy="658368"/>
          </a:xfrm>
          <a:prstGeom prst="rect">
            <a:avLst/>
          </a:prstGeom>
          <a:noFill/>
          <a:ln/>
        </p:spPr>
        <p:txBody>
          <a:bodyPr wrap="square" lIns="0" tIns="0" rIns="0" bIns="0" rtlCol="0" anchor="ctr"/>
          <a:lstStyle/>
          <a:p>
            <a:pPr indent="0" marL="0">
              <a:buNone/>
            </a:pPr>
            <a:r>
              <a:rPr lang="en-US" sz="1050" dirty="0">
                <a:solidFill>
                  <a:schemeClr val="tx1"/>
                </a:solidFill>
              </a:rPr>
              <a:t>Annual Procurement Plan on GeM within 30 days of budget approval (Rule 149(vi)); all tenders on GeM–CPPP (Rule 159)</a:t>
            </a:r>
            <a:endParaRPr lang="en-US" sz="1050" dirty="0"/>
          </a:p>
        </p:txBody>
      </p:sp>
      <p:sp>
        <p:nvSpPr>
          <p:cNvPr id="25" name="Slide Number Placeholder 0"/>
          <p:cNvSpPr>
            <a:spLocks noGrp="1"/>
          </p:cNvSpPr>
          <p:nvPr>
            <p:ph type="sldNum" sz="quarter" idx="4294967295"/>
          </p:nvPr>
        </p:nvSpPr>
        <p:spPr>
          <a:xfrm>
            <a:off x="11183112"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body" hasCustomPrompt="1"/>
          </p:nvPr>
        </p:nvSpPr>
        <p:spPr>
          <a:xfrm>
            <a:off x="886968" y="283464"/>
            <a:ext cx="1069848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PART 2  ·  CENTRE AND STATES</a:t>
            </a:r>
            <a:endParaRPr lang="en-US" sz="1100" dirty="0"/>
          </a:p>
        </p:txBody>
      </p:sp>
      <p:sp>
        <p:nvSpPr>
          <p:cNvPr id="3" name="Text 0"/>
          <p:cNvSpPr/>
          <p:nvPr>
            <p:ph idx="102" type="title" hasCustomPrompt="1"/>
          </p:nvPr>
        </p:nvSpPr>
        <p:spPr>
          <a:xfrm>
            <a:off x="548640" y="603504"/>
            <a:ext cx="11064240" cy="603504"/>
          </a:xfrm>
          <a:prstGeom prst="rect">
            <a:avLst/>
          </a:prstGeom>
          <a:noFill/>
          <a:ln/>
        </p:spPr>
        <p:txBody>
          <a:bodyPr wrap="square" lIns="0" tIns="0" rIns="0" bIns="0" rtlCol="0" anchor="ctr"/>
          <a:lstStyle/>
          <a:p>
            <a:pPr algn="l" indent="0" marL="0">
              <a:buNone/>
            </a:pPr>
            <a:r>
              <a:rPr lang="en-US" sz="3000" b="1" dirty="0">
                <a:solidFill>
                  <a:schemeClr val="tx2"/>
                </a:solidFill>
              </a:rPr>
              <a:t>Centre and States: who follows which rules</a:t>
            </a:r>
            <a:endParaRPr lang="en-US" sz="3000" dirty="0"/>
          </a:p>
        </p:txBody>
      </p:sp>
      <p:sp>
        <p:nvSpPr>
          <p:cNvPr id="4" name="Text 0"/>
          <p:cNvSpPr/>
          <p:nvPr>
            <p:ph idx="103" type="body" hasCustomPrompt="1"/>
          </p:nvPr>
        </p:nvSpPr>
        <p:spPr>
          <a:xfrm>
            <a:off x="548640" y="6291072"/>
            <a:ext cx="10424160" cy="411480"/>
          </a:xfrm>
          <a:prstGeom prst="rect">
            <a:avLst/>
          </a:prstGeom>
          <a:noFill/>
          <a:ln/>
        </p:spPr>
        <p:txBody>
          <a:bodyPr wrap="square" lIns="0" tIns="0" rIns="0" bIns="0" rtlCol="0" anchor="t"/>
          <a:lstStyle/>
          <a:p>
            <a:pPr indent="0" marL="0">
              <a:buNone/>
            </a:pPr>
            <a:r>
              <a:rPr lang="en-US" sz="950" dirty="0">
                <a:solidFill>
                  <a:schemeClr val="accent6"/>
                </a:solidFill>
              </a:rPr>
              <a:t>Sources: Constitution, Arts 298–299; GFR 2017, Rules 1, 264; Goods Manual 2024, paras 1.3, 1.11 (incl. fn. 34), Annexure 32 (FAQs 28, 37); Tamil Nadu Act 43 of 1998; Karnataka Act 29 of 2000; Rajasthan Act 21 of 2012; GeM GTC v1.29, cl. 4(xiii)(m), (t); PIB, 6 Apr 2026.</a:t>
            </a:r>
            <a:endParaRPr lang="en-US" sz="950" dirty="0"/>
          </a:p>
        </p:txBody>
      </p:sp>
      <p:sp>
        <p:nvSpPr>
          <p:cNvPr id="6" name="Common base band"/>
          <p:cNvSpPr/>
          <p:nvPr/>
        </p:nvSpPr>
        <p:spPr>
          <a:xfrm>
            <a:off x="548640" y="1325880"/>
            <a:ext cx="11091672" cy="457200"/>
          </a:xfrm>
          <a:prstGeom prst="roundRect">
            <a:avLst>
              <a:gd name="adj" fmla="val 20000"/>
            </a:avLst>
          </a:prstGeom>
          <a:solidFill>
            <a:schemeClr val="tx2"/>
          </a:solidFill>
          <a:ln w="9525">
            <a:solidFill>
              <a:schemeClr val="tx2"/>
            </a:solidFill>
            <a:prstDash val="solid"/>
          </a:ln>
          <a:effectLst>
            <a:outerShdw sx="100000" sy="100000" kx="0" ky="0" algn="bl" rotWithShape="0" blurRad="127000" dist="25400" dir="5400000">
              <a:srgbClr val="6B4FA0">
                <a:alpha val="12000"/>
              </a:srgbClr>
            </a:outerShdw>
          </a:effectLst>
        </p:spPr>
      </p:sp>
      <p:sp>
        <p:nvSpPr>
          <p:cNvPr id="7" name="Text 4"/>
          <p:cNvSpPr txBox="1"/>
          <p:nvPr/>
        </p:nvSpPr>
        <p:spPr>
          <a:xfrm>
            <a:off x="749808" y="1325880"/>
            <a:ext cx="10789920" cy="457200"/>
          </a:xfrm>
          <a:prstGeom prst="rect">
            <a:avLst/>
          </a:prstGeom>
          <a:noFill/>
          <a:ln/>
        </p:spPr>
        <p:txBody>
          <a:bodyPr wrap="square" lIns="0" tIns="0" rIns="0" bIns="0" rtlCol="0" anchor="ctr"/>
          <a:lstStyle/>
          <a:p>
            <a:pPr indent="0" marL="0">
              <a:buNone/>
            </a:pPr>
            <a:r>
              <a:rPr lang="en-US" sz="1100" b="1" spc="200" kern="0" dirty="0">
                <a:solidFill>
                  <a:schemeClr val="accent3"/>
                </a:solidFill>
              </a:rPr>
              <a:t>COMMON BASE   </a:t>
            </a:r>
            <a:pPr indent="0" marL="0">
              <a:buNone/>
            </a:pPr>
            <a:r>
              <a:rPr lang="en-US" sz="1250" dirty="0">
                <a:solidFill>
                  <a:schemeClr val="bg1"/>
                </a:solidFill>
              </a:rPr>
              <a:t>Articles 298 and 299 cover contracts of the Union and of every State; a State contract is made in the Governor's name.</a:t>
            </a:r>
            <a:endParaRPr lang="en-US" sz="1250" dirty="0"/>
          </a:p>
        </p:txBody>
      </p:sp>
      <p:sp>
        <p:nvSpPr>
          <p:cNvPr id="8" name="Centre card"/>
          <p:cNvSpPr/>
          <p:nvPr/>
        </p:nvSpPr>
        <p:spPr>
          <a:xfrm>
            <a:off x="548640" y="1901952"/>
            <a:ext cx="5486400" cy="2788920"/>
          </a:xfrm>
          <a:prstGeom prst="roundRect">
            <a:avLst>
              <a:gd name="adj" fmla="val 3279"/>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9" name="Text 6"/>
          <p:cNvSpPr txBox="1"/>
          <p:nvPr/>
        </p:nvSpPr>
        <p:spPr>
          <a:xfrm>
            <a:off x="731520" y="1975104"/>
            <a:ext cx="5120640" cy="274320"/>
          </a:xfrm>
          <a:prstGeom prst="rect">
            <a:avLst/>
          </a:prstGeom>
          <a:noFill/>
          <a:ln/>
        </p:spPr>
        <p:txBody>
          <a:bodyPr wrap="square" lIns="0" tIns="0" rIns="0" bIns="0" rtlCol="0" anchor="ctr"/>
          <a:lstStyle/>
          <a:p>
            <a:pPr indent="0" marL="0">
              <a:buNone/>
            </a:pPr>
            <a:r>
              <a:rPr lang="en-US" sz="1300" b="1" dirty="0">
                <a:solidFill>
                  <a:schemeClr val="accent1"/>
                </a:solidFill>
              </a:rPr>
              <a:t>THE CENTRE</a:t>
            </a:r>
            <a:endParaRPr lang="en-US" sz="1300" dirty="0"/>
          </a:p>
        </p:txBody>
      </p:sp>
      <p:sp>
        <p:nvSpPr>
          <p:cNvPr id="10" name="Text 7"/>
          <p:cNvSpPr txBox="1"/>
          <p:nvPr/>
        </p:nvSpPr>
        <p:spPr>
          <a:xfrm>
            <a:off x="731520" y="2286000"/>
            <a:ext cx="5166360" cy="2359152"/>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chemeClr val="tx1"/>
                </a:solidFill>
              </a:rPr>
              <a:t>GFR Rule 1: central ministries, departments, attached and subordinate offices; autonomous bodies unless approved bye-laws differ</a:t>
            </a:r>
            <a:endParaRPr lang="en-US" sz="1050" dirty="0"/>
          </a:p>
          <a:p>
            <a:pPr marL="152400" indent="-152400">
              <a:spcAft>
                <a:spcPts val="300"/>
              </a:spcAft>
              <a:buSzPct val="100000"/>
              <a:buChar char="•"/>
            </a:pPr>
            <a:r>
              <a:rPr lang="en-US" sz="1050" dirty="0">
                <a:solidFill>
                  <a:schemeClr val="tx1"/>
                </a:solidFill>
              </a:rPr>
              <a:t>Goods Manual 1.3: also Central Public Sector Enterprises (CPSEs), public sector banks, insurers and financial institutions, statutory and constitutional bodies, central academic institutions — except board-approved deviations</a:t>
            </a:r>
            <a:endParaRPr lang="en-US" sz="1050" dirty="0"/>
          </a:p>
          <a:p>
            <a:pPr marL="152400" indent="-152400">
              <a:spcAft>
                <a:spcPts val="300"/>
              </a:spcAft>
              <a:buSzPct val="100000"/>
              <a:buChar char="•"/>
            </a:pPr>
            <a:r>
              <a:rPr lang="en-US" sz="1050" dirty="0">
                <a:solidFill>
                  <a:schemeClr val="tx1"/>
                </a:solidFill>
              </a:rPr>
              <a:t>Customisation (1.3(7)): entities issue their own manuals, tender documents and schedules of powers</a:t>
            </a:r>
            <a:endParaRPr lang="en-US" sz="1050" dirty="0"/>
          </a:p>
          <a:p>
            <a:pPr marL="152400" indent="-152400">
              <a:spcAft>
                <a:spcPts val="300"/>
              </a:spcAft>
              <a:buSzPct val="100000"/>
              <a:buChar char="•"/>
            </a:pPr>
            <a:r>
              <a:rPr lang="en-US" sz="1050" dirty="0">
                <a:solidFill>
                  <a:schemeClr val="tx1"/>
                </a:solidFill>
              </a:rPr>
              <a:t>Exemptions (1.3(8)–(9)): purchases from own subsidiaries and joint ventures; projects funded by international agencies may follow the funder's rules (GFR Rule 264)</a:t>
            </a:r>
            <a:endParaRPr lang="en-US" sz="1050" dirty="0"/>
          </a:p>
          <a:p>
            <a:pPr marL="152400" indent="-152400">
              <a:spcAft>
                <a:spcPts val="300"/>
              </a:spcAft>
              <a:buSzPct val="100000"/>
              <a:buChar char="•"/>
            </a:pPr>
            <a:r>
              <a:rPr lang="en-US" sz="1050" dirty="0">
                <a:solidFill>
                  <a:schemeClr val="tx1"/>
                </a:solidFill>
              </a:rPr>
              <a:t>Missions abroad convert thresholds at International Monetary Fund purchasing-power-parity rates (1.3(4))</a:t>
            </a:r>
            <a:endParaRPr lang="en-US" sz="1050" dirty="0"/>
          </a:p>
        </p:txBody>
      </p:sp>
      <p:sp>
        <p:nvSpPr>
          <p:cNvPr id="11" name="States card"/>
          <p:cNvSpPr/>
          <p:nvPr/>
        </p:nvSpPr>
        <p:spPr>
          <a:xfrm>
            <a:off x="6153912" y="1901952"/>
            <a:ext cx="5486400" cy="2788920"/>
          </a:xfrm>
          <a:prstGeom prst="roundRect">
            <a:avLst>
              <a:gd name="adj" fmla="val 3279"/>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12" name="Text 9"/>
          <p:cNvSpPr txBox="1"/>
          <p:nvPr/>
        </p:nvSpPr>
        <p:spPr>
          <a:xfrm>
            <a:off x="6336792" y="1975104"/>
            <a:ext cx="5120640" cy="274320"/>
          </a:xfrm>
          <a:prstGeom prst="rect">
            <a:avLst/>
          </a:prstGeom>
          <a:noFill/>
          <a:ln/>
        </p:spPr>
        <p:txBody>
          <a:bodyPr wrap="square" lIns="0" tIns="0" rIns="0" bIns="0" rtlCol="0" anchor="ctr"/>
          <a:lstStyle/>
          <a:p>
            <a:pPr indent="0" marL="0">
              <a:buNone/>
            </a:pPr>
            <a:r>
              <a:rPr lang="en-US" sz="1300" b="1" dirty="0">
                <a:solidFill>
                  <a:schemeClr val="accent1"/>
                </a:solidFill>
              </a:rPr>
              <a:t>THE STATES — OWN RULES AND STATUTES</a:t>
            </a:r>
            <a:endParaRPr lang="en-US" sz="1300" dirty="0"/>
          </a:p>
        </p:txBody>
      </p:sp>
      <p:sp>
        <p:nvSpPr>
          <p:cNvPr id="13" name="State marker 1"/>
          <p:cNvSpPr/>
          <p:nvPr/>
        </p:nvSpPr>
        <p:spPr>
          <a:xfrm>
            <a:off x="6336792" y="2377440"/>
            <a:ext cx="164592" cy="164592"/>
          </a:xfrm>
          <a:prstGeom prst="diamond">
            <a:avLst/>
          </a:prstGeom>
          <a:solidFill>
            <a:schemeClr val="accent1"/>
          </a:solidFill>
          <a:ln w="9525">
            <a:solidFill>
              <a:schemeClr val="bg1"/>
            </a:solidFill>
            <a:prstDash val="solid"/>
          </a:ln>
        </p:spPr>
      </p:sp>
      <p:sp>
        <p:nvSpPr>
          <p:cNvPr id="14" name="Text 11"/>
          <p:cNvSpPr txBox="1"/>
          <p:nvPr/>
        </p:nvSpPr>
        <p:spPr>
          <a:xfrm>
            <a:off x="6601968" y="2331720"/>
            <a:ext cx="4892040" cy="713232"/>
          </a:xfrm>
          <a:prstGeom prst="rect">
            <a:avLst/>
          </a:prstGeom>
          <a:noFill/>
          <a:ln/>
        </p:spPr>
        <p:txBody>
          <a:bodyPr wrap="square" lIns="0" tIns="0" rIns="0" bIns="0" rtlCol="0" anchor="t"/>
          <a:lstStyle/>
          <a:p>
            <a:pPr indent="0" marL="0">
              <a:buNone/>
            </a:pPr>
            <a:r>
              <a:rPr lang="en-US" sz="1100" b="1" dirty="0">
                <a:solidFill>
                  <a:schemeClr val="tx2"/>
                </a:solidFill>
              </a:rPr>
              <a:t>Tamil Nadu Transparency in Tenders Act, 1998</a:t>
            </a:r>
            <a:endParaRPr lang="en-US" sz="1100" dirty="0"/>
          </a:p>
          <a:p>
            <a:pPr indent="0" marL="0">
              <a:buNone/>
            </a:pPr>
            <a:r>
              <a:rPr lang="en-US" sz="1000" dirty="0">
                <a:solidFill>
                  <a:schemeClr val="accent6"/>
                </a:solidFill>
              </a:rPr>
              <a:t>Act 43 of 1998 · statutory tender procedure with a Tender Bulletin; amended as recently as 2024</a:t>
            </a:r>
            <a:endParaRPr lang="en-US" sz="1100" dirty="0"/>
          </a:p>
        </p:txBody>
      </p:sp>
      <p:sp>
        <p:nvSpPr>
          <p:cNvPr id="15" name="State marker 2"/>
          <p:cNvSpPr/>
          <p:nvPr/>
        </p:nvSpPr>
        <p:spPr>
          <a:xfrm>
            <a:off x="6336792" y="3145536"/>
            <a:ext cx="164592" cy="164592"/>
          </a:xfrm>
          <a:prstGeom prst="diamond">
            <a:avLst/>
          </a:prstGeom>
          <a:solidFill>
            <a:schemeClr val="accent1"/>
          </a:solidFill>
          <a:ln w="9525">
            <a:solidFill>
              <a:schemeClr val="bg1"/>
            </a:solidFill>
            <a:prstDash val="solid"/>
          </a:ln>
        </p:spPr>
      </p:sp>
      <p:sp>
        <p:nvSpPr>
          <p:cNvPr id="16" name="Text 13"/>
          <p:cNvSpPr txBox="1"/>
          <p:nvPr/>
        </p:nvSpPr>
        <p:spPr>
          <a:xfrm>
            <a:off x="6601968" y="3099816"/>
            <a:ext cx="4892040" cy="713232"/>
          </a:xfrm>
          <a:prstGeom prst="rect">
            <a:avLst/>
          </a:prstGeom>
          <a:noFill/>
          <a:ln/>
        </p:spPr>
        <p:txBody>
          <a:bodyPr wrap="square" lIns="0" tIns="0" rIns="0" bIns="0" rtlCol="0" anchor="t"/>
          <a:lstStyle/>
          <a:p>
            <a:pPr indent="0" marL="0">
              <a:buNone/>
            </a:pPr>
            <a:r>
              <a:rPr lang="en-US" sz="1100" b="1" dirty="0">
                <a:solidFill>
                  <a:schemeClr val="tx2"/>
                </a:solidFill>
              </a:rPr>
              <a:t>Karnataka Transparency in Public Procurements Act, 1999</a:t>
            </a:r>
            <a:endParaRPr lang="en-US" sz="1100" dirty="0"/>
          </a:p>
          <a:p>
            <a:pPr indent="0" marL="0">
              <a:buNone/>
            </a:pPr>
            <a:r>
              <a:rPr lang="en-US" sz="1000" dirty="0">
                <a:solidFill>
                  <a:schemeClr val="accent6"/>
                </a:solidFill>
              </a:rPr>
              <a:t>Act 29 of 2000 · streamlines inviting, processing and accepting tenders; in force from 4 Oct 2000</a:t>
            </a:r>
            <a:endParaRPr lang="en-US" sz="1100" dirty="0"/>
          </a:p>
        </p:txBody>
      </p:sp>
      <p:sp>
        <p:nvSpPr>
          <p:cNvPr id="17" name="State marker 3"/>
          <p:cNvSpPr/>
          <p:nvPr/>
        </p:nvSpPr>
        <p:spPr>
          <a:xfrm>
            <a:off x="6336792" y="3913632"/>
            <a:ext cx="164592" cy="164592"/>
          </a:xfrm>
          <a:prstGeom prst="diamond">
            <a:avLst/>
          </a:prstGeom>
          <a:solidFill>
            <a:schemeClr val="accent1"/>
          </a:solidFill>
          <a:ln w="9525">
            <a:solidFill>
              <a:schemeClr val="bg1"/>
            </a:solidFill>
            <a:prstDash val="solid"/>
          </a:ln>
        </p:spPr>
      </p:sp>
      <p:sp>
        <p:nvSpPr>
          <p:cNvPr id="18" name="Text 15"/>
          <p:cNvSpPr txBox="1"/>
          <p:nvPr/>
        </p:nvSpPr>
        <p:spPr>
          <a:xfrm>
            <a:off x="6601968" y="3867912"/>
            <a:ext cx="4892040" cy="713232"/>
          </a:xfrm>
          <a:prstGeom prst="rect">
            <a:avLst/>
          </a:prstGeom>
          <a:noFill/>
          <a:ln/>
        </p:spPr>
        <p:txBody>
          <a:bodyPr wrap="square" lIns="0" tIns="0" rIns="0" bIns="0" rtlCol="0" anchor="t"/>
          <a:lstStyle/>
          <a:p>
            <a:pPr indent="0" marL="0">
              <a:buNone/>
            </a:pPr>
            <a:r>
              <a:rPr lang="en-US" sz="1100" b="1" dirty="0">
                <a:solidFill>
                  <a:schemeClr val="tx2"/>
                </a:solidFill>
              </a:rPr>
              <a:t>Rajasthan Transparency in Public Procurement Act, 2012</a:t>
            </a:r>
            <a:endParaRPr lang="en-US" sz="1100" dirty="0"/>
          </a:p>
          <a:p>
            <a:pPr indent="0" marL="0">
              <a:buNone/>
            </a:pPr>
            <a:r>
              <a:rPr lang="en-US" sz="1000" dirty="0">
                <a:solidFill>
                  <a:schemeClr val="accent6"/>
                </a:solidFill>
              </a:rPr>
              <a:t>Act 21 of 2012 · full procurement code; bidder appeal and second appeal (s. 38); stay of proceedings (s. 39)</a:t>
            </a:r>
            <a:endParaRPr lang="en-US" sz="1100" dirty="0"/>
          </a:p>
        </p:txBody>
      </p:sp>
      <p:sp>
        <p:nvSpPr>
          <p:cNvPr id="19" name="Text 16"/>
          <p:cNvSpPr txBox="1"/>
          <p:nvPr/>
        </p:nvSpPr>
        <p:spPr>
          <a:xfrm>
            <a:off x="548640" y="4800600"/>
            <a:ext cx="10972800" cy="256032"/>
          </a:xfrm>
          <a:prstGeom prst="rect">
            <a:avLst/>
          </a:prstGeom>
          <a:noFill/>
          <a:ln/>
        </p:spPr>
        <p:txBody>
          <a:bodyPr wrap="square" lIns="0" tIns="0" rIns="0" bIns="0" rtlCol="0" anchor="t"/>
          <a:lstStyle/>
          <a:p>
            <a:pPr indent="0" marL="0">
              <a:buNone/>
            </a:pPr>
            <a:r>
              <a:rPr lang="en-US" sz="1050" b="1" spc="200" kern="0" dirty="0">
                <a:solidFill>
                  <a:schemeClr val="accent2"/>
                </a:solidFill>
              </a:rPr>
              <a:t>HOW CENTRAL POLICY REACHES THE STATES</a:t>
            </a:r>
            <a:endParaRPr lang="en-US" sz="1050" dirty="0"/>
          </a:p>
        </p:txBody>
      </p:sp>
      <p:sp>
        <p:nvSpPr>
          <p:cNvPr id="20" name="Bridge 1"/>
          <p:cNvSpPr/>
          <p:nvPr/>
        </p:nvSpPr>
        <p:spPr>
          <a:xfrm>
            <a:off x="548640" y="5102352"/>
            <a:ext cx="2130552" cy="1051560"/>
          </a:xfrm>
          <a:prstGeom prst="roundRect">
            <a:avLst>
              <a:gd name="adj" fmla="val 8696"/>
            </a:avLst>
          </a:prstGeom>
          <a:solidFill>
            <a:schemeClr val="accent4"/>
          </a:solidFill>
          <a:ln w="9525">
            <a:solidFill>
              <a:schemeClr val="accent4"/>
            </a:solidFill>
            <a:prstDash val="solid"/>
          </a:ln>
        </p:spPr>
      </p:sp>
      <p:sp>
        <p:nvSpPr>
          <p:cNvPr id="21" name="Text 18"/>
          <p:cNvSpPr txBox="1"/>
          <p:nvPr/>
        </p:nvSpPr>
        <p:spPr>
          <a:xfrm>
            <a:off x="667512" y="5102352"/>
            <a:ext cx="1892808" cy="1051560"/>
          </a:xfrm>
          <a:prstGeom prst="rect">
            <a:avLst/>
          </a:prstGeom>
          <a:noFill/>
          <a:ln/>
        </p:spPr>
        <p:txBody>
          <a:bodyPr wrap="square" lIns="0" tIns="0" rIns="0" bIns="0" rtlCol="0" anchor="ctr"/>
          <a:lstStyle/>
          <a:p>
            <a:pPr indent="0" marL="0">
              <a:buNone/>
            </a:pPr>
            <a:r>
              <a:rPr lang="en-US" sz="1000" dirty="0">
                <a:solidFill>
                  <a:schemeClr val="tx1"/>
                </a:solidFill>
              </a:rPr>
              <a:t>MSE Policy 2012 does not bind States; they are asked to frame their own (FAQs 28, 37)</a:t>
            </a:r>
            <a:endParaRPr lang="en-US" sz="1000" dirty="0"/>
          </a:p>
        </p:txBody>
      </p:sp>
      <p:sp>
        <p:nvSpPr>
          <p:cNvPr id="22" name="Bridge 2"/>
          <p:cNvSpPr/>
          <p:nvPr/>
        </p:nvSpPr>
        <p:spPr>
          <a:xfrm>
            <a:off x="2788920" y="5102352"/>
            <a:ext cx="2130552" cy="1051560"/>
          </a:xfrm>
          <a:prstGeom prst="roundRect">
            <a:avLst>
              <a:gd name="adj" fmla="val 8696"/>
            </a:avLst>
          </a:prstGeom>
          <a:solidFill>
            <a:schemeClr val="accent4"/>
          </a:solidFill>
          <a:ln w="9525">
            <a:solidFill>
              <a:schemeClr val="accent4"/>
            </a:solidFill>
            <a:prstDash val="solid"/>
          </a:ln>
        </p:spPr>
      </p:sp>
      <p:sp>
        <p:nvSpPr>
          <p:cNvPr id="23" name="Text 20"/>
          <p:cNvSpPr txBox="1"/>
          <p:nvPr/>
        </p:nvSpPr>
        <p:spPr>
          <a:xfrm>
            <a:off x="2907792" y="5102352"/>
            <a:ext cx="1892808" cy="1051560"/>
          </a:xfrm>
          <a:prstGeom prst="rect">
            <a:avLst/>
          </a:prstGeom>
          <a:noFill/>
          <a:ln/>
        </p:spPr>
        <p:txBody>
          <a:bodyPr wrap="square" lIns="0" tIns="0" rIns="0" bIns="0" rtlCol="0" anchor="ctr"/>
          <a:lstStyle/>
          <a:p>
            <a:pPr indent="0" marL="0">
              <a:buNone/>
            </a:pPr>
            <a:r>
              <a:rPr lang="en-US" sz="1000" dirty="0">
                <a:solidFill>
                  <a:schemeClr val="tx1"/>
                </a:solidFill>
              </a:rPr>
              <a:t>Make in India reciprocity: States encouraged to mirror it in their tenders</a:t>
            </a:r>
            <a:endParaRPr lang="en-US" sz="1000" dirty="0"/>
          </a:p>
        </p:txBody>
      </p:sp>
      <p:sp>
        <p:nvSpPr>
          <p:cNvPr id="24" name="Bridge 3"/>
          <p:cNvSpPr/>
          <p:nvPr/>
        </p:nvSpPr>
        <p:spPr>
          <a:xfrm>
            <a:off x="5029200" y="5102352"/>
            <a:ext cx="2130552" cy="1051560"/>
          </a:xfrm>
          <a:prstGeom prst="roundRect">
            <a:avLst>
              <a:gd name="adj" fmla="val 8696"/>
            </a:avLst>
          </a:prstGeom>
          <a:solidFill>
            <a:schemeClr val="accent4"/>
          </a:solidFill>
          <a:ln w="9525">
            <a:solidFill>
              <a:schemeClr val="accent4"/>
            </a:solidFill>
            <a:prstDash val="solid"/>
          </a:ln>
        </p:spPr>
      </p:sp>
      <p:sp>
        <p:nvSpPr>
          <p:cNvPr id="25" name="Text 22"/>
          <p:cNvSpPr txBox="1"/>
          <p:nvPr/>
        </p:nvSpPr>
        <p:spPr>
          <a:xfrm>
            <a:off x="5148072" y="5102352"/>
            <a:ext cx="1892808" cy="1051560"/>
          </a:xfrm>
          <a:prstGeom prst="rect">
            <a:avLst/>
          </a:prstGeom>
          <a:noFill/>
          <a:ln/>
        </p:spPr>
        <p:txBody>
          <a:bodyPr wrap="square" lIns="0" tIns="0" rIns="0" bIns="0" rtlCol="0" anchor="ctr"/>
          <a:lstStyle/>
          <a:p>
            <a:pPr indent="0" marL="0">
              <a:buNone/>
            </a:pPr>
            <a:r>
              <a:rPr lang="en-US" sz="1000" dirty="0">
                <a:solidFill>
                  <a:schemeClr val="tx1"/>
                </a:solidFill>
              </a:rPr>
              <a:t>A Centre-issued land-border registration is valid for State tenders</a:t>
            </a:r>
            <a:endParaRPr lang="en-US" sz="1000" dirty="0"/>
          </a:p>
        </p:txBody>
      </p:sp>
      <p:sp>
        <p:nvSpPr>
          <p:cNvPr id="26" name="Bridge 4"/>
          <p:cNvSpPr/>
          <p:nvPr/>
        </p:nvSpPr>
        <p:spPr>
          <a:xfrm>
            <a:off x="7269480" y="5102352"/>
            <a:ext cx="2130552" cy="1051560"/>
          </a:xfrm>
          <a:prstGeom prst="roundRect">
            <a:avLst>
              <a:gd name="adj" fmla="val 8696"/>
            </a:avLst>
          </a:prstGeom>
          <a:solidFill>
            <a:schemeClr val="accent4"/>
          </a:solidFill>
          <a:ln w="9525">
            <a:solidFill>
              <a:schemeClr val="accent4"/>
            </a:solidFill>
            <a:prstDash val="solid"/>
          </a:ln>
        </p:spPr>
      </p:sp>
      <p:sp>
        <p:nvSpPr>
          <p:cNvPr id="27" name="Text 24"/>
          <p:cNvSpPr txBox="1"/>
          <p:nvPr/>
        </p:nvSpPr>
        <p:spPr>
          <a:xfrm>
            <a:off x="7388352" y="5102352"/>
            <a:ext cx="1892808" cy="1051560"/>
          </a:xfrm>
          <a:prstGeom prst="rect">
            <a:avLst/>
          </a:prstGeom>
          <a:noFill/>
          <a:ln/>
        </p:spPr>
        <p:txBody>
          <a:bodyPr wrap="square" lIns="0" tIns="0" rIns="0" bIns="0" rtlCol="0" anchor="ctr"/>
          <a:lstStyle/>
          <a:p>
            <a:pPr indent="0" marL="0">
              <a:buNone/>
            </a:pPr>
            <a:r>
              <a:rPr lang="en-US" sz="1000" dirty="0">
                <a:solidFill>
                  <a:schemeClr val="tx1"/>
                </a:solidFill>
              </a:rPr>
              <a:t>GeM open to State buyers; Additional Terms and Conditions (ATC) can carry State MSE and local-supplier rules</a:t>
            </a:r>
            <a:endParaRPr lang="en-US" sz="1000" dirty="0"/>
          </a:p>
        </p:txBody>
      </p:sp>
      <p:sp>
        <p:nvSpPr>
          <p:cNvPr id="28" name="Bridge 5"/>
          <p:cNvSpPr/>
          <p:nvPr/>
        </p:nvSpPr>
        <p:spPr>
          <a:xfrm>
            <a:off x="9509760" y="5102352"/>
            <a:ext cx="2130552" cy="1051560"/>
          </a:xfrm>
          <a:prstGeom prst="roundRect">
            <a:avLst>
              <a:gd name="adj" fmla="val 8696"/>
            </a:avLst>
          </a:prstGeom>
          <a:solidFill>
            <a:schemeClr val="accent5"/>
          </a:solidFill>
          <a:ln w="9525">
            <a:solidFill>
              <a:schemeClr val="accent3"/>
            </a:solidFill>
            <a:prstDash val="solid"/>
          </a:ln>
        </p:spPr>
      </p:sp>
      <p:sp>
        <p:nvSpPr>
          <p:cNvPr id="29" name="Text 26"/>
          <p:cNvSpPr txBox="1"/>
          <p:nvPr/>
        </p:nvSpPr>
        <p:spPr>
          <a:xfrm>
            <a:off x="9628632" y="5102352"/>
            <a:ext cx="1892808" cy="1051560"/>
          </a:xfrm>
          <a:prstGeom prst="rect">
            <a:avLst/>
          </a:prstGeom>
          <a:noFill/>
          <a:ln/>
        </p:spPr>
        <p:txBody>
          <a:bodyPr wrap="square" lIns="0" tIns="0" rIns="0" bIns="0" rtlCol="0" anchor="ctr"/>
          <a:lstStyle/>
          <a:p>
            <a:pPr indent="0" marL="0">
              <a:buNone/>
            </a:pPr>
            <a:r>
              <a:rPr lang="en-US" sz="1000" dirty="0">
                <a:solidFill>
                  <a:schemeClr val="tx1"/>
                </a:solidFill>
              </a:rPr>
              <a:t>State buying on GeM grew 38.3% in FY 2025–26</a:t>
            </a:r>
            <a:endParaRPr lang="en-US" sz="1000" dirty="0"/>
          </a:p>
        </p:txBody>
      </p:sp>
      <p:sp>
        <p:nvSpPr>
          <p:cNvPr id="25" name="Slide Number Placeholder 0"/>
          <p:cNvSpPr>
            <a:spLocks noGrp="1"/>
          </p:cNvSpPr>
          <p:nvPr>
            <p:ph type="sldNum" sz="quarter" idx="4294967295"/>
          </p:nvPr>
        </p:nvSpPr>
        <p:spPr>
          <a:xfrm>
            <a:off x="11183112"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body" hasCustomPrompt="1"/>
          </p:nvPr>
        </p:nvSpPr>
        <p:spPr>
          <a:xfrm>
            <a:off x="886968" y="283464"/>
            <a:ext cx="1069848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PART 3  ·  THE BIDDING PROCESS</a:t>
            </a:r>
            <a:endParaRPr lang="en-US" sz="1100" dirty="0"/>
          </a:p>
        </p:txBody>
      </p:sp>
      <p:sp>
        <p:nvSpPr>
          <p:cNvPr id="3" name="Text 0"/>
          <p:cNvSpPr/>
          <p:nvPr>
            <p:ph idx="102" type="title" hasCustomPrompt="1"/>
          </p:nvPr>
        </p:nvSpPr>
        <p:spPr>
          <a:xfrm>
            <a:off x="548640" y="603504"/>
            <a:ext cx="11064240" cy="603504"/>
          </a:xfrm>
          <a:prstGeom prst="rect">
            <a:avLst/>
          </a:prstGeom>
          <a:noFill/>
          <a:ln/>
        </p:spPr>
        <p:txBody>
          <a:bodyPr wrap="square" lIns="0" tIns="0" rIns="0" bIns="0" rtlCol="0" anchor="ctr"/>
          <a:lstStyle/>
          <a:p>
            <a:pPr algn="l" indent="0" marL="0">
              <a:buNone/>
            </a:pPr>
            <a:r>
              <a:rPr lang="en-US" sz="3000" b="1" dirty="0">
                <a:solidFill>
                  <a:schemeClr val="tx2"/>
                </a:solidFill>
              </a:rPr>
              <a:t>Value decides the buying route on GeM</a:t>
            </a:r>
            <a:endParaRPr lang="en-US" sz="3000" dirty="0"/>
          </a:p>
        </p:txBody>
      </p:sp>
      <p:sp>
        <p:nvSpPr>
          <p:cNvPr id="4" name="Text 0"/>
          <p:cNvSpPr/>
          <p:nvPr>
            <p:ph idx="103" type="body" hasCustomPrompt="1"/>
          </p:nvPr>
        </p:nvSpPr>
        <p:spPr>
          <a:xfrm>
            <a:off x="548640" y="6291072"/>
            <a:ext cx="10424160" cy="411480"/>
          </a:xfrm>
          <a:prstGeom prst="rect">
            <a:avLst/>
          </a:prstGeom>
          <a:noFill/>
          <a:ln/>
        </p:spPr>
        <p:txBody>
          <a:bodyPr wrap="square" lIns="0" tIns="0" rIns="0" bIns="0" rtlCol="0" anchor="t"/>
          <a:lstStyle/>
          <a:p>
            <a:pPr indent="0" marL="0">
              <a:buNone/>
            </a:pPr>
            <a:r>
              <a:rPr lang="en-US" sz="950" dirty="0">
                <a:solidFill>
                  <a:schemeClr val="accent6"/>
                </a:solidFill>
              </a:rPr>
              <a:t>Sources: GFR 2017 (updated to 31 Jan 2026), Rule 149 and footnotes (OMs of 10 Jul 2024 and 18 Jul 2024); GeM GTC v1.29 (25 Mar 2026), cl. 3B(ix), 4(i)–(xii), 30; DoE OMs on Push Button Procurement, 6 Sep 2022 and 11 Jan 2023; Goods Manual June 2022, para 4.17. Bands not to scale.</a:t>
            </a:r>
            <a:endParaRPr lang="en-US" sz="950" dirty="0"/>
          </a:p>
        </p:txBody>
      </p:sp>
      <p:sp>
        <p:nvSpPr>
          <p:cNvPr id="6" name="PBP band"/>
          <p:cNvSpPr/>
          <p:nvPr/>
        </p:nvSpPr>
        <p:spPr>
          <a:xfrm>
            <a:off x="548640" y="1344168"/>
            <a:ext cx="5486400" cy="713232"/>
          </a:xfrm>
          <a:prstGeom prst="roundRect">
            <a:avLst>
              <a:gd name="adj" fmla="val 12821"/>
            </a:avLst>
          </a:prstGeom>
          <a:solidFill>
            <a:schemeClr val="accent4"/>
          </a:solidFill>
          <a:ln w="9525">
            <a:solidFill>
              <a:schemeClr val="accent2"/>
            </a:solidFill>
            <a:prstDash val="solid"/>
          </a:ln>
        </p:spPr>
      </p:sp>
      <p:sp>
        <p:nvSpPr>
          <p:cNvPr id="7" name="Text 4"/>
          <p:cNvSpPr txBox="1"/>
          <p:nvPr/>
        </p:nvSpPr>
        <p:spPr>
          <a:xfrm>
            <a:off x="713232" y="1344168"/>
            <a:ext cx="5212080" cy="713232"/>
          </a:xfrm>
          <a:prstGeom prst="rect">
            <a:avLst/>
          </a:prstGeom>
          <a:noFill/>
          <a:ln/>
        </p:spPr>
        <p:txBody>
          <a:bodyPr wrap="square" lIns="0" tIns="0" rIns="0" bIns="0" rtlCol="0" anchor="ctr"/>
          <a:lstStyle/>
          <a:p>
            <a:pPr indent="0" marL="0">
              <a:buNone/>
            </a:pPr>
            <a:r>
              <a:rPr lang="en-US" sz="1050" b="1" dirty="0">
                <a:solidFill>
                  <a:schemeClr val="accent2"/>
                </a:solidFill>
              </a:rPr>
              <a:t>Push Button Procurement (PBP), optional, up to ₹5 lakh  </a:t>
            </a:r>
            <a:endParaRPr lang="en-US" sz="1050" dirty="0"/>
          </a:p>
          <a:p>
            <a:pPr indent="0" marL="0">
              <a:buNone/>
            </a:pPr>
            <a:r>
              <a:rPr lang="en-US" sz="1050" dirty="0">
                <a:solidFill>
                  <a:schemeClr val="tx1"/>
                </a:solidFill>
              </a:rPr>
              <a:t>bids only · ≥5 offers from ≥2 manufacturers · category needs ≥10 sellers · 3-day notice, 10-day offer validity · system places the order</a:t>
            </a:r>
            <a:endParaRPr lang="en-US" sz="1050" dirty="0"/>
          </a:p>
        </p:txBody>
      </p:sp>
      <p:sp>
        <p:nvSpPr>
          <p:cNvPr id="8" name="Text 5"/>
          <p:cNvSpPr txBox="1"/>
          <p:nvPr/>
        </p:nvSpPr>
        <p:spPr>
          <a:xfrm>
            <a:off x="6172200" y="1344168"/>
            <a:ext cx="2743200" cy="713232"/>
          </a:xfrm>
          <a:prstGeom prst="rect">
            <a:avLst/>
          </a:prstGeom>
          <a:noFill/>
          <a:ln/>
        </p:spPr>
        <p:txBody>
          <a:bodyPr wrap="square" lIns="0" tIns="0" rIns="0" bIns="0" rtlCol="0" anchor="ctr"/>
          <a:lstStyle/>
          <a:p>
            <a:pPr indent="0" marL="0">
              <a:buNone/>
            </a:pPr>
            <a:r>
              <a:rPr lang="en-US" sz="1000" i="1" dirty="0">
                <a:solidFill>
                  <a:schemeClr val="accent6"/>
                </a:solidFill>
              </a:rPr>
              <a:t>← overlaps the first two bands</a:t>
            </a:r>
            <a:endParaRPr lang="en-US" sz="1000" dirty="0"/>
          </a:p>
        </p:txBody>
      </p:sp>
      <p:sp>
        <p:nvSpPr>
          <p:cNvPr id="9" name="Route 1"/>
          <p:cNvSpPr/>
          <p:nvPr/>
        </p:nvSpPr>
        <p:spPr>
          <a:xfrm>
            <a:off x="548640" y="2194560"/>
            <a:ext cx="3429000" cy="868680"/>
          </a:xfrm>
          <a:prstGeom prst="roundRect">
            <a:avLst>
              <a:gd name="adj" fmla="val 10526"/>
            </a:avLst>
          </a:prstGeom>
          <a:solidFill>
            <a:schemeClr val="accent5"/>
          </a:solidFill>
          <a:ln w="9525">
            <a:solidFill>
              <a:schemeClr val="accent3"/>
            </a:solidFill>
            <a:prstDash val="solid"/>
          </a:ln>
          <a:effectLst>
            <a:outerShdw sx="100000" sy="100000" kx="0" ky="0" algn="bl" rotWithShape="0" blurRad="127000" dist="25400" dir="5400000">
              <a:srgbClr val="6B4FA0">
                <a:alpha val="12000"/>
              </a:srgbClr>
            </a:outerShdw>
          </a:effectLst>
        </p:spPr>
      </p:sp>
      <p:sp>
        <p:nvSpPr>
          <p:cNvPr id="10" name="Text 7"/>
          <p:cNvSpPr txBox="1"/>
          <p:nvPr/>
        </p:nvSpPr>
        <p:spPr>
          <a:xfrm>
            <a:off x="731520" y="2194560"/>
            <a:ext cx="3108960" cy="86868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Direct purchase</a:t>
            </a:r>
            <a:endParaRPr lang="en-US" sz="1200" dirty="0"/>
          </a:p>
          <a:p>
            <a:pPr indent="0" marL="0">
              <a:buNone/>
            </a:pPr>
            <a:r>
              <a:rPr lang="en-US" sz="1100" dirty="0">
                <a:solidFill>
                  <a:schemeClr val="tx2"/>
                </a:solidFill>
              </a:rPr>
              <a:t>up to ₹50,000  ·  was ₹25,000</a:t>
            </a:r>
            <a:endParaRPr lang="en-US" sz="1200" dirty="0"/>
          </a:p>
        </p:txBody>
      </p:sp>
      <p:sp>
        <p:nvSpPr>
          <p:cNvPr id="11" name="Route 2"/>
          <p:cNvSpPr/>
          <p:nvPr/>
        </p:nvSpPr>
        <p:spPr>
          <a:xfrm>
            <a:off x="4069080" y="2194560"/>
            <a:ext cx="3703320" cy="868680"/>
          </a:xfrm>
          <a:prstGeom prst="roundRect">
            <a:avLst>
              <a:gd name="adj" fmla="val 10526"/>
            </a:avLst>
          </a:prstGeom>
          <a:solidFill>
            <a:schemeClr val="accent1"/>
          </a:solidFill>
          <a:ln w="9525">
            <a:solidFill>
              <a:schemeClr val="accent1"/>
            </a:solidFill>
            <a:prstDash val="solid"/>
          </a:ln>
          <a:effectLst>
            <a:outerShdw sx="100000" sy="100000" kx="0" ky="0" algn="bl" rotWithShape="0" blurRad="127000" dist="25400" dir="5400000">
              <a:srgbClr val="6B4FA0">
                <a:alpha val="12000"/>
              </a:srgbClr>
            </a:outerShdw>
          </a:effectLst>
        </p:spPr>
      </p:sp>
      <p:sp>
        <p:nvSpPr>
          <p:cNvPr id="12" name="Text 9"/>
          <p:cNvSpPr txBox="1"/>
          <p:nvPr/>
        </p:nvSpPr>
        <p:spPr>
          <a:xfrm>
            <a:off x="4251960" y="2194560"/>
            <a:ext cx="3383280" cy="868680"/>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Lowest-price (L1) purchase</a:t>
            </a:r>
            <a:endParaRPr lang="en-US" sz="1200" dirty="0"/>
          </a:p>
          <a:p>
            <a:pPr indent="0" marL="0">
              <a:buNone/>
            </a:pPr>
            <a:r>
              <a:rPr lang="en-US" sz="1100" dirty="0">
                <a:solidFill>
                  <a:schemeClr val="bg1"/>
                </a:solidFill>
              </a:rPr>
              <a:t>₹50,000 – ₹10 lakh  ·  was up to ₹5 lakh</a:t>
            </a:r>
            <a:endParaRPr lang="en-US" sz="1200" dirty="0"/>
          </a:p>
        </p:txBody>
      </p:sp>
      <p:sp>
        <p:nvSpPr>
          <p:cNvPr id="13" name="Route 3"/>
          <p:cNvSpPr/>
          <p:nvPr/>
        </p:nvSpPr>
        <p:spPr>
          <a:xfrm>
            <a:off x="7863840" y="2194560"/>
            <a:ext cx="3776472" cy="868680"/>
          </a:xfrm>
          <a:prstGeom prst="roundRect">
            <a:avLst>
              <a:gd name="adj" fmla="val 10526"/>
            </a:avLst>
          </a:prstGeom>
          <a:solidFill>
            <a:schemeClr val="tx2"/>
          </a:solidFill>
          <a:ln w="9525">
            <a:solidFill>
              <a:schemeClr val="tx2"/>
            </a:solidFill>
            <a:prstDash val="solid"/>
          </a:ln>
          <a:effectLst>
            <a:outerShdw sx="100000" sy="100000" kx="0" ky="0" algn="bl" rotWithShape="0" blurRad="127000" dist="25400" dir="5400000">
              <a:srgbClr val="6B4FA0">
                <a:alpha val="12000"/>
              </a:srgbClr>
            </a:outerShdw>
          </a:effectLst>
        </p:spPr>
      </p:sp>
      <p:sp>
        <p:nvSpPr>
          <p:cNvPr id="14" name="Text 11"/>
          <p:cNvSpPr txBox="1"/>
          <p:nvPr/>
        </p:nvSpPr>
        <p:spPr>
          <a:xfrm>
            <a:off x="8046720" y="2194560"/>
            <a:ext cx="3456432" cy="868680"/>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Bid / reverse auction</a:t>
            </a:r>
            <a:endParaRPr lang="en-US" sz="1200" dirty="0"/>
          </a:p>
          <a:p>
            <a:pPr indent="0" marL="0">
              <a:buNone/>
            </a:pPr>
            <a:r>
              <a:rPr lang="en-US" sz="1100" dirty="0">
                <a:solidFill>
                  <a:schemeClr val="bg1"/>
                </a:solidFill>
              </a:rPr>
              <a:t>above ₹10 lakh  ·  mandatory</a:t>
            </a:r>
            <a:endParaRPr lang="en-US" sz="1200" dirty="0"/>
          </a:p>
        </p:txBody>
      </p:sp>
      <p:sp>
        <p:nvSpPr>
          <p:cNvPr id="15" name="Text 12"/>
          <p:cNvSpPr txBox="1"/>
          <p:nvPr/>
        </p:nvSpPr>
        <p:spPr>
          <a:xfrm>
            <a:off x="621792" y="3172968"/>
            <a:ext cx="3282696" cy="128016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chemeClr val="tx1"/>
                </a:solidFill>
              </a:rPr>
              <a:t>Any available seller meeting quality, specification and delivery period</a:t>
            </a:r>
            <a:endParaRPr lang="en-US" sz="1050" dirty="0"/>
          </a:p>
          <a:p>
            <a:pPr marL="152400" indent="-152400">
              <a:spcAft>
                <a:spcPts val="300"/>
              </a:spcAft>
              <a:buSzPct val="100000"/>
              <a:buChar char="•"/>
            </a:pPr>
            <a:r>
              <a:rPr lang="en-US" sz="1050" dirty="0">
                <a:solidFill>
                  <a:schemeClr val="tx1"/>
                </a:solidFill>
              </a:rPr>
              <a:t>Buyer certifies the price is reasonable and records reasons if not ordering the cheapest</a:t>
            </a:r>
            <a:endParaRPr lang="en-US" sz="1050" dirty="0"/>
          </a:p>
          <a:p>
            <a:pPr marL="152400" indent="-152400">
              <a:spcAft>
                <a:spcPts val="300"/>
              </a:spcAft>
              <a:buSzPct val="100000"/>
              <a:buChar char="•"/>
            </a:pPr>
            <a:r>
              <a:rPr lang="en-US" sz="1050" dirty="0">
                <a:solidFill>
                  <a:schemeClr val="tx1"/>
                </a:solidFill>
              </a:rPr>
              <a:t>Automobiles: no ceiling</a:t>
            </a:r>
            <a:endParaRPr lang="en-US" sz="1050" dirty="0"/>
          </a:p>
        </p:txBody>
      </p:sp>
      <p:sp>
        <p:nvSpPr>
          <p:cNvPr id="16" name="Text 13"/>
          <p:cNvSpPr txBox="1"/>
          <p:nvPr/>
        </p:nvSpPr>
        <p:spPr>
          <a:xfrm>
            <a:off x="4142232" y="3172968"/>
            <a:ext cx="3557016" cy="128016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chemeClr val="tx1"/>
                </a:solidFill>
              </a:rPr>
              <a:t>Lowest price among sellers of at least 3 different Original Equipment Manufacturers (OEMs)</a:t>
            </a:r>
            <a:endParaRPr lang="en-US" sz="1050" dirty="0"/>
          </a:p>
          <a:p>
            <a:pPr marL="152400" indent="-152400">
              <a:spcAft>
                <a:spcPts val="300"/>
              </a:spcAft>
              <a:buSzPct val="100000"/>
              <a:buChar char="•"/>
            </a:pPr>
            <a:r>
              <a:rPr lang="en-US" sz="1050" dirty="0">
                <a:solidFill>
                  <a:schemeClr val="tx1"/>
                </a:solidFill>
              </a:rPr>
              <a:t>Online bid or Reverse Auction (RA) may also be used — bidding is GeM's preferred mode above ₹50,000</a:t>
            </a:r>
            <a:endParaRPr lang="en-US" sz="1050" dirty="0"/>
          </a:p>
        </p:txBody>
      </p:sp>
      <p:sp>
        <p:nvSpPr>
          <p:cNvPr id="17" name="Text 14"/>
          <p:cNvSpPr txBox="1"/>
          <p:nvPr/>
        </p:nvSpPr>
        <p:spPr>
          <a:xfrm>
            <a:off x="7936992" y="3172968"/>
            <a:ext cx="3630168" cy="128016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chemeClr val="tx1"/>
                </a:solidFill>
              </a:rPr>
              <a:t>e-Bid, RA or Bid-to-RA, open to every seller in the category</a:t>
            </a:r>
            <a:endParaRPr lang="en-US" sz="1050" dirty="0"/>
          </a:p>
          <a:p>
            <a:pPr marL="152400" indent="-152400">
              <a:spcAft>
                <a:spcPts val="300"/>
              </a:spcAft>
              <a:buSzPct val="100000"/>
              <a:buChar char="•"/>
            </a:pPr>
            <a:r>
              <a:rPr lang="en-US" sz="1050" dirty="0">
                <a:solidFill>
                  <a:schemeClr val="tx1"/>
                </a:solidFill>
              </a:rPr>
              <a:t>Award to the lowest price meeting quality, specification and delivery period</a:t>
            </a:r>
            <a:endParaRPr lang="en-US" sz="1050" dirty="0"/>
          </a:p>
        </p:txBody>
      </p:sp>
      <p:sp>
        <p:nvSpPr>
          <p:cNvPr id="18" name="Specific make needed?"/>
          <p:cNvSpPr/>
          <p:nvPr/>
        </p:nvSpPr>
        <p:spPr>
          <a:xfrm>
            <a:off x="548640" y="4526280"/>
            <a:ext cx="3429000" cy="1627632"/>
          </a:xfrm>
          <a:prstGeom prst="roundRect">
            <a:avLst>
              <a:gd name="adj" fmla="val 5618"/>
            </a:avLst>
          </a:prstGeom>
          <a:solidFill>
            <a:schemeClr val="accent5"/>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19" name="Text 16"/>
          <p:cNvSpPr txBox="1"/>
          <p:nvPr/>
        </p:nvSpPr>
        <p:spPr>
          <a:xfrm>
            <a:off x="713232" y="4599432"/>
            <a:ext cx="3154680" cy="274320"/>
          </a:xfrm>
          <a:prstGeom prst="rect">
            <a:avLst/>
          </a:prstGeom>
          <a:noFill/>
          <a:ln/>
        </p:spPr>
        <p:txBody>
          <a:bodyPr wrap="square" lIns="0" tIns="0" rIns="0" bIns="0" rtlCol="0" anchor="ctr"/>
          <a:lstStyle/>
          <a:p>
            <a:pPr indent="0" marL="0">
              <a:buNone/>
            </a:pPr>
            <a:r>
              <a:rPr lang="en-US" sz="1300" b="1" dirty="0">
                <a:solidFill>
                  <a:schemeClr val="accent1"/>
                </a:solidFill>
              </a:rPr>
              <a:t>Specific make needed?</a:t>
            </a:r>
            <a:endParaRPr lang="en-US" sz="1300" dirty="0"/>
          </a:p>
        </p:txBody>
      </p:sp>
      <p:sp>
        <p:nvSpPr>
          <p:cNvPr id="20" name="Text 17"/>
          <p:cNvSpPr txBox="1"/>
          <p:nvPr/>
        </p:nvSpPr>
        <p:spPr>
          <a:xfrm>
            <a:off x="713232" y="4901184"/>
            <a:ext cx="3136392" cy="1216152"/>
          </a:xfrm>
          <a:prstGeom prst="rect">
            <a:avLst/>
          </a:prstGeom>
          <a:noFill/>
          <a:ln/>
        </p:spPr>
        <p:txBody>
          <a:bodyPr wrap="square" lIns="0" tIns="0" rIns="0" bIns="0" rtlCol="0" anchor="t"/>
          <a:lstStyle/>
          <a:p>
            <a:pPr marL="152400" indent="-152400">
              <a:spcAft>
                <a:spcPts val="200"/>
              </a:spcAft>
              <a:buSzPct val="100000"/>
              <a:buChar char="•"/>
            </a:pPr>
            <a:r>
              <a:rPr lang="en-US" sz="1050" dirty="0">
                <a:solidFill>
                  <a:schemeClr val="tx1"/>
                </a:solidFill>
              </a:rPr>
              <a:t>Proprietary Article Certificate (PAC) buying, approved under Rule 166</a:t>
            </a:r>
            <a:endParaRPr lang="en-US" sz="1050" dirty="0"/>
          </a:p>
          <a:p>
            <a:pPr marL="152400" indent="-152400">
              <a:spcAft>
                <a:spcPts val="200"/>
              </a:spcAft>
              <a:buSzPct val="100000"/>
              <a:buChar char="•"/>
            </a:pPr>
            <a:r>
              <a:rPr lang="en-US" sz="1050" dirty="0">
                <a:solidFill>
                  <a:schemeClr val="tx1"/>
                </a:solidFill>
              </a:rPr>
              <a:t>Bidding still mandatory above ₹50,000</a:t>
            </a:r>
            <a:endParaRPr lang="en-US" sz="1050" dirty="0"/>
          </a:p>
          <a:p>
            <a:pPr marL="152400" indent="-152400">
              <a:spcAft>
                <a:spcPts val="200"/>
              </a:spcAft>
              <a:buSzPct val="100000"/>
              <a:buChar char="•"/>
            </a:pPr>
            <a:r>
              <a:rPr lang="en-US" sz="1050" dirty="0">
                <a:solidFill>
                  <a:schemeClr val="tx1"/>
                </a:solidFill>
              </a:rPr>
              <a:t>Extra price checks: the OEM controls price</a:t>
            </a:r>
            <a:endParaRPr lang="en-US" sz="1050" dirty="0"/>
          </a:p>
        </p:txBody>
      </p:sp>
      <p:sp>
        <p:nvSpPr>
          <p:cNvPr id="21" name="Hard rules"/>
          <p:cNvSpPr/>
          <p:nvPr/>
        </p:nvSpPr>
        <p:spPr>
          <a:xfrm>
            <a:off x="4069080" y="4526280"/>
            <a:ext cx="3703320" cy="1627632"/>
          </a:xfrm>
          <a:prstGeom prst="roundRect">
            <a:avLst>
              <a:gd name="adj" fmla="val 5618"/>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22" name="Text 19"/>
          <p:cNvSpPr txBox="1"/>
          <p:nvPr/>
        </p:nvSpPr>
        <p:spPr>
          <a:xfrm>
            <a:off x="4233672" y="4599432"/>
            <a:ext cx="3429000" cy="274320"/>
          </a:xfrm>
          <a:prstGeom prst="rect">
            <a:avLst/>
          </a:prstGeom>
          <a:noFill/>
          <a:ln/>
        </p:spPr>
        <p:txBody>
          <a:bodyPr wrap="square" lIns="0" tIns="0" rIns="0" bIns="0" rtlCol="0" anchor="ctr"/>
          <a:lstStyle/>
          <a:p>
            <a:pPr indent="0" marL="0">
              <a:buNone/>
            </a:pPr>
            <a:r>
              <a:rPr lang="en-US" sz="1300" b="1" dirty="0">
                <a:solidFill>
                  <a:schemeClr val="accent1"/>
                </a:solidFill>
              </a:rPr>
              <a:t>Hard rules</a:t>
            </a:r>
            <a:endParaRPr lang="en-US" sz="1300" dirty="0"/>
          </a:p>
        </p:txBody>
      </p:sp>
      <p:sp>
        <p:nvSpPr>
          <p:cNvPr id="23" name="Text 20"/>
          <p:cNvSpPr txBox="1"/>
          <p:nvPr/>
        </p:nvSpPr>
        <p:spPr>
          <a:xfrm>
            <a:off x="4233672" y="4901184"/>
            <a:ext cx="3410712" cy="1216152"/>
          </a:xfrm>
          <a:prstGeom prst="rect">
            <a:avLst/>
          </a:prstGeom>
          <a:noFill/>
          <a:ln/>
        </p:spPr>
        <p:txBody>
          <a:bodyPr wrap="square" lIns="0" tIns="0" rIns="0" bIns="0" rtlCol="0" anchor="t"/>
          <a:lstStyle/>
          <a:p>
            <a:pPr marL="152400" indent="-152400">
              <a:spcAft>
                <a:spcPts val="200"/>
              </a:spcAft>
              <a:buSzPct val="100000"/>
              <a:buChar char="•"/>
            </a:pPr>
            <a:r>
              <a:rPr lang="en-US" sz="1050" dirty="0">
                <a:solidFill>
                  <a:schemeClr val="tx1"/>
                </a:solidFill>
              </a:rPr>
              <a:t>No splitting demand to dodge a threshold (Rule 149(viii))</a:t>
            </a:r>
            <a:endParaRPr lang="en-US" sz="1050" dirty="0"/>
          </a:p>
          <a:p>
            <a:pPr marL="152400" indent="-152400">
              <a:spcAft>
                <a:spcPts val="200"/>
              </a:spcAft>
              <a:buSzPct val="100000"/>
              <a:buChar char="•"/>
            </a:pPr>
            <a:r>
              <a:rPr lang="en-US" sz="1050" dirty="0">
                <a:solidFill>
                  <a:schemeClr val="tx1"/>
                </a:solidFill>
              </a:rPr>
              <a:t>No using GeM prices for orders outside GeM</a:t>
            </a:r>
            <a:endParaRPr lang="en-US" sz="1050" dirty="0"/>
          </a:p>
          <a:p>
            <a:pPr marL="152400" indent="-152400">
              <a:spcAft>
                <a:spcPts val="200"/>
              </a:spcAft>
              <a:buSzPct val="100000"/>
              <a:buChar char="•"/>
            </a:pPr>
            <a:r>
              <a:rPr lang="en-US" sz="1050" dirty="0">
                <a:solidFill>
                  <a:schemeClr val="tx1"/>
                </a:solidFill>
              </a:rPr>
              <a:t>No buying when only one offer or seller exists (PAC excepted)</a:t>
            </a:r>
            <a:endParaRPr lang="en-US" sz="1050" dirty="0"/>
          </a:p>
          <a:p>
            <a:pPr marL="152400" indent="-152400">
              <a:spcAft>
                <a:spcPts val="200"/>
              </a:spcAft>
              <a:buSzPct val="100000"/>
              <a:buChar char="•"/>
            </a:pPr>
            <a:r>
              <a:rPr lang="en-US" sz="1050" dirty="0">
                <a:solidFill>
                  <a:schemeClr val="tx1"/>
                </a:solidFill>
              </a:rPr>
              <a:t>Buyer establishes the price is reasonable (Rule 149(vii))</a:t>
            </a:r>
            <a:endParaRPr lang="en-US" sz="1050" dirty="0"/>
          </a:p>
        </p:txBody>
      </p:sp>
      <p:sp>
        <p:nvSpPr>
          <p:cNvPr id="24" name="Good to know"/>
          <p:cNvSpPr/>
          <p:nvPr/>
        </p:nvSpPr>
        <p:spPr>
          <a:xfrm>
            <a:off x="7863840" y="4526280"/>
            <a:ext cx="3776472" cy="1627632"/>
          </a:xfrm>
          <a:prstGeom prst="roundRect">
            <a:avLst>
              <a:gd name="adj" fmla="val 5618"/>
            </a:avLst>
          </a:prstGeom>
          <a:solidFill>
            <a:schemeClr val="accent4"/>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25" name="Text 22"/>
          <p:cNvSpPr txBox="1"/>
          <p:nvPr/>
        </p:nvSpPr>
        <p:spPr>
          <a:xfrm>
            <a:off x="8028432" y="4599432"/>
            <a:ext cx="3502152" cy="274320"/>
          </a:xfrm>
          <a:prstGeom prst="rect">
            <a:avLst/>
          </a:prstGeom>
          <a:noFill/>
          <a:ln/>
        </p:spPr>
        <p:txBody>
          <a:bodyPr wrap="square" lIns="0" tIns="0" rIns="0" bIns="0" rtlCol="0" anchor="ctr"/>
          <a:lstStyle/>
          <a:p>
            <a:pPr indent="0" marL="0">
              <a:buNone/>
            </a:pPr>
            <a:r>
              <a:rPr lang="en-US" sz="1300" b="1" dirty="0">
                <a:solidFill>
                  <a:schemeClr val="accent1"/>
                </a:solidFill>
              </a:rPr>
              <a:t>Good to know</a:t>
            </a:r>
            <a:endParaRPr lang="en-US" sz="1300" dirty="0"/>
          </a:p>
        </p:txBody>
      </p:sp>
      <p:sp>
        <p:nvSpPr>
          <p:cNvPr id="26" name="Text 23"/>
          <p:cNvSpPr txBox="1"/>
          <p:nvPr/>
        </p:nvSpPr>
        <p:spPr>
          <a:xfrm>
            <a:off x="8028432" y="4901184"/>
            <a:ext cx="3483864" cy="1216152"/>
          </a:xfrm>
          <a:prstGeom prst="rect">
            <a:avLst/>
          </a:prstGeom>
          <a:noFill/>
          <a:ln/>
        </p:spPr>
        <p:txBody>
          <a:bodyPr wrap="square" lIns="0" tIns="0" rIns="0" bIns="0" rtlCol="0" anchor="t"/>
          <a:lstStyle/>
          <a:p>
            <a:pPr marL="152400" indent="-152400">
              <a:spcAft>
                <a:spcPts val="200"/>
              </a:spcAft>
              <a:buSzPct val="100000"/>
              <a:buChar char="•"/>
            </a:pPr>
            <a:r>
              <a:rPr lang="en-US" sz="1050" dirty="0">
                <a:solidFill>
                  <a:schemeClr val="tx1"/>
                </a:solidFill>
              </a:rPr>
              <a:t>Scientific ministries: direct up to ₹1 lakh; L1 from ₹1 lakh to ₹10 lakh</a:t>
            </a:r>
            <a:endParaRPr lang="en-US" sz="1050" dirty="0"/>
          </a:p>
          <a:p>
            <a:pPr marL="152400" indent="-152400">
              <a:spcAft>
                <a:spcPts val="200"/>
              </a:spcAft>
              <a:buSzPct val="100000"/>
              <a:buChar char="•"/>
            </a:pPr>
            <a:r>
              <a:rPr lang="en-US" sz="1050" dirty="0">
                <a:solidFill>
                  <a:schemeClr val="tx1"/>
                </a:solidFill>
              </a:rPr>
              <a:t>Carted prices frozen against increases; decreases pass to the buyer</a:t>
            </a:r>
            <a:endParaRPr lang="en-US" sz="1050" dirty="0"/>
          </a:p>
          <a:p>
            <a:pPr marL="152400" indent="-152400">
              <a:spcAft>
                <a:spcPts val="200"/>
              </a:spcAft>
              <a:buSzPct val="100000"/>
              <a:buChar char="•"/>
            </a:pPr>
            <a:r>
              <a:rPr lang="en-US" sz="1050" dirty="0">
                <a:solidFill>
                  <a:schemeClr val="tx1"/>
                </a:solidFill>
              </a:rPr>
              <a:t>Business Analytics: last purchase price, market comparisons</a:t>
            </a:r>
            <a:endParaRPr lang="en-US" sz="1050" dirty="0"/>
          </a:p>
        </p:txBody>
      </p:sp>
      <p:sp>
        <p:nvSpPr>
          <p:cNvPr id="25" name="Slide Number Placeholder 0"/>
          <p:cNvSpPr>
            <a:spLocks noGrp="1"/>
          </p:cNvSpPr>
          <p:nvPr>
            <p:ph type="sldNum" sz="quarter" idx="4294967295"/>
          </p:nvPr>
        </p:nvSpPr>
        <p:spPr>
          <a:xfrm>
            <a:off x="11183112"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886968" y="283464"/>
            <a:ext cx="1069848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PART 3  ·  THE BIDDING PROCESS</a:t>
            </a:r>
            <a:endParaRPr lang="en-US" sz="1100" dirty="0"/>
          </a:p>
        </p:txBody>
      </p:sp>
      <p:sp>
        <p:nvSpPr>
          <p:cNvPr id="3" name="Text 0"/>
          <p:cNvSpPr/>
          <p:nvPr>
            <p:ph idx="102" type="title" hasCustomPrompt="1"/>
          </p:nvPr>
        </p:nvSpPr>
        <p:spPr>
          <a:xfrm>
            <a:off x="548640" y="603504"/>
            <a:ext cx="11064240" cy="603504"/>
          </a:xfrm>
          <a:prstGeom prst="rect">
            <a:avLst/>
          </a:prstGeom>
          <a:noFill/>
          <a:ln/>
        </p:spPr>
        <p:txBody>
          <a:bodyPr wrap="square" lIns="0" tIns="0" rIns="0" bIns="0" rtlCol="0" anchor="ctr"/>
          <a:lstStyle/>
          <a:p>
            <a:pPr algn="l" indent="0" marL="0">
              <a:buNone/>
            </a:pPr>
            <a:r>
              <a:rPr lang="en-US" sz="3000" b="1" dirty="0">
                <a:solidFill>
                  <a:schemeClr val="tx2"/>
                </a:solidFill>
              </a:rPr>
              <a:t>Bid lifecycle on GeM, from creation to payment</a:t>
            </a:r>
            <a:endParaRPr lang="en-US" sz="3000" dirty="0"/>
          </a:p>
        </p:txBody>
      </p:sp>
      <p:sp>
        <p:nvSpPr>
          <p:cNvPr id="4" name="Text 0"/>
          <p:cNvSpPr/>
          <p:nvPr>
            <p:ph idx="103" type="body" hasCustomPrompt="1"/>
          </p:nvPr>
        </p:nvSpPr>
        <p:spPr>
          <a:xfrm>
            <a:off x="548640" y="6291072"/>
            <a:ext cx="10424160" cy="411480"/>
          </a:xfrm>
          <a:prstGeom prst="rect">
            <a:avLst/>
          </a:prstGeom>
          <a:noFill/>
          <a:ln/>
        </p:spPr>
        <p:txBody>
          <a:bodyPr wrap="square" lIns="0" tIns="0" rIns="0" bIns="0" rtlCol="0" anchor="t"/>
          <a:lstStyle/>
          <a:p>
            <a:pPr indent="0" marL="0">
              <a:buNone/>
            </a:pPr>
            <a:r>
              <a:rPr lang="en-US" sz="950" dirty="0">
                <a:solidFill>
                  <a:schemeClr val="accent6"/>
                </a:solidFill>
              </a:rPr>
              <a:t>Sources: GeM GTC v1.29 (25 Mar 2026), cl. 3B, 4(xiii), 5–8, 10–15; GFR 2017, Rules 149, 170, 171; Goods Manual 2024, para 4.17.2 and Annexure 36 (GeM payment and receipt procedures).</a:t>
            </a:r>
            <a:endParaRPr lang="en-US" sz="950" dirty="0"/>
          </a:p>
        </p:txBody>
      </p:sp>
      <p:sp>
        <p:nvSpPr>
          <p:cNvPr id="6" name="Step 1"/>
          <p:cNvSpPr/>
          <p:nvPr/>
        </p:nvSpPr>
        <p:spPr>
          <a:xfrm>
            <a:off x="548640" y="1371600"/>
            <a:ext cx="2633472" cy="2286000"/>
          </a:xfrm>
          <a:prstGeom prst="roundRect">
            <a:avLst>
              <a:gd name="adj" fmla="val 4000"/>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7" name="Marker 1"/>
          <p:cNvSpPr/>
          <p:nvPr/>
        </p:nvSpPr>
        <p:spPr>
          <a:xfrm>
            <a:off x="694944" y="1508760"/>
            <a:ext cx="402336" cy="402336"/>
          </a:xfrm>
          <a:prstGeom prst="diamond">
            <a:avLst/>
          </a:prstGeom>
          <a:solidFill>
            <a:schemeClr val="accent2"/>
          </a:solidFill>
          <a:ln w="12700">
            <a:solidFill>
              <a:schemeClr val="bg1"/>
            </a:solidFill>
            <a:prstDash val="solid"/>
          </a:ln>
        </p:spPr>
      </p:sp>
      <p:sp>
        <p:nvSpPr>
          <p:cNvPr id="8" name="Text 5"/>
          <p:cNvSpPr txBox="1"/>
          <p:nvPr/>
        </p:nvSpPr>
        <p:spPr>
          <a:xfrm>
            <a:off x="694944" y="150876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6"/>
          <p:cNvSpPr txBox="1"/>
          <p:nvPr/>
        </p:nvSpPr>
        <p:spPr>
          <a:xfrm>
            <a:off x="1188720" y="1508760"/>
            <a:ext cx="1883664" cy="402336"/>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Prepare</a:t>
            </a:r>
            <a:endParaRPr lang="en-US" sz="1400" dirty="0"/>
          </a:p>
        </p:txBody>
      </p:sp>
      <p:sp>
        <p:nvSpPr>
          <p:cNvPr id="10" name="Text 7"/>
          <p:cNvSpPr txBox="1"/>
          <p:nvPr/>
        </p:nvSpPr>
        <p:spPr>
          <a:xfrm>
            <a:off x="704088" y="2011680"/>
            <a:ext cx="2340864" cy="1554480"/>
          </a:xfrm>
          <a:prstGeom prst="rect">
            <a:avLst/>
          </a:prstGeom>
          <a:noFill/>
          <a:ln/>
        </p:spPr>
        <p:txBody>
          <a:bodyPr wrap="square" lIns="0" tIns="0" rIns="0" bIns="0" rtlCol="0" anchor="t"/>
          <a:lstStyle/>
          <a:p>
            <a:pPr indent="0" marL="0">
              <a:buNone/>
            </a:pPr>
            <a:r>
              <a:rPr lang="en-US" sz="1150" dirty="0">
                <a:solidFill>
                  <a:schemeClr val="tx1"/>
                </a:solidFill>
              </a:rPr>
              <a:t>Approved need, administrative and financial sanction, funds. The Primary User (Deputy Secretary level or Head of Office) registers the organisation and assigns roles: Buyer, Consignee, Paying Authority. The Primary User cannot transact.</a:t>
            </a:r>
            <a:endParaRPr lang="en-US" sz="1150" dirty="0"/>
          </a:p>
        </p:txBody>
      </p:sp>
      <p:sp>
        <p:nvSpPr>
          <p:cNvPr id="11" name="Text 8"/>
          <p:cNvSpPr txBox="1"/>
          <p:nvPr/>
        </p:nvSpPr>
        <p:spPr>
          <a:xfrm>
            <a:off x="3163824" y="1481328"/>
            <a:ext cx="219456" cy="4572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12" name="Step 2"/>
          <p:cNvSpPr/>
          <p:nvPr/>
        </p:nvSpPr>
        <p:spPr>
          <a:xfrm>
            <a:off x="3364992" y="1371600"/>
            <a:ext cx="2633472" cy="2286000"/>
          </a:xfrm>
          <a:prstGeom prst="roundRect">
            <a:avLst>
              <a:gd name="adj" fmla="val 4000"/>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13" name="Marker 2"/>
          <p:cNvSpPr/>
          <p:nvPr/>
        </p:nvSpPr>
        <p:spPr>
          <a:xfrm>
            <a:off x="3511296" y="1508760"/>
            <a:ext cx="402336" cy="402336"/>
          </a:xfrm>
          <a:prstGeom prst="diamond">
            <a:avLst/>
          </a:prstGeom>
          <a:solidFill>
            <a:schemeClr val="accent2"/>
          </a:solidFill>
          <a:ln w="12700">
            <a:solidFill>
              <a:schemeClr val="bg1"/>
            </a:solidFill>
            <a:prstDash val="solid"/>
          </a:ln>
        </p:spPr>
      </p:sp>
      <p:sp>
        <p:nvSpPr>
          <p:cNvPr id="14" name="Text 11"/>
          <p:cNvSpPr txBox="1"/>
          <p:nvPr/>
        </p:nvSpPr>
        <p:spPr>
          <a:xfrm>
            <a:off x="3511296" y="150876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5" name="Text 12"/>
          <p:cNvSpPr txBox="1"/>
          <p:nvPr/>
        </p:nvSpPr>
        <p:spPr>
          <a:xfrm>
            <a:off x="4005072" y="1508760"/>
            <a:ext cx="1883664" cy="402336"/>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Create the bid</a:t>
            </a:r>
            <a:endParaRPr lang="en-US" sz="1400" dirty="0"/>
          </a:p>
        </p:txBody>
      </p:sp>
      <p:sp>
        <p:nvSpPr>
          <p:cNvPr id="16" name="Text 13"/>
          <p:cNvSpPr txBox="1"/>
          <p:nvPr/>
        </p:nvSpPr>
        <p:spPr>
          <a:xfrm>
            <a:off x="3520440" y="2011680"/>
            <a:ext cx="2340864" cy="1554480"/>
          </a:xfrm>
          <a:prstGeom prst="rect">
            <a:avLst/>
          </a:prstGeom>
          <a:noFill/>
          <a:ln/>
        </p:spPr>
        <p:txBody>
          <a:bodyPr wrap="square" lIns="0" tIns="0" rIns="0" bIns="0" rtlCol="0" anchor="t"/>
          <a:lstStyle/>
          <a:p>
            <a:pPr indent="0" marL="0">
              <a:buNone/>
            </a:pPr>
            <a:r>
              <a:rPr lang="en-US" sz="1150" dirty="0">
                <a:solidFill>
                  <a:schemeClr val="tx1"/>
                </a:solidFill>
              </a:rPr>
              <a:t>Category and specification via GeM filters; quantity, consignees, delivery period, securities, dates, validity. Choose L1 or Bid-to-RA, any bid splitting, and the dispute method. Extra terms only from the ATC library or the Request Management System.</a:t>
            </a:r>
            <a:endParaRPr lang="en-US" sz="1150" dirty="0"/>
          </a:p>
        </p:txBody>
      </p:sp>
      <p:sp>
        <p:nvSpPr>
          <p:cNvPr id="17" name="Text 14"/>
          <p:cNvSpPr txBox="1"/>
          <p:nvPr/>
        </p:nvSpPr>
        <p:spPr>
          <a:xfrm>
            <a:off x="5980176" y="1481328"/>
            <a:ext cx="219456" cy="4572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18" name="Step 3"/>
          <p:cNvSpPr/>
          <p:nvPr/>
        </p:nvSpPr>
        <p:spPr>
          <a:xfrm>
            <a:off x="6181344" y="1371600"/>
            <a:ext cx="2633472" cy="2286000"/>
          </a:xfrm>
          <a:prstGeom prst="roundRect">
            <a:avLst>
              <a:gd name="adj" fmla="val 4000"/>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19" name="Marker 3"/>
          <p:cNvSpPr/>
          <p:nvPr/>
        </p:nvSpPr>
        <p:spPr>
          <a:xfrm>
            <a:off x="6327648" y="1508760"/>
            <a:ext cx="402336" cy="402336"/>
          </a:xfrm>
          <a:prstGeom prst="diamond">
            <a:avLst/>
          </a:prstGeom>
          <a:solidFill>
            <a:schemeClr val="accent2"/>
          </a:solidFill>
          <a:ln w="12700">
            <a:solidFill>
              <a:schemeClr val="bg1"/>
            </a:solidFill>
            <a:prstDash val="solid"/>
          </a:ln>
        </p:spPr>
      </p:sp>
      <p:sp>
        <p:nvSpPr>
          <p:cNvPr id="20" name="Text 17"/>
          <p:cNvSpPr txBox="1"/>
          <p:nvPr/>
        </p:nvSpPr>
        <p:spPr>
          <a:xfrm>
            <a:off x="6327648" y="150876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1" name="Text 18"/>
          <p:cNvSpPr txBox="1"/>
          <p:nvPr/>
        </p:nvSpPr>
        <p:spPr>
          <a:xfrm>
            <a:off x="6821424" y="1508760"/>
            <a:ext cx="1883664" cy="402336"/>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Publish</a:t>
            </a:r>
            <a:endParaRPr lang="en-US" sz="1400" dirty="0"/>
          </a:p>
        </p:txBody>
      </p:sp>
      <p:sp>
        <p:nvSpPr>
          <p:cNvPr id="22" name="Text 19"/>
          <p:cNvSpPr txBox="1"/>
          <p:nvPr/>
        </p:nvSpPr>
        <p:spPr>
          <a:xfrm>
            <a:off x="6336792" y="2011680"/>
            <a:ext cx="2340864" cy="1554480"/>
          </a:xfrm>
          <a:prstGeom prst="rect">
            <a:avLst/>
          </a:prstGeom>
          <a:noFill/>
          <a:ln/>
        </p:spPr>
        <p:txBody>
          <a:bodyPr wrap="square" lIns="0" tIns="0" rIns="0" bIns="0" rtlCol="0" anchor="t"/>
          <a:lstStyle/>
          <a:p>
            <a:pPr indent="0" marL="0">
              <a:buNone/>
            </a:pPr>
            <a:r>
              <a:rPr lang="en-US" sz="1150" dirty="0">
                <a:solidFill>
                  <a:schemeClr val="tx1"/>
                </a:solidFill>
              </a:rPr>
              <a:t>At least 10 clear days to the deadline. The invitation reaches every seller listed in the category. Corrigenda are issued online; the buyer may postpone or cancel.</a:t>
            </a:r>
            <a:endParaRPr lang="en-US" sz="1150" dirty="0"/>
          </a:p>
        </p:txBody>
      </p:sp>
      <p:sp>
        <p:nvSpPr>
          <p:cNvPr id="23" name="Text 20"/>
          <p:cNvSpPr txBox="1"/>
          <p:nvPr/>
        </p:nvSpPr>
        <p:spPr>
          <a:xfrm>
            <a:off x="8796528" y="1481328"/>
            <a:ext cx="219456" cy="4572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24" name="Step 4"/>
          <p:cNvSpPr/>
          <p:nvPr/>
        </p:nvSpPr>
        <p:spPr>
          <a:xfrm>
            <a:off x="8997696" y="1371600"/>
            <a:ext cx="2633472" cy="2286000"/>
          </a:xfrm>
          <a:prstGeom prst="roundRect">
            <a:avLst>
              <a:gd name="adj" fmla="val 4000"/>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25" name="Marker 4"/>
          <p:cNvSpPr/>
          <p:nvPr/>
        </p:nvSpPr>
        <p:spPr>
          <a:xfrm>
            <a:off x="9144000" y="1508760"/>
            <a:ext cx="402336" cy="402336"/>
          </a:xfrm>
          <a:prstGeom prst="diamond">
            <a:avLst/>
          </a:prstGeom>
          <a:solidFill>
            <a:schemeClr val="accent2"/>
          </a:solidFill>
          <a:ln w="12700">
            <a:solidFill>
              <a:schemeClr val="bg1"/>
            </a:solidFill>
            <a:prstDash val="solid"/>
          </a:ln>
        </p:spPr>
      </p:sp>
      <p:sp>
        <p:nvSpPr>
          <p:cNvPr id="26" name="Text 23"/>
          <p:cNvSpPr txBox="1"/>
          <p:nvPr/>
        </p:nvSpPr>
        <p:spPr>
          <a:xfrm>
            <a:off x="9144000" y="150876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7" name="Text 24"/>
          <p:cNvSpPr txBox="1"/>
          <p:nvPr/>
        </p:nvSpPr>
        <p:spPr>
          <a:xfrm>
            <a:off x="9637776" y="1508760"/>
            <a:ext cx="1883664" cy="402336"/>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Bid security</a:t>
            </a:r>
            <a:endParaRPr lang="en-US" sz="1400" dirty="0"/>
          </a:p>
        </p:txBody>
      </p:sp>
      <p:sp>
        <p:nvSpPr>
          <p:cNvPr id="28" name="Text 25"/>
          <p:cNvSpPr txBox="1"/>
          <p:nvPr/>
        </p:nvSpPr>
        <p:spPr>
          <a:xfrm>
            <a:off x="9153144" y="2011680"/>
            <a:ext cx="2340864" cy="1554480"/>
          </a:xfrm>
          <a:prstGeom prst="rect">
            <a:avLst/>
          </a:prstGeom>
          <a:noFill/>
          <a:ln/>
        </p:spPr>
        <p:txBody>
          <a:bodyPr wrap="square" lIns="0" tIns="0" rIns="0" bIns="0" rtlCol="0" anchor="t"/>
          <a:lstStyle/>
          <a:p>
            <a:pPr indent="0" marL="0">
              <a:buNone/>
            </a:pPr>
            <a:r>
              <a:rPr lang="en-US" sz="1150" dirty="0">
                <a:solidFill>
                  <a:schemeClr val="tx1"/>
                </a:solidFill>
              </a:rPr>
              <a:t>Earnest Money Deposit (EMD): none below ₹5 lakh. Above: 1% recommended (0.5–5%), valid 45 days past bid validity. Exempt: MSEs, recognised startups, vendor-assessed sellers, standards-licence holders, public sector undertakings.</a:t>
            </a:r>
            <a:endParaRPr lang="en-US" sz="1150" dirty="0"/>
          </a:p>
        </p:txBody>
      </p:sp>
      <p:sp>
        <p:nvSpPr>
          <p:cNvPr id="29" name="Step 5"/>
          <p:cNvSpPr/>
          <p:nvPr/>
        </p:nvSpPr>
        <p:spPr>
          <a:xfrm>
            <a:off x="548640" y="3822192"/>
            <a:ext cx="2633472" cy="2286000"/>
          </a:xfrm>
          <a:prstGeom prst="roundRect">
            <a:avLst>
              <a:gd name="adj" fmla="val 4000"/>
            </a:avLst>
          </a:prstGeom>
          <a:solidFill>
            <a:schemeClr val="accent5"/>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30" name="Marker 5"/>
          <p:cNvSpPr/>
          <p:nvPr/>
        </p:nvSpPr>
        <p:spPr>
          <a:xfrm>
            <a:off x="694944" y="3959352"/>
            <a:ext cx="402336" cy="402336"/>
          </a:xfrm>
          <a:prstGeom prst="diamond">
            <a:avLst/>
          </a:prstGeom>
          <a:solidFill>
            <a:schemeClr val="accent2"/>
          </a:solidFill>
          <a:ln w="12700">
            <a:solidFill>
              <a:schemeClr val="bg1"/>
            </a:solidFill>
            <a:prstDash val="solid"/>
          </a:ln>
        </p:spPr>
      </p:sp>
      <p:sp>
        <p:nvSpPr>
          <p:cNvPr id="31" name="Text 28"/>
          <p:cNvSpPr txBox="1"/>
          <p:nvPr/>
        </p:nvSpPr>
        <p:spPr>
          <a:xfrm>
            <a:off x="694944" y="395935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2" name="Text 29"/>
          <p:cNvSpPr txBox="1"/>
          <p:nvPr/>
        </p:nvSpPr>
        <p:spPr>
          <a:xfrm>
            <a:off x="1188720" y="3959352"/>
            <a:ext cx="1883664" cy="402336"/>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Evaluate</a:t>
            </a:r>
            <a:endParaRPr lang="en-US" sz="1400" dirty="0"/>
          </a:p>
        </p:txBody>
      </p:sp>
      <p:sp>
        <p:nvSpPr>
          <p:cNvPr id="33" name="Text 30"/>
          <p:cNvSpPr txBox="1"/>
          <p:nvPr/>
        </p:nvSpPr>
        <p:spPr>
          <a:xfrm>
            <a:off x="704088" y="4462272"/>
            <a:ext cx="2340864" cy="1554480"/>
          </a:xfrm>
          <a:prstGeom prst="rect">
            <a:avLst/>
          </a:prstGeom>
          <a:noFill/>
          <a:ln/>
        </p:spPr>
        <p:txBody>
          <a:bodyPr wrap="square" lIns="0" tIns="0" rIns="0" bIns="0" rtlCol="0" anchor="t"/>
          <a:lstStyle/>
          <a:p>
            <a:pPr indent="0" marL="0">
              <a:buNone/>
            </a:pPr>
            <a:r>
              <a:rPr lang="en-US" sz="1150" dirty="0">
                <a:solidFill>
                  <a:schemeClr val="tx1"/>
                </a:solidFill>
              </a:rPr>
              <a:t>The buyer verifies documents; GeM neither certifies nor decides. Technical first, then price on total landed cost. Bids valid 15 days. Ties: forced RA for goods, a random draw for services. A nil price is non-responsive.</a:t>
            </a:r>
            <a:endParaRPr lang="en-US" sz="1150" dirty="0"/>
          </a:p>
        </p:txBody>
      </p:sp>
      <p:sp>
        <p:nvSpPr>
          <p:cNvPr id="34" name="Text 31"/>
          <p:cNvSpPr txBox="1"/>
          <p:nvPr/>
        </p:nvSpPr>
        <p:spPr>
          <a:xfrm>
            <a:off x="3163824" y="3931920"/>
            <a:ext cx="219456" cy="4572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35" name="Step 6"/>
          <p:cNvSpPr/>
          <p:nvPr/>
        </p:nvSpPr>
        <p:spPr>
          <a:xfrm>
            <a:off x="3364992" y="3822192"/>
            <a:ext cx="2633472" cy="2286000"/>
          </a:xfrm>
          <a:prstGeom prst="roundRect">
            <a:avLst>
              <a:gd name="adj" fmla="val 4000"/>
            </a:avLst>
          </a:prstGeom>
          <a:solidFill>
            <a:schemeClr val="accent5"/>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36" name="Marker 6"/>
          <p:cNvSpPr/>
          <p:nvPr/>
        </p:nvSpPr>
        <p:spPr>
          <a:xfrm>
            <a:off x="3511296" y="3959352"/>
            <a:ext cx="402336" cy="402336"/>
          </a:xfrm>
          <a:prstGeom prst="diamond">
            <a:avLst/>
          </a:prstGeom>
          <a:solidFill>
            <a:schemeClr val="accent2"/>
          </a:solidFill>
          <a:ln w="12700">
            <a:solidFill>
              <a:schemeClr val="bg1"/>
            </a:solidFill>
            <a:prstDash val="solid"/>
          </a:ln>
        </p:spPr>
      </p:sp>
      <p:sp>
        <p:nvSpPr>
          <p:cNvPr id="37" name="Text 34"/>
          <p:cNvSpPr txBox="1"/>
          <p:nvPr/>
        </p:nvSpPr>
        <p:spPr>
          <a:xfrm>
            <a:off x="3511296" y="395935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8" name="Text 35"/>
          <p:cNvSpPr txBox="1"/>
          <p:nvPr/>
        </p:nvSpPr>
        <p:spPr>
          <a:xfrm>
            <a:off x="4005072" y="3959352"/>
            <a:ext cx="1883664" cy="402336"/>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Reverse auction</a:t>
            </a:r>
            <a:endParaRPr lang="en-US" sz="1400" dirty="0"/>
          </a:p>
        </p:txBody>
      </p:sp>
      <p:sp>
        <p:nvSpPr>
          <p:cNvPr id="39" name="Text 36"/>
          <p:cNvSpPr txBox="1"/>
          <p:nvPr/>
        </p:nvSpPr>
        <p:spPr>
          <a:xfrm>
            <a:off x="3520440" y="4462272"/>
            <a:ext cx="2340864" cy="1554480"/>
          </a:xfrm>
          <a:prstGeom prst="rect">
            <a:avLst/>
          </a:prstGeom>
          <a:noFill/>
          <a:ln/>
        </p:spPr>
        <p:txBody>
          <a:bodyPr wrap="square" lIns="0" tIns="0" rIns="0" bIns="0" rtlCol="0" anchor="t"/>
          <a:lstStyle/>
          <a:p>
            <a:pPr indent="0" marL="0">
              <a:buNone/>
            </a:pPr>
            <a:r>
              <a:rPr lang="en-US" sz="1150" dirty="0">
                <a:solidFill>
                  <a:schemeClr val="tx1"/>
                </a:solidFill>
              </a:rPr>
              <a:t>System sets the start price and decrement. A lower bid in the last 15 minutes extends the auction by 15 minutes. Bid-to-RA: 50% rule or highest-bidder (H1) elimination. MSEs within 15% and Make in India within 20% of L1 stay in.</a:t>
            </a:r>
            <a:endParaRPr lang="en-US" sz="1150" dirty="0"/>
          </a:p>
        </p:txBody>
      </p:sp>
      <p:sp>
        <p:nvSpPr>
          <p:cNvPr id="40" name="Text 37"/>
          <p:cNvSpPr txBox="1"/>
          <p:nvPr/>
        </p:nvSpPr>
        <p:spPr>
          <a:xfrm>
            <a:off x="5980176" y="3931920"/>
            <a:ext cx="219456" cy="4572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41" name="Step 7"/>
          <p:cNvSpPr/>
          <p:nvPr/>
        </p:nvSpPr>
        <p:spPr>
          <a:xfrm>
            <a:off x="6181344" y="3822192"/>
            <a:ext cx="2633472" cy="2286000"/>
          </a:xfrm>
          <a:prstGeom prst="roundRect">
            <a:avLst>
              <a:gd name="adj" fmla="val 4000"/>
            </a:avLst>
          </a:prstGeom>
          <a:solidFill>
            <a:schemeClr val="accent5"/>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42" name="Marker 7"/>
          <p:cNvSpPr/>
          <p:nvPr/>
        </p:nvSpPr>
        <p:spPr>
          <a:xfrm>
            <a:off x="6327648" y="3959352"/>
            <a:ext cx="402336" cy="402336"/>
          </a:xfrm>
          <a:prstGeom prst="diamond">
            <a:avLst/>
          </a:prstGeom>
          <a:solidFill>
            <a:schemeClr val="accent2"/>
          </a:solidFill>
          <a:ln w="12700">
            <a:solidFill>
              <a:schemeClr val="bg1"/>
            </a:solidFill>
            <a:prstDash val="solid"/>
          </a:ln>
        </p:spPr>
      </p:sp>
      <p:sp>
        <p:nvSpPr>
          <p:cNvPr id="43" name="Text 40"/>
          <p:cNvSpPr txBox="1"/>
          <p:nvPr/>
        </p:nvSpPr>
        <p:spPr>
          <a:xfrm>
            <a:off x="6327648" y="395935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4" name="Text 41"/>
          <p:cNvSpPr txBox="1"/>
          <p:nvPr/>
        </p:nvSpPr>
        <p:spPr>
          <a:xfrm>
            <a:off x="6821424" y="3959352"/>
            <a:ext cx="1883664" cy="402336"/>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Award</a:t>
            </a:r>
            <a:endParaRPr lang="en-US" sz="1400" dirty="0"/>
          </a:p>
        </p:txBody>
      </p:sp>
      <p:sp>
        <p:nvSpPr>
          <p:cNvPr id="45" name="Text 42"/>
          <p:cNvSpPr txBox="1"/>
          <p:nvPr/>
        </p:nvSpPr>
        <p:spPr>
          <a:xfrm>
            <a:off x="6336792" y="4462272"/>
            <a:ext cx="2340864" cy="1554480"/>
          </a:xfrm>
          <a:prstGeom prst="rect">
            <a:avLst/>
          </a:prstGeom>
          <a:noFill/>
          <a:ln/>
        </p:spPr>
        <p:txBody>
          <a:bodyPr wrap="square" lIns="0" tIns="0" rIns="0" bIns="0" rtlCol="0" anchor="t"/>
          <a:lstStyle/>
          <a:p>
            <a:pPr indent="0" marL="0">
              <a:buNone/>
            </a:pPr>
            <a:r>
              <a:rPr lang="en-US" sz="1150" dirty="0">
                <a:solidFill>
                  <a:schemeClr val="tx1"/>
                </a:solidFill>
              </a:rPr>
              <a:t>Contract generated on GeM. Performance security up to 5% (GFR range 3–5%), within 15 days, valid 2 months past all obligations; none for direct, L1 or PBP. EMD returned within 15 days.</a:t>
            </a:r>
            <a:endParaRPr lang="en-US" sz="1150" dirty="0"/>
          </a:p>
        </p:txBody>
      </p:sp>
      <p:sp>
        <p:nvSpPr>
          <p:cNvPr id="46" name="Text 43"/>
          <p:cNvSpPr txBox="1"/>
          <p:nvPr/>
        </p:nvSpPr>
        <p:spPr>
          <a:xfrm>
            <a:off x="8796528" y="3931920"/>
            <a:ext cx="219456" cy="4572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47" name="Step 8"/>
          <p:cNvSpPr/>
          <p:nvPr/>
        </p:nvSpPr>
        <p:spPr>
          <a:xfrm>
            <a:off x="8997696" y="3822192"/>
            <a:ext cx="2633472" cy="2286000"/>
          </a:xfrm>
          <a:prstGeom prst="roundRect">
            <a:avLst>
              <a:gd name="adj" fmla="val 4000"/>
            </a:avLst>
          </a:prstGeom>
          <a:solidFill>
            <a:schemeClr val="accent5"/>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48" name="Marker 8"/>
          <p:cNvSpPr/>
          <p:nvPr/>
        </p:nvSpPr>
        <p:spPr>
          <a:xfrm>
            <a:off x="9144000" y="3959352"/>
            <a:ext cx="402336" cy="402336"/>
          </a:xfrm>
          <a:prstGeom prst="diamond">
            <a:avLst/>
          </a:prstGeom>
          <a:solidFill>
            <a:schemeClr val="accent1"/>
          </a:solidFill>
          <a:ln w="12700">
            <a:solidFill>
              <a:schemeClr val="bg1"/>
            </a:solidFill>
            <a:prstDash val="solid"/>
          </a:ln>
        </p:spPr>
      </p:sp>
      <p:sp>
        <p:nvSpPr>
          <p:cNvPr id="49" name="Text 46"/>
          <p:cNvSpPr txBox="1"/>
          <p:nvPr/>
        </p:nvSpPr>
        <p:spPr>
          <a:xfrm>
            <a:off x="9144000" y="395935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50" name="Text 47"/>
          <p:cNvSpPr txBox="1"/>
          <p:nvPr/>
        </p:nvSpPr>
        <p:spPr>
          <a:xfrm>
            <a:off x="9637776" y="3959352"/>
            <a:ext cx="1883664" cy="402336"/>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Deliver and pay</a:t>
            </a:r>
            <a:endParaRPr lang="en-US" sz="1400" dirty="0"/>
          </a:p>
        </p:txBody>
      </p:sp>
      <p:sp>
        <p:nvSpPr>
          <p:cNvPr id="51" name="Text 48"/>
          <p:cNvSpPr txBox="1"/>
          <p:nvPr/>
        </p:nvSpPr>
        <p:spPr>
          <a:xfrm>
            <a:off x="9153144" y="4462272"/>
            <a:ext cx="2340864" cy="1554480"/>
          </a:xfrm>
          <a:prstGeom prst="rect">
            <a:avLst/>
          </a:prstGeom>
          <a:noFill/>
          <a:ln/>
        </p:spPr>
        <p:txBody>
          <a:bodyPr wrap="square" lIns="0" tIns="0" rIns="0" bIns="0" rtlCol="0" anchor="t"/>
          <a:lstStyle/>
          <a:p>
            <a:pPr indent="0" marL="0">
              <a:buNone/>
            </a:pPr>
            <a:r>
              <a:rPr lang="en-US" sz="1150" dirty="0">
                <a:solidFill>
                  <a:schemeClr val="tx1"/>
                </a:solidFill>
              </a:rPr>
              <a:t>Free delivery at site. Receipt certificate, then 10 days to inspect or reject, then acceptance certificate; 100% paid within 10 days. Liquidated damages 0.5% a week, max 5% (10% if very late). One-year warranty.</a:t>
            </a:r>
            <a:endParaRPr lang="en-US" sz="1150" dirty="0"/>
          </a:p>
        </p:txBody>
      </p:sp>
      <p:sp>
        <p:nvSpPr>
          <p:cNvPr id="25" name="Slide Number Placeholder 0"/>
          <p:cNvSpPr>
            <a:spLocks noGrp="1"/>
          </p:cNvSpPr>
          <p:nvPr>
            <p:ph type="sldNum" sz="quarter" idx="4294967295"/>
          </p:nvPr>
        </p:nvSpPr>
        <p:spPr>
          <a:xfrm>
            <a:off x="11183112"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body" hasCustomPrompt="1"/>
          </p:nvPr>
        </p:nvSpPr>
        <p:spPr>
          <a:xfrm>
            <a:off x="886968" y="283464"/>
            <a:ext cx="1069848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PART 3  ·  THE BIDDING PROCESS</a:t>
            </a:r>
            <a:endParaRPr lang="en-US" sz="1100" dirty="0"/>
          </a:p>
        </p:txBody>
      </p:sp>
      <p:sp>
        <p:nvSpPr>
          <p:cNvPr id="3" name="Text 0"/>
          <p:cNvSpPr/>
          <p:nvPr>
            <p:ph idx="102" type="title" hasCustomPrompt="1"/>
          </p:nvPr>
        </p:nvSpPr>
        <p:spPr>
          <a:xfrm>
            <a:off x="548640" y="603504"/>
            <a:ext cx="11064240" cy="603504"/>
          </a:xfrm>
          <a:prstGeom prst="rect">
            <a:avLst/>
          </a:prstGeom>
          <a:noFill/>
          <a:ln/>
        </p:spPr>
        <p:txBody>
          <a:bodyPr wrap="square" lIns="0" tIns="0" rIns="0" bIns="0" rtlCol="0" anchor="ctr"/>
          <a:lstStyle/>
          <a:p>
            <a:pPr algn="l" indent="0" marL="0">
              <a:buNone/>
            </a:pPr>
            <a:r>
              <a:rPr lang="en-US" sz="3000" b="1" dirty="0">
                <a:solidFill>
                  <a:schemeClr val="tx2"/>
                </a:solidFill>
              </a:rPr>
              <a:t>Eligibility, preferences and safeguards</a:t>
            </a:r>
            <a:endParaRPr lang="en-US" sz="3000" dirty="0"/>
          </a:p>
        </p:txBody>
      </p:sp>
      <p:sp>
        <p:nvSpPr>
          <p:cNvPr id="4" name="Text 0"/>
          <p:cNvSpPr/>
          <p:nvPr>
            <p:ph idx="103" type="body" hasCustomPrompt="1"/>
          </p:nvPr>
        </p:nvSpPr>
        <p:spPr>
          <a:xfrm>
            <a:off x="548640" y="6291072"/>
            <a:ext cx="10424160" cy="411480"/>
          </a:xfrm>
          <a:prstGeom prst="rect">
            <a:avLst/>
          </a:prstGeom>
          <a:noFill/>
          <a:ln/>
        </p:spPr>
        <p:txBody>
          <a:bodyPr wrap="square" lIns="0" tIns="0" rIns="0" bIns="0" rtlCol="0" anchor="t"/>
          <a:lstStyle/>
          <a:p>
            <a:pPr indent="0" marL="0">
              <a:buNone/>
            </a:pPr>
            <a:r>
              <a:rPr lang="en-US" sz="950" dirty="0">
                <a:solidFill>
                  <a:schemeClr val="accent6"/>
                </a:solidFill>
              </a:rPr>
              <a:t>Sources: GeM GTC v1.29, cl. 5, 9, 16–18, 21, 24, 26–28, 31; DoE Guidelines for Arbitration and Mediation in Contracts of Domestic Public Procurement, 3 Jun 2024; Order (Public Procurement No. 4), 23 Feb 2023.</a:t>
            </a:r>
            <a:endParaRPr lang="en-US" sz="950" dirty="0"/>
          </a:p>
        </p:txBody>
      </p:sp>
      <p:sp>
        <p:nvSpPr>
          <p:cNvPr id="6" name="Precedence band"/>
          <p:cNvSpPr/>
          <p:nvPr/>
        </p:nvSpPr>
        <p:spPr>
          <a:xfrm>
            <a:off x="548640" y="1344168"/>
            <a:ext cx="11091672" cy="566928"/>
          </a:xfrm>
          <a:prstGeom prst="roundRect">
            <a:avLst>
              <a:gd name="adj" fmla="val 16129"/>
            </a:avLst>
          </a:prstGeom>
          <a:solidFill>
            <a:schemeClr val="tx2"/>
          </a:solidFill>
          <a:ln w="9525">
            <a:solidFill>
              <a:schemeClr val="tx2"/>
            </a:solidFill>
            <a:prstDash val="solid"/>
          </a:ln>
          <a:effectLst>
            <a:outerShdw sx="100000" sy="100000" kx="0" ky="0" algn="bl" rotWithShape="0" blurRad="127000" dist="25400" dir="5400000">
              <a:srgbClr val="6B4FA0">
                <a:alpha val="12000"/>
              </a:srgbClr>
            </a:outerShdw>
          </a:effectLst>
        </p:spPr>
      </p:sp>
      <p:sp>
        <p:nvSpPr>
          <p:cNvPr id="7" name="Text 4"/>
          <p:cNvSpPr txBox="1"/>
          <p:nvPr/>
        </p:nvSpPr>
        <p:spPr>
          <a:xfrm>
            <a:off x="777240" y="1344168"/>
            <a:ext cx="10698480" cy="566928"/>
          </a:xfrm>
          <a:prstGeom prst="rect">
            <a:avLst/>
          </a:prstGeom>
          <a:noFill/>
          <a:ln/>
        </p:spPr>
        <p:txBody>
          <a:bodyPr wrap="square" lIns="0" tIns="0" rIns="0" bIns="0" rtlCol="0" anchor="ctr"/>
          <a:lstStyle/>
          <a:p>
            <a:pPr indent="0" marL="0">
              <a:buNone/>
            </a:pPr>
            <a:r>
              <a:rPr lang="en-US" sz="1100" b="1" spc="200" kern="0" dirty="0">
                <a:solidFill>
                  <a:schemeClr val="accent3"/>
                </a:solidFill>
              </a:rPr>
              <a:t>WHICH TERMS WIN   </a:t>
            </a:r>
            <a:pPr indent="0" marL="0">
              <a:buNone/>
            </a:pPr>
            <a:r>
              <a:rPr lang="en-US" sz="1500" b="1" dirty="0">
                <a:solidFill>
                  <a:schemeClr val="bg1"/>
                </a:solidFill>
              </a:rPr>
              <a:t>ATC  ›  Special Terms and Conditions (STC)  ›  GTC</a:t>
            </a:r>
            <a:pPr indent="0" marL="0">
              <a:buNone/>
            </a:pPr>
            <a:r>
              <a:rPr lang="en-US" sz="1100" dirty="0">
                <a:solidFill>
                  <a:schemeClr val="accent4"/>
                </a:solidFill>
              </a:rPr>
              <a:t>     the bid-specific overrides the item-specific, which overrides the general (GTC cl. 5)</a:t>
            </a:r>
            <a:endParaRPr lang="en-US" sz="1200" dirty="0"/>
          </a:p>
        </p:txBody>
      </p:sp>
      <p:sp>
        <p:nvSpPr>
          <p:cNvPr id="8" name="Who can sell"/>
          <p:cNvSpPr/>
          <p:nvPr/>
        </p:nvSpPr>
        <p:spPr>
          <a:xfrm>
            <a:off x="548640" y="2057400"/>
            <a:ext cx="3621024" cy="2971800"/>
          </a:xfrm>
          <a:prstGeom prst="roundRect">
            <a:avLst>
              <a:gd name="adj" fmla="val 3077"/>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9" name="Marker 1"/>
          <p:cNvSpPr/>
          <p:nvPr/>
        </p:nvSpPr>
        <p:spPr>
          <a:xfrm>
            <a:off x="731520" y="2194560"/>
            <a:ext cx="292608" cy="292608"/>
          </a:xfrm>
          <a:prstGeom prst="diamond">
            <a:avLst/>
          </a:prstGeom>
          <a:solidFill>
            <a:schemeClr val="accent2"/>
          </a:solidFill>
          <a:ln w="12700">
            <a:solidFill>
              <a:schemeClr val="bg1"/>
            </a:solidFill>
            <a:prstDash val="solid"/>
          </a:ln>
        </p:spPr>
      </p:sp>
      <p:sp>
        <p:nvSpPr>
          <p:cNvPr id="10" name="Text 7"/>
          <p:cNvSpPr txBox="1"/>
          <p:nvPr/>
        </p:nvSpPr>
        <p:spPr>
          <a:xfrm>
            <a:off x="731520" y="2194560"/>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1" name="Text 8"/>
          <p:cNvSpPr txBox="1"/>
          <p:nvPr/>
        </p:nvSpPr>
        <p:spPr>
          <a:xfrm>
            <a:off x="1115568" y="2194560"/>
            <a:ext cx="2889504" cy="292608"/>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Who can sell</a:t>
            </a:r>
            <a:endParaRPr lang="en-US" sz="1500" dirty="0"/>
          </a:p>
        </p:txBody>
      </p:sp>
      <p:sp>
        <p:nvSpPr>
          <p:cNvPr id="12" name="Text 9"/>
          <p:cNvSpPr txBox="1"/>
          <p:nvPr/>
        </p:nvSpPr>
        <p:spPr>
          <a:xfrm>
            <a:off x="731520" y="2633472"/>
            <a:ext cx="3273552" cy="233172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chemeClr val="tx1"/>
                </a:solidFill>
              </a:rPr>
              <a:t>OEMs and authorised resellers under GeM's catalogue quadrants; in Q4 the reseller gives the replacement warranty</a:t>
            </a:r>
            <a:endParaRPr lang="en-US" sz="1250" dirty="0"/>
          </a:p>
          <a:p>
            <a:pPr marL="152400" indent="-152400">
              <a:spcAft>
                <a:spcPts val="600"/>
              </a:spcAft>
              <a:buSzPct val="100000"/>
              <a:buChar char="•"/>
            </a:pPr>
            <a:r>
              <a:rPr lang="en-US" sz="1250" dirty="0">
                <a:solidFill>
                  <a:schemeClr val="tx1"/>
                </a:solidFill>
              </a:rPr>
              <a:t>Vendor assessment or a standards licence where the bid requires it</a:t>
            </a:r>
            <a:endParaRPr lang="en-US" sz="1250" dirty="0"/>
          </a:p>
          <a:p>
            <a:pPr marL="152400" indent="-152400">
              <a:spcAft>
                <a:spcPts val="600"/>
              </a:spcAft>
              <a:buSzPct val="100000"/>
              <a:buChar char="•"/>
            </a:pPr>
            <a:r>
              <a:rPr lang="en-US" sz="1250" dirty="0">
                <a:solidFill>
                  <a:schemeClr val="tx1"/>
                </a:solidFill>
              </a:rPr>
              <a:t>MSEs and startups exempt from EMD; no caution money for any seller</a:t>
            </a:r>
            <a:endParaRPr lang="en-US" sz="1250" dirty="0"/>
          </a:p>
          <a:p>
            <a:pPr marL="152400" indent="-152400">
              <a:spcAft>
                <a:spcPts val="600"/>
              </a:spcAft>
              <a:buSzPct val="100000"/>
              <a:buChar char="•"/>
            </a:pPr>
            <a:r>
              <a:rPr lang="en-US" sz="1250" dirty="0">
                <a:solidFill>
                  <a:schemeClr val="tx1"/>
                </a:solidFill>
              </a:rPr>
              <a:t>Land-border bidders must be registered</a:t>
            </a:r>
            <a:endParaRPr lang="en-US" sz="1250" dirty="0"/>
          </a:p>
        </p:txBody>
      </p:sp>
      <p:sp>
        <p:nvSpPr>
          <p:cNvPr id="13" name="Integrity and enforcement"/>
          <p:cNvSpPr/>
          <p:nvPr/>
        </p:nvSpPr>
        <p:spPr>
          <a:xfrm>
            <a:off x="4283964" y="2057400"/>
            <a:ext cx="3621024" cy="2971800"/>
          </a:xfrm>
          <a:prstGeom prst="roundRect">
            <a:avLst>
              <a:gd name="adj" fmla="val 3077"/>
            </a:avLst>
          </a:prstGeom>
          <a:solidFill>
            <a:schemeClr val="accent5"/>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14" name="Marker 2"/>
          <p:cNvSpPr/>
          <p:nvPr/>
        </p:nvSpPr>
        <p:spPr>
          <a:xfrm>
            <a:off x="4466844" y="2194560"/>
            <a:ext cx="292608" cy="292608"/>
          </a:xfrm>
          <a:prstGeom prst="diamond">
            <a:avLst/>
          </a:prstGeom>
          <a:solidFill>
            <a:schemeClr val="accent1"/>
          </a:solidFill>
          <a:ln w="12700">
            <a:solidFill>
              <a:schemeClr val="bg1"/>
            </a:solidFill>
            <a:prstDash val="solid"/>
          </a:ln>
        </p:spPr>
      </p:sp>
      <p:sp>
        <p:nvSpPr>
          <p:cNvPr id="15" name="Text 12"/>
          <p:cNvSpPr txBox="1"/>
          <p:nvPr/>
        </p:nvSpPr>
        <p:spPr>
          <a:xfrm>
            <a:off x="4466844" y="2194560"/>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6" name="Text 13"/>
          <p:cNvSpPr txBox="1"/>
          <p:nvPr/>
        </p:nvSpPr>
        <p:spPr>
          <a:xfrm>
            <a:off x="4850892" y="2194560"/>
            <a:ext cx="2889504" cy="292608"/>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Integrity and enforcement</a:t>
            </a:r>
            <a:endParaRPr lang="en-US" sz="1500" dirty="0"/>
          </a:p>
        </p:txBody>
      </p:sp>
      <p:sp>
        <p:nvSpPr>
          <p:cNvPr id="17" name="Text 14"/>
          <p:cNvSpPr txBox="1"/>
          <p:nvPr/>
        </p:nvSpPr>
        <p:spPr>
          <a:xfrm>
            <a:off x="4466844" y="2633472"/>
            <a:ext cx="3273552" cy="233172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chemeClr val="tx1"/>
                </a:solidFill>
              </a:rPr>
              <a:t>Integrity Pact and Incident Management Policy bind buyers and sellers</a:t>
            </a:r>
            <a:endParaRPr lang="en-US" sz="1250" dirty="0"/>
          </a:p>
          <a:p>
            <a:pPr marL="152400" indent="-152400">
              <a:spcAft>
                <a:spcPts val="600"/>
              </a:spcAft>
              <a:buSzPct val="100000"/>
              <a:buChar char="•"/>
            </a:pPr>
            <a:r>
              <a:rPr lang="en-US" sz="1250" dirty="0">
                <a:solidFill>
                  <a:schemeClr val="tx1"/>
                </a:solidFill>
              </a:rPr>
              <a:t>Administrative action for wrong categories, no authorisation, substandard or counterfeit goods, bid withdrawal, false documents</a:t>
            </a:r>
            <a:endParaRPr lang="en-US" sz="1250" dirty="0"/>
          </a:p>
          <a:p>
            <a:pPr marL="152400" indent="-152400">
              <a:spcAft>
                <a:spcPts val="600"/>
              </a:spcAft>
              <a:buSzPct val="100000"/>
              <a:buChar char="•"/>
            </a:pPr>
            <a:r>
              <a:rPr lang="en-US" sz="1250" dirty="0">
                <a:solidFill>
                  <a:schemeClr val="tx1"/>
                </a:solidFill>
              </a:rPr>
              <a:t>Debarment of at least 3 months for bid-security default; allied firms affected equally</a:t>
            </a:r>
            <a:endParaRPr lang="en-US" sz="1250" dirty="0"/>
          </a:p>
        </p:txBody>
      </p:sp>
      <p:sp>
        <p:nvSpPr>
          <p:cNvPr id="18" name="Contract and disputes"/>
          <p:cNvSpPr/>
          <p:nvPr/>
        </p:nvSpPr>
        <p:spPr>
          <a:xfrm>
            <a:off x="8019288" y="2057400"/>
            <a:ext cx="3621024" cy="2971800"/>
          </a:xfrm>
          <a:prstGeom prst="roundRect">
            <a:avLst>
              <a:gd name="adj" fmla="val 3077"/>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19" name="Marker 3"/>
          <p:cNvSpPr/>
          <p:nvPr/>
        </p:nvSpPr>
        <p:spPr>
          <a:xfrm>
            <a:off x="8202168" y="2194560"/>
            <a:ext cx="292608" cy="292608"/>
          </a:xfrm>
          <a:prstGeom prst="diamond">
            <a:avLst/>
          </a:prstGeom>
          <a:solidFill>
            <a:schemeClr val="accent2"/>
          </a:solidFill>
          <a:ln w="12700">
            <a:solidFill>
              <a:schemeClr val="bg1"/>
            </a:solidFill>
            <a:prstDash val="solid"/>
          </a:ln>
        </p:spPr>
      </p:sp>
      <p:sp>
        <p:nvSpPr>
          <p:cNvPr id="20" name="Text 17"/>
          <p:cNvSpPr txBox="1"/>
          <p:nvPr/>
        </p:nvSpPr>
        <p:spPr>
          <a:xfrm>
            <a:off x="8202168" y="2194560"/>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1" name="Text 18"/>
          <p:cNvSpPr txBox="1"/>
          <p:nvPr/>
        </p:nvSpPr>
        <p:spPr>
          <a:xfrm>
            <a:off x="8586216" y="2194560"/>
            <a:ext cx="2889504" cy="292608"/>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Contract and disputes</a:t>
            </a:r>
            <a:endParaRPr lang="en-US" sz="1500" dirty="0"/>
          </a:p>
        </p:txBody>
      </p:sp>
      <p:sp>
        <p:nvSpPr>
          <p:cNvPr id="22" name="Text 19"/>
          <p:cNvSpPr txBox="1"/>
          <p:nvPr/>
        </p:nvSpPr>
        <p:spPr>
          <a:xfrm>
            <a:off x="8202168" y="2633472"/>
            <a:ext cx="3273552" cy="233172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chemeClr val="tx1"/>
                </a:solidFill>
              </a:rPr>
              <a:t>Indian law; courts where the buyer is located</a:t>
            </a:r>
            <a:endParaRPr lang="en-US" sz="1250" dirty="0"/>
          </a:p>
          <a:p>
            <a:pPr marL="152400" indent="-152400">
              <a:spcAft>
                <a:spcPts val="600"/>
              </a:spcAft>
              <a:buSzPct val="100000"/>
              <a:buChar char="•"/>
            </a:pPr>
            <a:r>
              <a:rPr lang="en-US" sz="1250" dirty="0">
                <a:solidFill>
                  <a:schemeClr val="tx1"/>
                </a:solidFill>
              </a:rPr>
              <a:t>Direct, L1, PBP: 30 days amicable, then a Dispute Resolution Committee (30 days), then DoE guidelines; bids: method chosen at creation</a:t>
            </a:r>
            <a:endParaRPr lang="en-US" sz="1250" dirty="0"/>
          </a:p>
          <a:p>
            <a:pPr marL="152400" indent="-152400">
              <a:spcAft>
                <a:spcPts val="600"/>
              </a:spcAft>
              <a:buSzPct val="100000"/>
              <a:buChar char="•"/>
            </a:pPr>
            <a:r>
              <a:rPr lang="en-US" sz="1250" dirty="0">
                <a:solidFill>
                  <a:schemeClr val="tx1"/>
                </a:solidFill>
              </a:rPr>
              <a:t>Liability capped at contract value (except third-party intellectual property claims and gross negligence)</a:t>
            </a:r>
            <a:endParaRPr lang="en-US" sz="1250" dirty="0"/>
          </a:p>
          <a:p>
            <a:pPr marL="152400" indent="-152400">
              <a:spcAft>
                <a:spcPts val="600"/>
              </a:spcAft>
              <a:buSzPct val="100000"/>
              <a:buChar char="•"/>
            </a:pPr>
            <a:r>
              <a:rPr lang="en-US" sz="1250" dirty="0">
                <a:solidFill>
                  <a:schemeClr val="tx1"/>
                </a:solidFill>
              </a:rPr>
              <a:t>GeM is never a party</a:t>
            </a:r>
            <a:endParaRPr lang="en-US" sz="1250" dirty="0"/>
          </a:p>
        </p:txBody>
      </p:sp>
      <p:sp>
        <p:nvSpPr>
          <p:cNvPr id="23" name="Not reviewable strip"/>
          <p:cNvSpPr/>
          <p:nvPr/>
        </p:nvSpPr>
        <p:spPr>
          <a:xfrm>
            <a:off x="548640" y="5166360"/>
            <a:ext cx="11091672" cy="987552"/>
          </a:xfrm>
          <a:prstGeom prst="roundRect">
            <a:avLst>
              <a:gd name="adj" fmla="val 9259"/>
            </a:avLst>
          </a:prstGeom>
          <a:solidFill>
            <a:schemeClr val="accent4"/>
          </a:solidFill>
          <a:ln w="9525">
            <a:solidFill>
              <a:schemeClr val="accent4"/>
            </a:solidFill>
            <a:prstDash val="solid"/>
          </a:ln>
        </p:spPr>
      </p:sp>
      <p:sp>
        <p:nvSpPr>
          <p:cNvPr id="24" name="Text 21"/>
          <p:cNvSpPr txBox="1"/>
          <p:nvPr/>
        </p:nvSpPr>
        <p:spPr>
          <a:xfrm>
            <a:off x="749808" y="5166360"/>
            <a:ext cx="10744200" cy="987552"/>
          </a:xfrm>
          <a:prstGeom prst="rect">
            <a:avLst/>
          </a:prstGeom>
          <a:noFill/>
          <a:ln/>
        </p:spPr>
        <p:txBody>
          <a:bodyPr wrap="square" lIns="0" tIns="0" rIns="0" bIns="0" rtlCol="0" anchor="ctr"/>
          <a:lstStyle/>
          <a:p>
            <a:pPr indent="0" marL="0">
              <a:buNone/>
            </a:pPr>
            <a:r>
              <a:rPr lang="en-US" sz="1100" b="1" dirty="0">
                <a:solidFill>
                  <a:schemeClr val="accent2"/>
                </a:solidFill>
              </a:rPr>
              <a:t>Grievances: </a:t>
            </a:r>
            <a:pPr indent="0" marL="0">
              <a:buNone/>
            </a:pPr>
            <a:r>
              <a:rPr lang="en-US" sz="1100" dirty="0">
                <a:solidFill>
                  <a:schemeClr val="tx1"/>
                </a:solidFill>
              </a:rPr>
              <a:t>go to the buyer first; GeM acts only on breaches of the bid's published Disclaimer, before technical evaluation is final.  </a:t>
            </a:r>
            <a:pPr indent="0" marL="0">
              <a:buNone/>
            </a:pPr>
            <a:r>
              <a:rPr lang="en-US" sz="1100" b="1" dirty="0">
                <a:solidFill>
                  <a:schemeClr val="accent2"/>
                </a:solidFill>
              </a:rPr>
              <a:t>Not open to challenge: </a:t>
            </a:r>
            <a:pPr indent="0" marL="0">
              <a:buNone/>
            </a:pPr>
            <a:r>
              <a:rPr lang="en-US" sz="1100" dirty="0">
                <a:solidFill>
                  <a:schemeClr val="tx1"/>
                </a:solidFill>
              </a:rPr>
              <a:t>the need for procurement, the procurement mode and selection procedure, government preference policies, and specifications (unless vague or restrictive). Ambiguity in contract terms cannot be raised after financial bids open (GTC cl. 31).</a:t>
            </a:r>
            <a:endParaRPr lang="en-US" sz="1100" dirty="0"/>
          </a:p>
        </p:txBody>
      </p:sp>
      <p:sp>
        <p:nvSpPr>
          <p:cNvPr id="25" name="Slide Number Placeholder 0"/>
          <p:cNvSpPr>
            <a:spLocks noGrp="1"/>
          </p:cNvSpPr>
          <p:nvPr>
            <p:ph type="sldNum" sz="quarter" idx="4294967295"/>
          </p:nvPr>
        </p:nvSpPr>
        <p:spPr>
          <a:xfrm>
            <a:off x="11183112"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body" hasCustomPrompt="1"/>
          </p:nvPr>
        </p:nvSpPr>
        <p:spPr>
          <a:xfrm>
            <a:off x="886968" y="283464"/>
            <a:ext cx="10698480" cy="274320"/>
          </a:xfrm>
          <a:prstGeom prst="rect">
            <a:avLst/>
          </a:prstGeom>
          <a:noFill/>
          <a:ln/>
        </p:spPr>
        <p:txBody>
          <a:bodyPr wrap="square" lIns="0" tIns="0" rIns="0" bIns="0" rtlCol="0" anchor="ctr"/>
          <a:lstStyle/>
          <a:p>
            <a:pPr indent="0" marL="0">
              <a:buNone/>
            </a:pPr>
            <a:r>
              <a:rPr lang="en-US" sz="1100" b="1" spc="300" kern="0" dirty="0">
                <a:solidFill>
                  <a:schemeClr val="accent3"/>
                </a:solidFill>
              </a:rPr>
              <a:t>IN SUMMARY</a:t>
            </a:r>
            <a:endParaRPr lang="en-US" sz="1100" dirty="0"/>
          </a:p>
        </p:txBody>
      </p:sp>
      <p:sp>
        <p:nvSpPr>
          <p:cNvPr id="3" name="Text 0"/>
          <p:cNvSpPr/>
          <p:nvPr>
            <p:ph idx="102" type="title" hasCustomPrompt="1"/>
          </p:nvPr>
        </p:nvSpPr>
        <p:spPr>
          <a:xfrm>
            <a:off x="548640" y="603504"/>
            <a:ext cx="11064240" cy="603504"/>
          </a:xfrm>
          <a:prstGeom prst="rect">
            <a:avLst/>
          </a:prstGeom>
          <a:noFill/>
          <a:ln/>
        </p:spPr>
        <p:txBody>
          <a:bodyPr wrap="square" lIns="0" tIns="0" rIns="0" bIns="0" rtlCol="0" anchor="ctr"/>
          <a:lstStyle/>
          <a:p>
            <a:pPr algn="l" indent="0" marL="0">
              <a:buNone/>
            </a:pPr>
            <a:r>
              <a:rPr lang="en-US" sz="3000" b="1" dirty="0">
                <a:solidFill>
                  <a:schemeClr val="bg1"/>
                </a:solidFill>
              </a:rPr>
              <a:t>Five things to remember</a:t>
            </a:r>
            <a:endParaRPr lang="en-US" sz="3000" dirty="0"/>
          </a:p>
        </p:txBody>
      </p:sp>
      <p:sp>
        <p:nvSpPr>
          <p:cNvPr id="5" name="Marker 1"/>
          <p:cNvSpPr/>
          <p:nvPr/>
        </p:nvSpPr>
        <p:spPr>
          <a:xfrm>
            <a:off x="731520" y="1508760"/>
            <a:ext cx="512064" cy="512064"/>
          </a:xfrm>
          <a:prstGeom prst="diamond">
            <a:avLst/>
          </a:prstGeom>
          <a:solidFill>
            <a:schemeClr val="accent1"/>
          </a:solidFill>
          <a:ln w="12700">
            <a:solidFill>
              <a:schemeClr val="bg1"/>
            </a:solidFill>
            <a:prstDash val="solid"/>
          </a:ln>
        </p:spPr>
      </p:sp>
      <p:sp>
        <p:nvSpPr>
          <p:cNvPr id="6" name="Text 3"/>
          <p:cNvSpPr txBox="1"/>
          <p:nvPr/>
        </p:nvSpPr>
        <p:spPr>
          <a:xfrm>
            <a:off x="731520" y="150876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463040" y="1463040"/>
            <a:ext cx="6949440" cy="82296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GeM is mandatory for anything listed on it</a:t>
            </a:r>
            <a:endParaRPr lang="en-US" sz="1200" dirty="0"/>
          </a:p>
          <a:p>
            <a:pPr indent="0" marL="0">
              <a:buNone/>
            </a:pPr>
            <a:r>
              <a:rPr lang="en-US" sz="1300" dirty="0">
                <a:solidFill>
                  <a:schemeClr val="accent3"/>
                </a:solidFill>
              </a:rPr>
              <a:t>GFR Rule 149; going outside needs a GeMAR&amp;PTS ID, or SCoGeM and Secretary approval</a:t>
            </a:r>
            <a:endParaRPr lang="en-US" sz="1200" dirty="0"/>
          </a:p>
        </p:txBody>
      </p:sp>
      <p:sp>
        <p:nvSpPr>
          <p:cNvPr id="8" name="Marker 2"/>
          <p:cNvSpPr/>
          <p:nvPr/>
        </p:nvSpPr>
        <p:spPr>
          <a:xfrm>
            <a:off x="731520" y="2441448"/>
            <a:ext cx="512064" cy="512064"/>
          </a:xfrm>
          <a:prstGeom prst="diamond">
            <a:avLst/>
          </a:prstGeom>
          <a:solidFill>
            <a:schemeClr val="accent1"/>
          </a:solidFill>
          <a:ln w="12700">
            <a:solidFill>
              <a:schemeClr val="bg1"/>
            </a:solidFill>
            <a:prstDash val="solid"/>
          </a:ln>
        </p:spPr>
      </p:sp>
      <p:sp>
        <p:nvSpPr>
          <p:cNvPr id="9" name="Text 6"/>
          <p:cNvSpPr txBox="1"/>
          <p:nvPr/>
        </p:nvSpPr>
        <p:spPr>
          <a:xfrm>
            <a:off x="731520" y="244144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7"/>
          <p:cNvSpPr txBox="1"/>
          <p:nvPr/>
        </p:nvSpPr>
        <p:spPr>
          <a:xfrm>
            <a:off x="1463040" y="2395728"/>
            <a:ext cx="6949440" cy="82296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Value decides the route</a:t>
            </a:r>
            <a:endParaRPr lang="en-US" sz="1200" dirty="0"/>
          </a:p>
          <a:p>
            <a:pPr indent="0" marL="0">
              <a:buNone/>
            </a:pPr>
            <a:r>
              <a:rPr lang="en-US" sz="1300" dirty="0">
                <a:solidFill>
                  <a:schemeClr val="accent3"/>
                </a:solidFill>
              </a:rPr>
              <a:t>₹50,000 direct  ·  ₹10 lakh lowest-price (L1)  ·  ₹5 lakh Push Button Procurement</a:t>
            </a:r>
            <a:endParaRPr lang="en-US" sz="1200" dirty="0"/>
          </a:p>
        </p:txBody>
      </p:sp>
      <p:sp>
        <p:nvSpPr>
          <p:cNvPr id="11" name="Marker 3"/>
          <p:cNvSpPr/>
          <p:nvPr/>
        </p:nvSpPr>
        <p:spPr>
          <a:xfrm>
            <a:off x="731520" y="3374136"/>
            <a:ext cx="512064" cy="512064"/>
          </a:xfrm>
          <a:prstGeom prst="diamond">
            <a:avLst/>
          </a:prstGeom>
          <a:solidFill>
            <a:schemeClr val="accent1"/>
          </a:solidFill>
          <a:ln w="12700">
            <a:solidFill>
              <a:schemeClr val="bg1"/>
            </a:solidFill>
            <a:prstDash val="solid"/>
          </a:ln>
        </p:spPr>
      </p:sp>
      <p:sp>
        <p:nvSpPr>
          <p:cNvPr id="12" name="Text 9"/>
          <p:cNvSpPr txBox="1"/>
          <p:nvPr/>
        </p:nvSpPr>
        <p:spPr>
          <a:xfrm>
            <a:off x="731520" y="3374136"/>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0"/>
          <p:cNvSpPr txBox="1"/>
          <p:nvPr/>
        </p:nvSpPr>
        <p:spPr>
          <a:xfrm>
            <a:off x="1463040" y="3328416"/>
            <a:ext cx="6949440" cy="82296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Above ₹10 lakh, competition is compulsory</a:t>
            </a:r>
            <a:endParaRPr lang="en-US" sz="1200" dirty="0"/>
          </a:p>
          <a:p>
            <a:pPr indent="0" marL="0">
              <a:buNone/>
            </a:pPr>
            <a:r>
              <a:rPr lang="en-US" sz="1300" dirty="0">
                <a:solidFill>
                  <a:schemeClr val="accent3"/>
                </a:solidFill>
              </a:rPr>
              <a:t>e-Bid, reverse auction or bid-to-reverse-auction, open to every seller in the category</a:t>
            </a:r>
            <a:endParaRPr lang="en-US" sz="1200" dirty="0"/>
          </a:p>
        </p:txBody>
      </p:sp>
      <p:sp>
        <p:nvSpPr>
          <p:cNvPr id="14" name="Marker 4"/>
          <p:cNvSpPr/>
          <p:nvPr/>
        </p:nvSpPr>
        <p:spPr>
          <a:xfrm>
            <a:off x="731520" y="4306824"/>
            <a:ext cx="512064" cy="512064"/>
          </a:xfrm>
          <a:prstGeom prst="diamond">
            <a:avLst/>
          </a:prstGeom>
          <a:solidFill>
            <a:schemeClr val="accent1"/>
          </a:solidFill>
          <a:ln w="12700">
            <a:solidFill>
              <a:schemeClr val="bg1"/>
            </a:solidFill>
            <a:prstDash val="solid"/>
          </a:ln>
        </p:spPr>
      </p:sp>
      <p:sp>
        <p:nvSpPr>
          <p:cNvPr id="15" name="Text 12"/>
          <p:cNvSpPr txBox="1"/>
          <p:nvPr/>
        </p:nvSpPr>
        <p:spPr>
          <a:xfrm>
            <a:off x="731520" y="4306824"/>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6" name="Text 13"/>
          <p:cNvSpPr txBox="1"/>
          <p:nvPr/>
        </p:nvSpPr>
        <p:spPr>
          <a:xfrm>
            <a:off x="1463040" y="4261104"/>
            <a:ext cx="6949440" cy="82296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Industrial policy is built in</a:t>
            </a:r>
            <a:endParaRPr lang="en-US" sz="1200" dirty="0"/>
          </a:p>
          <a:p>
            <a:pPr indent="0" marL="0">
              <a:buNone/>
            </a:pPr>
            <a:r>
              <a:rPr lang="en-US" sz="1300" dirty="0">
                <a:solidFill>
                  <a:schemeClr val="accent3"/>
                </a:solidFill>
              </a:rPr>
              <a:t>MSEs within 15% and Make in India suppliers within 20% of L1 stay in the auction</a:t>
            </a:r>
            <a:endParaRPr lang="en-US" sz="1200" dirty="0"/>
          </a:p>
        </p:txBody>
      </p:sp>
      <p:sp>
        <p:nvSpPr>
          <p:cNvPr id="17" name="Marker 5"/>
          <p:cNvSpPr/>
          <p:nvPr/>
        </p:nvSpPr>
        <p:spPr>
          <a:xfrm>
            <a:off x="731520" y="5239512"/>
            <a:ext cx="512064" cy="512064"/>
          </a:xfrm>
          <a:prstGeom prst="diamond">
            <a:avLst/>
          </a:prstGeom>
          <a:solidFill>
            <a:schemeClr val="accent1"/>
          </a:solidFill>
          <a:ln w="12700">
            <a:solidFill>
              <a:schemeClr val="bg1"/>
            </a:solidFill>
            <a:prstDash val="solid"/>
          </a:ln>
        </p:spPr>
      </p:sp>
      <p:sp>
        <p:nvSpPr>
          <p:cNvPr id="18" name="Text 15"/>
          <p:cNvSpPr txBox="1"/>
          <p:nvPr/>
        </p:nvSpPr>
        <p:spPr>
          <a:xfrm>
            <a:off x="731520" y="5239512"/>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9" name="Text 16"/>
          <p:cNvSpPr txBox="1"/>
          <p:nvPr/>
        </p:nvSpPr>
        <p:spPr>
          <a:xfrm>
            <a:off x="1463040" y="5193792"/>
            <a:ext cx="6949440" cy="82296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The contract is GeM's</a:t>
            </a:r>
            <a:endParaRPr lang="en-US" sz="1200" dirty="0"/>
          </a:p>
          <a:p>
            <a:pPr indent="0" marL="0">
              <a:buNone/>
            </a:pPr>
            <a:r>
              <a:rPr lang="en-US" sz="1300" dirty="0">
                <a:solidFill>
                  <a:schemeClr val="accent3"/>
                </a:solidFill>
              </a:rPr>
              <a:t>ATC › STC › GTC, Indian law, the buyer's courts; GeM is never a party</a:t>
            </a:r>
            <a:endParaRPr lang="en-US" sz="1200" dirty="0"/>
          </a:p>
        </p:txBody>
      </p:sp>
      <p:pic>
        <p:nvPicPr>
          <p:cNvPr id="20" name="Image 0" descr="Rose gold gem">    </p:cNvPr>
          <p:cNvPicPr>
            <a:picLocks noChangeAspect="1"/>
          </p:cNvPicPr>
          <p:nvPr/>
        </p:nvPicPr>
        <p:blipFill>
          <a:blip r:embed="rId1"/>
          <a:stretch>
            <a:fillRect/>
          </a:stretch>
        </p:blipFill>
        <p:spPr>
          <a:xfrm>
            <a:off x="8732520" y="1828800"/>
            <a:ext cx="2651760" cy="2651760"/>
          </a:xfrm>
          <a:prstGeom prst="rect">
            <a:avLst/>
          </a:prstGeom>
        </p:spPr>
      </p:pic>
      <p:sp>
        <p:nvSpPr>
          <p:cNvPr id="21" name="Text 0"/>
          <p:cNvSpPr/>
          <p:nvPr>
            <p:ph idx="103" type="body" hasCustomPrompt="1"/>
          </p:nvPr>
        </p:nvSpPr>
        <p:spPr>
          <a:xfrm>
            <a:off x="548640" y="6291072"/>
            <a:ext cx="10424160" cy="411480"/>
          </a:xfrm>
          <a:prstGeom prst="rect">
            <a:avLst/>
          </a:prstGeom>
          <a:noFill/>
          <a:ln/>
        </p:spPr>
        <p:txBody>
          <a:bodyPr wrap="square" lIns="0" tIns="0" rIns="0" bIns="0" rtlCol="0" anchor="t"/>
          <a:lstStyle/>
          <a:p>
            <a:pPr indent="0" marL="0">
              <a:buNone/>
            </a:pPr>
            <a:endParaRPr lang="en-US" sz="950" dirty="0"/>
          </a:p>
        </p:txBody>
      </p:sp>
      <p:sp>
        <p:nvSpPr>
          <p:cNvPr id="25" name="Slide Number Placeholder 0"/>
          <p:cNvSpPr>
            <a:spLocks noGrp="1"/>
          </p:cNvSpPr>
          <p:nvPr>
            <p:ph type="sldNum" sz="quarter" idx="4294967295"/>
          </p:nvPr>
        </p:nvSpPr>
        <p:spPr>
          <a:xfrm>
            <a:off x="11183112"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body" hasCustomPrompt="1"/>
          </p:nvPr>
        </p:nvSpPr>
        <p:spPr>
          <a:xfrm>
            <a:off x="886968" y="283464"/>
            <a:ext cx="1069848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SOURCES  ·  PRIMARY AUTHORITIES RANKED BY GOODS MANUAL 2024, ANNEXURE 1</a:t>
            </a:r>
            <a:endParaRPr lang="en-US" sz="1100" dirty="0"/>
          </a:p>
        </p:txBody>
      </p:sp>
      <p:sp>
        <p:nvSpPr>
          <p:cNvPr id="3" name="Text 0"/>
          <p:cNvSpPr/>
          <p:nvPr>
            <p:ph idx="102" type="title" hasCustomPrompt="1"/>
          </p:nvPr>
        </p:nvSpPr>
        <p:spPr>
          <a:xfrm>
            <a:off x="548640" y="603504"/>
            <a:ext cx="11064240" cy="603504"/>
          </a:xfrm>
          <a:prstGeom prst="rect">
            <a:avLst/>
          </a:prstGeom>
          <a:noFill/>
          <a:ln/>
        </p:spPr>
        <p:txBody>
          <a:bodyPr wrap="square" lIns="0" tIns="0" rIns="0" bIns="0" rtlCol="0" anchor="ctr"/>
          <a:lstStyle/>
          <a:p>
            <a:pPr algn="l" indent="0" marL="0">
              <a:buNone/>
            </a:pPr>
            <a:r>
              <a:rPr lang="en-US" sz="3000" b="1" dirty="0">
                <a:solidFill>
                  <a:schemeClr val="tx2"/>
                </a:solidFill>
              </a:rPr>
              <a:t>Sources</a:t>
            </a:r>
            <a:endParaRPr lang="en-US" sz="3000" dirty="0"/>
          </a:p>
        </p:txBody>
      </p:sp>
      <p:sp>
        <p:nvSpPr>
          <p:cNvPr id="4" name="Text 0"/>
          <p:cNvSpPr/>
          <p:nvPr>
            <p:ph idx="103" type="body" hasCustomPrompt="1"/>
          </p:nvPr>
        </p:nvSpPr>
        <p:spPr>
          <a:xfrm>
            <a:off x="548640" y="6291072"/>
            <a:ext cx="10424160" cy="411480"/>
          </a:xfrm>
          <a:prstGeom prst="rect">
            <a:avLst/>
          </a:prstGeom>
          <a:noFill/>
          <a:ln/>
        </p:spPr>
        <p:txBody>
          <a:bodyPr wrap="square" lIns="0" tIns="0" rIns="0" bIns="0" rtlCol="0" anchor="t"/>
          <a:lstStyle/>
          <a:p>
            <a:pPr indent="0" marL="0">
              <a:buNone/>
            </a:pPr>
            <a:r>
              <a:rPr lang="en-US" sz="950" dirty="0">
                <a:solidFill>
                  <a:schemeClr val="accent6"/>
                </a:solidFill>
              </a:rPr>
              <a:t>Each title is a clickable link to the official document. Full notes and every link are in the presenter's guide.</a:t>
            </a:r>
            <a:endParaRPr lang="en-US" sz="950" dirty="0"/>
          </a:p>
        </p:txBody>
      </p:sp>
      <p:sp>
        <p:nvSpPr>
          <p:cNvPr id="6" name="Level I · Statute"/>
          <p:cNvSpPr/>
          <p:nvPr/>
        </p:nvSpPr>
        <p:spPr>
          <a:xfrm>
            <a:off x="548640" y="1344168"/>
            <a:ext cx="3557016" cy="1572768"/>
          </a:xfrm>
          <a:prstGeom prst="roundRect">
            <a:avLst>
              <a:gd name="adj" fmla="val 5814"/>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7" name="Text 4"/>
          <p:cNvSpPr txBox="1"/>
          <p:nvPr/>
        </p:nvSpPr>
        <p:spPr>
          <a:xfrm>
            <a:off x="694944" y="1417320"/>
            <a:ext cx="3282696" cy="237744"/>
          </a:xfrm>
          <a:prstGeom prst="rect">
            <a:avLst/>
          </a:prstGeom>
          <a:noFill/>
          <a:ln/>
        </p:spPr>
        <p:txBody>
          <a:bodyPr wrap="square" lIns="0" tIns="0" rIns="0" bIns="0" rtlCol="0" anchor="t"/>
          <a:lstStyle/>
          <a:p>
            <a:pPr indent="0" marL="0">
              <a:buNone/>
            </a:pPr>
            <a:r>
              <a:rPr lang="en-US" sz="1100" b="1" dirty="0">
                <a:solidFill>
                  <a:schemeClr val="accent1"/>
                </a:solidFill>
              </a:rPr>
              <a:t>Level I · Statute</a:t>
            </a:r>
            <a:endParaRPr lang="en-US" sz="1100" dirty="0"/>
          </a:p>
        </p:txBody>
      </p:sp>
      <p:sp>
        <p:nvSpPr>
          <p:cNvPr id="8" name="Text 5"/>
          <p:cNvSpPr txBox="1"/>
          <p:nvPr/>
        </p:nvSpPr>
        <p:spPr>
          <a:xfrm>
            <a:off x="694944" y="1709928"/>
            <a:ext cx="3337560" cy="1152144"/>
          </a:xfrm>
          <a:prstGeom prst="rect">
            <a:avLst/>
          </a:prstGeom>
          <a:noFill/>
          <a:ln/>
        </p:spPr>
        <p:txBody>
          <a:bodyPr wrap="square" lIns="0" tIns="0" rIns="0" bIns="0" rtlCol="0" anchor="t"/>
          <a:lstStyle/>
          <a:p>
            <a:pPr marL="127000" indent="-127000">
              <a:spcAft>
                <a:spcPts val="400"/>
              </a:spcAft>
              <a:buSzPct val="100000"/>
              <a:buChar char="•"/>
            </a:pPr>
            <a:r>
              <a:rPr lang="en-US" sz="1050" u="sng" dirty="0">
                <a:solidFill>
                  <a:schemeClr val="accent2"/>
                </a:solidFill>
                <a:hlinkClick r:id="rId1" invalidUrl="" action="" tgtFrame="" tooltip="https://cdnbbsr.s3waas.gov.in/s380537a945c7aaa788ccfcdf1b99b5d8f/uploads/2024/07/20240716890312078.pdf" history="1" highlightClick="0" endSnd="0">
                  <a:extLst>
                    <a:ext uri="{A12FA001-AC4F-418D-AE19-62706E023703}">
                      <ahyp:hlinkClr xmlns:ahyp="http://schemas.microsoft.com/office/drawing/2018/hyperlinkcolor" val="tx"/>
                    </a:ext>
                  </a:extLst>
                </a:hlinkClick>
              </a:rPr>
              <a:t>Constitution of India (as on 1 May 2024)</a:t>
            </a:r>
            <a:endParaRPr lang="en-US" sz="1050" dirty="0"/>
          </a:p>
          <a:p>
            <a:pPr marL="127000" indent="-127000">
              <a:spcAft>
                <a:spcPts val="400"/>
              </a:spcAft>
              <a:buSzPct val="100000"/>
              <a:buChar char="•"/>
            </a:pPr>
            <a:r>
              <a:rPr lang="en-US" sz="1050" u="sng" dirty="0">
                <a:solidFill>
                  <a:schemeClr val="accent2"/>
                </a:solidFill>
                <a:hlinkClick r:id="rId2" invalidUrl="" action="" tgtFrame="" tooltip="https://prsindia.org/files/bills_acts/acts_states/tamil-nadu/1998/1998TN43.pdf" history="1" highlightClick="0" endSnd="0">
                  <a:extLst>
                    <a:ext uri="{A12FA001-AC4F-418D-AE19-62706E023703}">
                      <ahyp:hlinkClr xmlns:ahyp="http://schemas.microsoft.com/office/drawing/2018/hyperlinkcolor" val="tx"/>
                    </a:ext>
                  </a:extLst>
                </a:hlinkClick>
              </a:rPr>
              <a:t>Tamil Nadu Transparency in Tenders Act 1998</a:t>
            </a:r>
            <a:endParaRPr lang="en-US" sz="1050" dirty="0"/>
          </a:p>
          <a:p>
            <a:pPr marL="127000" indent="-127000">
              <a:spcAft>
                <a:spcPts val="400"/>
              </a:spcAft>
              <a:buSzPct val="100000"/>
              <a:buChar char="•"/>
            </a:pPr>
            <a:r>
              <a:rPr lang="en-US" sz="1050" u="sng" dirty="0">
                <a:solidFill>
                  <a:schemeClr val="accent2"/>
                </a:solidFill>
                <a:hlinkClick r:id="rId3" invalidUrl="" action="" tgtFrame="" tooltip="https://prsindia.org/files/bills_acts/acts_states/karnataka/2000/2000Karnataka29.pdf" history="1" highlightClick="0" endSnd="0">
                  <a:extLst>
                    <a:ext uri="{A12FA001-AC4F-418D-AE19-62706E023703}">
                      <ahyp:hlinkClr xmlns:ahyp="http://schemas.microsoft.com/office/drawing/2018/hyperlinkcolor" val="tx"/>
                    </a:ext>
                  </a:extLst>
                </a:hlinkClick>
              </a:rPr>
              <a:t>Karnataka Transparency in Public Procurements Act 1999</a:t>
            </a:r>
            <a:endParaRPr lang="en-US" sz="1050" dirty="0"/>
          </a:p>
          <a:p>
            <a:pPr marL="127000" indent="-127000">
              <a:spcAft>
                <a:spcPts val="400"/>
              </a:spcAft>
              <a:buSzPct val="100000"/>
              <a:buChar char="•"/>
            </a:pPr>
            <a:r>
              <a:rPr lang="en-US" sz="1050" u="sng" dirty="0">
                <a:solidFill>
                  <a:schemeClr val="accent2"/>
                </a:solidFill>
                <a:hlinkClick r:id="rId4" invalidUrl="" action="" tgtFrame="" tooltip="https://prsindia.org/files/bills_acts/acts_states/rajasthan/2012/2012Rajasthan21.pdf" history="1" highlightClick="0" endSnd="0">
                  <a:extLst>
                    <a:ext uri="{A12FA001-AC4F-418D-AE19-62706E023703}">
                      <ahyp:hlinkClr xmlns:ahyp="http://schemas.microsoft.com/office/drawing/2018/hyperlinkcolor" val="tx"/>
                    </a:ext>
                  </a:extLst>
                </a:hlinkClick>
              </a:rPr>
              <a:t>Rajasthan Transparency in Public Procurement Act 2012</a:t>
            </a:r>
            <a:endParaRPr lang="en-US" sz="1050" dirty="0"/>
          </a:p>
        </p:txBody>
      </p:sp>
      <p:sp>
        <p:nvSpPr>
          <p:cNvPr id="9" name="Level II · Rules and orders"/>
          <p:cNvSpPr/>
          <p:nvPr/>
        </p:nvSpPr>
        <p:spPr>
          <a:xfrm>
            <a:off x="548640" y="3035808"/>
            <a:ext cx="3557016" cy="3118104"/>
          </a:xfrm>
          <a:prstGeom prst="roundRect">
            <a:avLst>
              <a:gd name="adj" fmla="val 2933"/>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10" name="Text 7"/>
          <p:cNvSpPr txBox="1"/>
          <p:nvPr/>
        </p:nvSpPr>
        <p:spPr>
          <a:xfrm>
            <a:off x="694944" y="3108960"/>
            <a:ext cx="3282696" cy="237744"/>
          </a:xfrm>
          <a:prstGeom prst="rect">
            <a:avLst/>
          </a:prstGeom>
          <a:noFill/>
          <a:ln/>
        </p:spPr>
        <p:txBody>
          <a:bodyPr wrap="square" lIns="0" tIns="0" rIns="0" bIns="0" rtlCol="0" anchor="t"/>
          <a:lstStyle/>
          <a:p>
            <a:pPr indent="0" marL="0">
              <a:buNone/>
            </a:pPr>
            <a:r>
              <a:rPr lang="en-US" sz="1100" b="1" dirty="0">
                <a:solidFill>
                  <a:schemeClr val="accent1"/>
                </a:solidFill>
              </a:rPr>
              <a:t>Level II · Rules and orders</a:t>
            </a:r>
            <a:endParaRPr lang="en-US" sz="1100" dirty="0"/>
          </a:p>
        </p:txBody>
      </p:sp>
      <p:sp>
        <p:nvSpPr>
          <p:cNvPr id="11" name="Text 8"/>
          <p:cNvSpPr txBox="1"/>
          <p:nvPr/>
        </p:nvSpPr>
        <p:spPr>
          <a:xfrm>
            <a:off x="694944" y="3401568"/>
            <a:ext cx="3337560" cy="2697480"/>
          </a:xfrm>
          <a:prstGeom prst="rect">
            <a:avLst/>
          </a:prstGeom>
          <a:noFill/>
          <a:ln/>
        </p:spPr>
        <p:txBody>
          <a:bodyPr wrap="square" lIns="0" tIns="0" rIns="0" bIns="0" rtlCol="0" anchor="t"/>
          <a:lstStyle/>
          <a:p>
            <a:pPr marL="127000" indent="-127000">
              <a:spcAft>
                <a:spcPts val="400"/>
              </a:spcAft>
              <a:buSzPct val="100000"/>
              <a:buChar char="•"/>
            </a:pPr>
            <a:r>
              <a:rPr lang="en-US" sz="1050" u="sng" dirty="0">
                <a:solidFill>
                  <a:schemeClr val="accent2"/>
                </a:solidFill>
                <a:hlinkClick r:id="rId5" invalidUrl="" action="" tgtFrame="" tooltip="https://doe.gov.in/files/circulars_document/GFRupdatedupto31012026.pdf" history="1" highlightClick="0" endSnd="0">
                  <a:extLst>
                    <a:ext uri="{A12FA001-AC4F-418D-AE19-62706E023703}">
                      <ahyp:hlinkClr xmlns:ahyp="http://schemas.microsoft.com/office/drawing/2018/hyperlinkcolor" val="tx"/>
                    </a:ext>
                  </a:extLst>
                </a:hlinkClick>
              </a:rPr>
              <a:t>GFR 2017, updated to 31 Jan 2026</a:t>
            </a:r>
            <a:endParaRPr lang="en-US" sz="1050" dirty="0"/>
          </a:p>
          <a:p>
            <a:pPr marL="127000" indent="-127000">
              <a:spcAft>
                <a:spcPts val="400"/>
              </a:spcAft>
              <a:buSzPct val="100000"/>
              <a:buChar char="•"/>
            </a:pPr>
            <a:r>
              <a:rPr lang="en-US" sz="1050" u="sng" dirty="0">
                <a:solidFill>
                  <a:schemeClr val="accent2"/>
                </a:solidFill>
                <a:hlinkClick r:id="rId6" invalidUrl="" action="" tgtFrame="" tooltip="https://doe.gov.in/files/circulars_document/Delegation_of_Financial_Powers_Rules_2024_Booklet.pdf" history="1" highlightClick="0" endSnd="0">
                  <a:extLst>
                    <a:ext uri="{A12FA001-AC4F-418D-AE19-62706E023703}">
                      <ahyp:hlinkClr xmlns:ahyp="http://schemas.microsoft.com/office/drawing/2018/hyperlinkcolor" val="tx"/>
                    </a:ext>
                  </a:extLst>
                </a:hlinkClick>
              </a:rPr>
              <a:t>DFPR 2024</a:t>
            </a:r>
            <a:endParaRPr lang="en-US" sz="1050" dirty="0"/>
          </a:p>
          <a:p>
            <a:pPr marL="127000" indent="-127000">
              <a:spcAft>
                <a:spcPts val="400"/>
              </a:spcAft>
              <a:buSzPct val="100000"/>
              <a:buChar char="•"/>
            </a:pPr>
            <a:r>
              <a:rPr lang="en-US" sz="1050" u="sng" dirty="0">
                <a:solidFill>
                  <a:schemeClr val="accent2"/>
                </a:solidFill>
                <a:hlinkClick r:id="rId7" invalidUrl="" action="" tgtFrame="" tooltip="https://doe.gov.in/files/circulars_document/OM_1_3_2024_PPD_dated_10_07_2024.pdf" history="1" highlightClick="0" endSnd="0">
                  <a:extLst>
                    <a:ext uri="{A12FA001-AC4F-418D-AE19-62706E023703}">
                      <ahyp:hlinkClr xmlns:ahyp="http://schemas.microsoft.com/office/drawing/2018/hyperlinkcolor" val="tx"/>
                    </a:ext>
                  </a:extLst>
                </a:hlinkClick>
              </a:rPr>
              <a:t>DoE OM, 10 Jul 2024 (thresholds)</a:t>
            </a:r>
            <a:endParaRPr lang="en-US" sz="1050" dirty="0"/>
          </a:p>
          <a:p>
            <a:pPr marL="127000" indent="-127000">
              <a:spcAft>
                <a:spcPts val="400"/>
              </a:spcAft>
              <a:buSzPct val="100000"/>
              <a:buChar char="•"/>
            </a:pPr>
            <a:r>
              <a:rPr lang="en-US" sz="1050" u="sng" dirty="0">
                <a:solidFill>
                  <a:schemeClr val="accent2"/>
                </a:solidFill>
                <a:hlinkClick r:id="rId8" invalidUrl="" action="" tgtFrame="" tooltip="https://doe.gov.in/files/circulars_document/Guidelines_for_Arbitration_and_Mediation_in_Contracts_of_Domestic_Public_Procurement.pdf" history="1" highlightClick="0" endSnd="0">
                  <a:extLst>
                    <a:ext uri="{A12FA001-AC4F-418D-AE19-62706E023703}">
                      <ahyp:hlinkClr xmlns:ahyp="http://schemas.microsoft.com/office/drawing/2018/hyperlinkcolor" val="tx"/>
                    </a:ext>
                  </a:extLst>
                </a:hlinkClick>
              </a:rPr>
              <a:t>DoE OM, 3 Jun 2024 (arbitration and mediation)</a:t>
            </a:r>
            <a:endParaRPr lang="en-US" sz="1050" dirty="0"/>
          </a:p>
          <a:p>
            <a:pPr marL="127000" indent="-127000">
              <a:spcAft>
                <a:spcPts val="400"/>
              </a:spcAft>
              <a:buSzPct val="100000"/>
              <a:buChar char="•"/>
            </a:pPr>
            <a:r>
              <a:rPr lang="en-US" sz="1050" u="sng" dirty="0">
                <a:solidFill>
                  <a:schemeClr val="accent2"/>
                </a:solidFill>
                <a:hlinkClick r:id="rId9" invalidUrl="" action="" tgtFrame="" tooltip="https://doe.gov.in/files/circulars_document/Procurement_of_Goods_and_Services_through_Government_e-Marketplace.pdf" history="1" highlightClick="0" endSnd="0">
                  <a:extLst>
                    <a:ext uri="{A12FA001-AC4F-418D-AE19-62706E023703}">
                      <ahyp:hlinkClr xmlns:ahyp="http://schemas.microsoft.com/office/drawing/2018/hyperlinkcolor" val="tx"/>
                    </a:ext>
                  </a:extLst>
                </a:hlinkClick>
              </a:rPr>
              <a:t>DoE OM, 11 Jun 2021 (GeMAR&amp;PTS)</a:t>
            </a:r>
            <a:endParaRPr lang="en-US" sz="1050" dirty="0"/>
          </a:p>
          <a:p>
            <a:pPr marL="127000" indent="-127000">
              <a:spcAft>
                <a:spcPts val="400"/>
              </a:spcAft>
              <a:buSzPct val="100000"/>
              <a:buChar char="•"/>
            </a:pPr>
            <a:r>
              <a:rPr lang="en-US" sz="1050" u="sng" dirty="0">
                <a:solidFill>
                  <a:schemeClr val="accent2"/>
                </a:solidFill>
                <a:hlinkClick r:id="rId10" invalidUrl="" action="" tgtFrame="" tooltip="https://doe.gov.in/files/circulars_document/Push_Button_Procurement_2.pdf" history="1" highlightClick="0" endSnd="0">
                  <a:extLst>
                    <a:ext uri="{A12FA001-AC4F-418D-AE19-62706E023703}">
                      <ahyp:hlinkClr xmlns:ahyp="http://schemas.microsoft.com/office/drawing/2018/hyperlinkcolor" val="tx"/>
                    </a:ext>
                  </a:extLst>
                </a:hlinkClick>
              </a:rPr>
              <a:t>DoE OMs on PBP, 6 Sep 2022 and 11 Jan 2023</a:t>
            </a:r>
            <a:endParaRPr lang="en-US" sz="1050" dirty="0"/>
          </a:p>
          <a:p>
            <a:pPr marL="127000" indent="-127000">
              <a:spcAft>
                <a:spcPts val="400"/>
              </a:spcAft>
              <a:buSzPct val="100000"/>
              <a:buChar char="•"/>
            </a:pPr>
            <a:r>
              <a:rPr lang="en-US" sz="1050" u="sng" dirty="0">
                <a:solidFill>
                  <a:schemeClr val="accent2"/>
                </a:solidFill>
                <a:hlinkClick r:id="rId11" invalidUrl="" action="" tgtFrame="" tooltip="https://doe.gov.in/files/circulars_document/Amendments_in_General_Financial_Rules_GFR%202017.pdf" history="1" highlightClick="0" endSnd="0">
                  <a:extLst>
                    <a:ext uri="{A12FA001-AC4F-418D-AE19-62706E023703}">
                      <ahyp:hlinkClr xmlns:ahyp="http://schemas.microsoft.com/office/drawing/2018/hyperlinkcolor" val="tx"/>
                    </a:ext>
                  </a:extLst>
                </a:hlinkClick>
              </a:rPr>
              <a:t>DoE OM, 4 Feb 2019 (DGS&amp;D replaced by GeM)</a:t>
            </a:r>
            <a:endParaRPr lang="en-US" sz="1050" dirty="0"/>
          </a:p>
          <a:p>
            <a:pPr marL="127000" indent="-127000">
              <a:spcAft>
                <a:spcPts val="400"/>
              </a:spcAft>
              <a:buSzPct val="100000"/>
              <a:buChar char="•"/>
            </a:pPr>
            <a:r>
              <a:rPr lang="en-US" sz="1050" u="sng" dirty="0">
                <a:solidFill>
                  <a:schemeClr val="accent2"/>
                </a:solidFill>
                <a:hlinkClick r:id="rId12" invalidUrl="" action="" tgtFrame="" tooltip="https://doe.gov.in/files/circulars_document/Order_Public_Procurement_No_4_Restrictions_under_Rule_144_xi_of_the_General_Financial_Rules_GFRs_2017_0.pdf" history="1" highlightClick="0" endSnd="0">
                  <a:extLst>
                    <a:ext uri="{A12FA001-AC4F-418D-AE19-62706E023703}">
                      <ahyp:hlinkClr xmlns:ahyp="http://schemas.microsoft.com/office/drawing/2018/hyperlinkcolor" val="tx"/>
                    </a:ext>
                  </a:extLst>
                </a:hlinkClick>
              </a:rPr>
              <a:t>Order (Public Procurement No. 4), 23 Feb 2023</a:t>
            </a:r>
            <a:endParaRPr lang="en-US" sz="1050" dirty="0"/>
          </a:p>
          <a:p>
            <a:pPr marL="127000" indent="-127000">
              <a:spcAft>
                <a:spcPts val="400"/>
              </a:spcAft>
              <a:buSzPct val="100000"/>
              <a:buChar char="•"/>
            </a:pPr>
            <a:r>
              <a:rPr lang="en-US" sz="1050" u="sng" dirty="0">
                <a:solidFill>
                  <a:schemeClr val="accent2"/>
                </a:solidFill>
                <a:hlinkClick r:id="rId13" invalidUrl="" action="" tgtFrame="" tooltip="http://www.dcmsme.gov.in/Gazette%20Notification.pdf" history="1" highlightClick="0" endSnd="0">
                  <a:extLst>
                    <a:ext uri="{A12FA001-AC4F-418D-AE19-62706E023703}">
                      <ahyp:hlinkClr xmlns:ahyp="http://schemas.microsoft.com/office/drawing/2018/hyperlinkcolor" val="tx"/>
                    </a:ext>
                  </a:extLst>
                </a:hlinkClick>
              </a:rPr>
              <a:t>MSE Procurement Policy, 2018 amendment</a:t>
            </a:r>
            <a:endParaRPr lang="en-US" sz="1050" dirty="0"/>
          </a:p>
        </p:txBody>
      </p:sp>
      <p:sp>
        <p:nvSpPr>
          <p:cNvPr id="12" name="Level III · Manuals"/>
          <p:cNvSpPr/>
          <p:nvPr/>
        </p:nvSpPr>
        <p:spPr>
          <a:xfrm>
            <a:off x="4315968" y="1344168"/>
            <a:ext cx="3557016" cy="1874520"/>
          </a:xfrm>
          <a:prstGeom prst="roundRect">
            <a:avLst>
              <a:gd name="adj" fmla="val 4878"/>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13" name="Text 10"/>
          <p:cNvSpPr txBox="1"/>
          <p:nvPr/>
        </p:nvSpPr>
        <p:spPr>
          <a:xfrm>
            <a:off x="4462272" y="1417320"/>
            <a:ext cx="3282696" cy="237744"/>
          </a:xfrm>
          <a:prstGeom prst="rect">
            <a:avLst/>
          </a:prstGeom>
          <a:noFill/>
          <a:ln/>
        </p:spPr>
        <p:txBody>
          <a:bodyPr wrap="square" lIns="0" tIns="0" rIns="0" bIns="0" rtlCol="0" anchor="t"/>
          <a:lstStyle/>
          <a:p>
            <a:pPr indent="0" marL="0">
              <a:buNone/>
            </a:pPr>
            <a:r>
              <a:rPr lang="en-US" sz="1100" b="1" dirty="0">
                <a:solidFill>
                  <a:schemeClr val="accent1"/>
                </a:solidFill>
              </a:rPr>
              <a:t>Level III · Manuals</a:t>
            </a:r>
            <a:endParaRPr lang="en-US" sz="1100" dirty="0"/>
          </a:p>
        </p:txBody>
      </p:sp>
      <p:sp>
        <p:nvSpPr>
          <p:cNvPr id="14" name="Text 11"/>
          <p:cNvSpPr txBox="1"/>
          <p:nvPr/>
        </p:nvSpPr>
        <p:spPr>
          <a:xfrm>
            <a:off x="4462272" y="1709928"/>
            <a:ext cx="3337560" cy="1453896"/>
          </a:xfrm>
          <a:prstGeom prst="rect">
            <a:avLst/>
          </a:prstGeom>
          <a:noFill/>
          <a:ln/>
        </p:spPr>
        <p:txBody>
          <a:bodyPr wrap="square" lIns="0" tIns="0" rIns="0" bIns="0" rtlCol="0" anchor="t"/>
          <a:lstStyle/>
          <a:p>
            <a:pPr marL="127000" indent="-127000">
              <a:spcAft>
                <a:spcPts val="400"/>
              </a:spcAft>
              <a:buSzPct val="100000"/>
              <a:buChar char="•"/>
            </a:pPr>
            <a:r>
              <a:rPr lang="en-US" sz="1050" u="sng" dirty="0">
                <a:solidFill>
                  <a:schemeClr val="accent2"/>
                </a:solidFill>
                <a:hlinkClick r:id="rId14" invalidUrl="" action="" tgtFrame="" tooltip="https://doe.gov.in/files/manuals_documents/Goods.pdf" history="1" highlightClick="0" endSnd="0">
                  <a:extLst>
                    <a:ext uri="{A12FA001-AC4F-418D-AE19-62706E023703}">
                      <ahyp:hlinkClr xmlns:ahyp="http://schemas.microsoft.com/office/drawing/2018/hyperlinkcolor" val="tx"/>
                    </a:ext>
                  </a:extLst>
                </a:hlinkClick>
              </a:rPr>
              <a:t>Goods Manual, 2nd ed. 2024</a:t>
            </a:r>
            <a:endParaRPr lang="en-US" sz="1050" dirty="0"/>
          </a:p>
          <a:p>
            <a:pPr marL="127000" indent="-127000">
              <a:spcAft>
                <a:spcPts val="400"/>
              </a:spcAft>
              <a:buSzPct val="100000"/>
              <a:buChar char="•"/>
            </a:pPr>
            <a:r>
              <a:rPr lang="en-US" sz="1050" u="sng" dirty="0">
                <a:solidFill>
                  <a:schemeClr val="accent2"/>
                </a:solidFill>
                <a:hlinkClick r:id="rId15" invalidUrl="" action="" tgtFrame="" tooltip="https://doe.gov.in/files/manuals_documents/CS2025.pdf" history="1" highlightClick="0" endSnd="0">
                  <a:extLst>
                    <a:ext uri="{A12FA001-AC4F-418D-AE19-62706E023703}">
                      <ahyp:hlinkClr xmlns:ahyp="http://schemas.microsoft.com/office/drawing/2018/hyperlinkcolor" val="tx"/>
                    </a:ext>
                  </a:extLst>
                </a:hlinkClick>
              </a:rPr>
              <a:t>Consultancy Services Manual, 2nd ed. 2025</a:t>
            </a:r>
            <a:endParaRPr lang="en-US" sz="1050" dirty="0"/>
          </a:p>
          <a:p>
            <a:pPr marL="127000" indent="-127000">
              <a:spcAft>
                <a:spcPts val="400"/>
              </a:spcAft>
              <a:buSzPct val="100000"/>
              <a:buChar char="•"/>
            </a:pPr>
            <a:r>
              <a:rPr lang="en-US" sz="1050" u="sng" dirty="0">
                <a:solidFill>
                  <a:schemeClr val="accent2"/>
                </a:solidFill>
                <a:hlinkClick r:id="rId16" invalidUrl="" action="" tgtFrame="" tooltip="https://doe.gov.in/files/manuals_documents/MfPoNCS2025.pdf" history="1" highlightClick="0" endSnd="0">
                  <a:extLst>
                    <a:ext uri="{A12FA001-AC4F-418D-AE19-62706E023703}">
                      <ahyp:hlinkClr xmlns:ahyp="http://schemas.microsoft.com/office/drawing/2018/hyperlinkcolor" val="tx"/>
                    </a:ext>
                  </a:extLst>
                </a:hlinkClick>
              </a:rPr>
              <a:t>Non-Consultancy Services Manual, 2025</a:t>
            </a:r>
            <a:endParaRPr lang="en-US" sz="1050" dirty="0"/>
          </a:p>
          <a:p>
            <a:pPr marL="127000" indent="-127000">
              <a:spcAft>
                <a:spcPts val="400"/>
              </a:spcAft>
              <a:buSzPct val="100000"/>
              <a:buChar char="•"/>
            </a:pPr>
            <a:r>
              <a:rPr lang="en-US" sz="1050" u="sng" dirty="0">
                <a:solidFill>
                  <a:schemeClr val="accent2"/>
                </a:solidFill>
                <a:hlinkClick r:id="rId17" invalidUrl="" action="" tgtFrame="" tooltip="https://doe.gov.in/files/manuals_documents/Works_Manual_SE_2025.pdf" history="1" highlightClick="0" endSnd="0">
                  <a:extLst>
                    <a:ext uri="{A12FA001-AC4F-418D-AE19-62706E023703}">
                      <ahyp:hlinkClr xmlns:ahyp="http://schemas.microsoft.com/office/drawing/2018/hyperlinkcolor" val="tx"/>
                    </a:ext>
                  </a:extLst>
                </a:hlinkClick>
              </a:rPr>
              <a:t>Works Manual, 2nd ed. 2025</a:t>
            </a:r>
            <a:endParaRPr lang="en-US" sz="1050" dirty="0"/>
          </a:p>
          <a:p>
            <a:pPr marL="127000" indent="-127000">
              <a:spcAft>
                <a:spcPts val="400"/>
              </a:spcAft>
              <a:buSzPct val="100000"/>
              <a:buChar char="•"/>
            </a:pPr>
            <a:r>
              <a:rPr lang="en-US" sz="1050" u="sng" dirty="0">
                <a:solidFill>
                  <a:schemeClr val="accent2"/>
                </a:solidFill>
                <a:hlinkClick r:id="rId18" invalidUrl="" action="" tgtFrame="" tooltip="https://doe.gov.in/files/manuals_documents/Manual_for_Procurement_of_Goods_Updated%20June%2C%202022.pdf" history="1" highlightClick="0" endSnd="0">
                  <a:extLst>
                    <a:ext uri="{A12FA001-AC4F-418D-AE19-62706E023703}">
                      <ahyp:hlinkClr xmlns:ahyp="http://schemas.microsoft.com/office/drawing/2018/hyperlinkcolor" val="tx"/>
                    </a:ext>
                  </a:extLst>
                </a:hlinkClick>
              </a:rPr>
              <a:t>Goods Manual, updated June 2022</a:t>
            </a:r>
            <a:endParaRPr lang="en-US" sz="1050" dirty="0"/>
          </a:p>
        </p:txBody>
      </p:sp>
      <p:sp>
        <p:nvSpPr>
          <p:cNvPr id="15" name="Level IV · Contract terms"/>
          <p:cNvSpPr/>
          <p:nvPr/>
        </p:nvSpPr>
        <p:spPr>
          <a:xfrm>
            <a:off x="4315968" y="3337560"/>
            <a:ext cx="3557016" cy="1024128"/>
          </a:xfrm>
          <a:prstGeom prst="roundRect">
            <a:avLst>
              <a:gd name="adj" fmla="val 8929"/>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16" name="Text 13"/>
          <p:cNvSpPr txBox="1"/>
          <p:nvPr/>
        </p:nvSpPr>
        <p:spPr>
          <a:xfrm>
            <a:off x="4462272" y="3410712"/>
            <a:ext cx="3282696" cy="237744"/>
          </a:xfrm>
          <a:prstGeom prst="rect">
            <a:avLst/>
          </a:prstGeom>
          <a:noFill/>
          <a:ln/>
        </p:spPr>
        <p:txBody>
          <a:bodyPr wrap="square" lIns="0" tIns="0" rIns="0" bIns="0" rtlCol="0" anchor="t"/>
          <a:lstStyle/>
          <a:p>
            <a:pPr indent="0" marL="0">
              <a:buNone/>
            </a:pPr>
            <a:r>
              <a:rPr lang="en-US" sz="1100" b="1" dirty="0">
                <a:solidFill>
                  <a:schemeClr val="accent1"/>
                </a:solidFill>
              </a:rPr>
              <a:t>Level IV · Contract terms</a:t>
            </a:r>
            <a:endParaRPr lang="en-US" sz="1100" dirty="0"/>
          </a:p>
        </p:txBody>
      </p:sp>
      <p:sp>
        <p:nvSpPr>
          <p:cNvPr id="17" name="Text 14"/>
          <p:cNvSpPr txBox="1"/>
          <p:nvPr/>
        </p:nvSpPr>
        <p:spPr>
          <a:xfrm>
            <a:off x="4462272" y="3703320"/>
            <a:ext cx="3337560" cy="603504"/>
          </a:xfrm>
          <a:prstGeom prst="rect">
            <a:avLst/>
          </a:prstGeom>
          <a:noFill/>
          <a:ln/>
        </p:spPr>
        <p:txBody>
          <a:bodyPr wrap="square" lIns="0" tIns="0" rIns="0" bIns="0" rtlCol="0" anchor="t"/>
          <a:lstStyle/>
          <a:p>
            <a:pPr marL="127000" indent="-127000">
              <a:spcAft>
                <a:spcPts val="400"/>
              </a:spcAft>
              <a:buSzPct val="100000"/>
              <a:buChar char="•"/>
            </a:pPr>
            <a:r>
              <a:rPr lang="en-US" sz="1050" u="sng" dirty="0">
                <a:solidFill>
                  <a:schemeClr val="accent2"/>
                </a:solidFill>
                <a:hlinkClick r:id="rId19" invalidUrl="" action="" tgtFrame="" tooltip="https://www.iiserbpr.ac.in/uploads/file_upload/GeM%20Latest%20Guidelines%20Mar%202026.pdf" history="1" highlightClick="0" endSnd="0">
                  <a:extLst>
                    <a:ext uri="{A12FA001-AC4F-418D-AE19-62706E023703}">
                      <ahyp:hlinkClr xmlns:ahyp="http://schemas.microsoft.com/office/drawing/2018/hyperlinkcolor" val="tx"/>
                    </a:ext>
                  </a:extLst>
                </a:hlinkClick>
              </a:rPr>
              <a:t>GeM GTC on GeM 4.0, v1.29 (25 Mar 2026)</a:t>
            </a:r>
            <a:endParaRPr lang="en-US" sz="1050" dirty="0"/>
          </a:p>
          <a:p>
            <a:pPr marL="127000" indent="-127000">
              <a:spcAft>
                <a:spcPts val="400"/>
              </a:spcAft>
              <a:buSzPct val="100000"/>
              <a:buChar char="•"/>
            </a:pPr>
            <a:r>
              <a:rPr lang="en-US" sz="1050" u="sng" dirty="0">
                <a:solidFill>
                  <a:schemeClr val="accent2"/>
                </a:solidFill>
                <a:hlinkClick r:id="rId20" invalidUrl="" action="" tgtFrame="" tooltip="https://assets-bg.gem.gov.in/resources/pdf/pbp-buyer_1662620846.pdf" history="1" highlightClick="0" endSnd="0">
                  <a:extLst>
                    <a:ext uri="{A12FA001-AC4F-418D-AE19-62706E023703}">
                      <ahyp:hlinkClr xmlns:ahyp="http://schemas.microsoft.com/office/drawing/2018/hyperlinkcolor" val="tx"/>
                    </a:ext>
                  </a:extLst>
                </a:hlinkClick>
              </a:rPr>
              <a:t>GeM Push Button Procurement buyer manual</a:t>
            </a:r>
            <a:endParaRPr lang="en-US" sz="1050" dirty="0"/>
          </a:p>
        </p:txBody>
      </p:sp>
      <p:sp>
        <p:nvSpPr>
          <p:cNvPr id="18" name="Official records"/>
          <p:cNvSpPr/>
          <p:nvPr/>
        </p:nvSpPr>
        <p:spPr>
          <a:xfrm>
            <a:off x="8083296" y="1344168"/>
            <a:ext cx="3557016" cy="2743200"/>
          </a:xfrm>
          <a:prstGeom prst="roundRect">
            <a:avLst>
              <a:gd name="adj" fmla="val 3333"/>
            </a:avLst>
          </a:prstGeom>
          <a:solidFill>
            <a:schemeClr val="bg1"/>
          </a:solidFill>
          <a:ln w="9525">
            <a:solidFill>
              <a:schemeClr val="accent4"/>
            </a:solidFill>
            <a:prstDash val="solid"/>
          </a:ln>
          <a:effectLst>
            <a:outerShdw sx="100000" sy="100000" kx="0" ky="0" algn="bl" rotWithShape="0" blurRad="127000" dist="25400" dir="5400000">
              <a:srgbClr val="6B4FA0">
                <a:alpha val="12000"/>
              </a:srgbClr>
            </a:outerShdw>
          </a:effectLst>
        </p:spPr>
      </p:sp>
      <p:sp>
        <p:nvSpPr>
          <p:cNvPr id="19" name="Text 16"/>
          <p:cNvSpPr txBox="1"/>
          <p:nvPr/>
        </p:nvSpPr>
        <p:spPr>
          <a:xfrm>
            <a:off x="8229600" y="1417320"/>
            <a:ext cx="3282696" cy="237744"/>
          </a:xfrm>
          <a:prstGeom prst="rect">
            <a:avLst/>
          </a:prstGeom>
          <a:noFill/>
          <a:ln/>
        </p:spPr>
        <p:txBody>
          <a:bodyPr wrap="square" lIns="0" tIns="0" rIns="0" bIns="0" rtlCol="0" anchor="t"/>
          <a:lstStyle/>
          <a:p>
            <a:pPr indent="0" marL="0">
              <a:buNone/>
            </a:pPr>
            <a:r>
              <a:rPr lang="en-US" sz="1100" b="1" dirty="0">
                <a:solidFill>
                  <a:schemeClr val="accent1"/>
                </a:solidFill>
              </a:rPr>
              <a:t>Official records</a:t>
            </a:r>
            <a:endParaRPr lang="en-US" sz="1100" dirty="0"/>
          </a:p>
        </p:txBody>
      </p:sp>
      <p:sp>
        <p:nvSpPr>
          <p:cNvPr id="20" name="Text 17"/>
          <p:cNvSpPr txBox="1"/>
          <p:nvPr/>
        </p:nvSpPr>
        <p:spPr>
          <a:xfrm>
            <a:off x="8229600" y="1709928"/>
            <a:ext cx="3337560" cy="2322576"/>
          </a:xfrm>
          <a:prstGeom prst="rect">
            <a:avLst/>
          </a:prstGeom>
          <a:noFill/>
          <a:ln/>
        </p:spPr>
        <p:txBody>
          <a:bodyPr wrap="square" lIns="0" tIns="0" rIns="0" bIns="0" rtlCol="0" anchor="t"/>
          <a:lstStyle/>
          <a:p>
            <a:pPr marL="127000" indent="-127000">
              <a:spcAft>
                <a:spcPts val="400"/>
              </a:spcAft>
              <a:buSzPct val="100000"/>
              <a:buChar char="•"/>
            </a:pPr>
            <a:r>
              <a:rPr lang="en-US" sz="1050" u="sng" dirty="0">
                <a:solidFill>
                  <a:schemeClr val="accent2"/>
                </a:solidFill>
                <a:hlinkClick r:id="rId21" invalidUrl="" action="" tgtFrame="" tooltip="https://www.pmindia.gov.in/?p=2125971" history="1" highlightClick="0" endSnd="0">
                  <a:extLst>
                    <a:ext uri="{A12FA001-AC4F-418D-AE19-62706E023703}">
                      <ahyp:hlinkClr xmlns:ahyp="http://schemas.microsoft.com/office/drawing/2018/hyperlinkcolor" val="tx"/>
                    </a:ext>
                  </a:extLst>
                </a:hlinkClick>
              </a:rPr>
              <a:t>Cabinet, 12 Apr 2017 (GeM SPV)</a:t>
            </a:r>
            <a:endParaRPr lang="en-US" sz="1050" dirty="0"/>
          </a:p>
          <a:p>
            <a:pPr marL="127000" indent="-127000">
              <a:spcAft>
                <a:spcPts val="400"/>
              </a:spcAft>
              <a:buSzPct val="100000"/>
              <a:buChar char="•"/>
            </a:pPr>
            <a:r>
              <a:rPr lang="en-US" sz="1050" u="sng" dirty="0">
                <a:solidFill>
                  <a:schemeClr val="accent2"/>
                </a:solidFill>
                <a:hlinkClick r:id="rId22" invalidUrl="" action="" tgtFrame="" tooltip="https://www.pmindia.gov.in/en/news_updates/cabinet-approves-expanding-the-mandate-of-government-e-marketplace-special-purpose-vehicle-gem-spv-to-allow-procurement-by-cooperatives-as-buyers/" history="1" highlightClick="0" endSnd="0">
                  <a:extLst>
                    <a:ext uri="{A12FA001-AC4F-418D-AE19-62706E023703}">
                      <ahyp:hlinkClr xmlns:ahyp="http://schemas.microsoft.com/office/drawing/2018/hyperlinkcolor" val="tx"/>
                    </a:ext>
                  </a:extLst>
                </a:hlinkClick>
              </a:rPr>
              <a:t>Cabinet, 1 Jun 2022 (cooperatives)</a:t>
            </a:r>
            <a:endParaRPr lang="en-US" sz="1050" dirty="0"/>
          </a:p>
          <a:p>
            <a:pPr marL="127000" indent="-127000">
              <a:spcAft>
                <a:spcPts val="400"/>
              </a:spcAft>
              <a:buSzPct val="100000"/>
              <a:buChar char="•"/>
            </a:pPr>
            <a:r>
              <a:rPr lang="en-US" sz="1050" u="sng" dirty="0">
                <a:solidFill>
                  <a:schemeClr val="accent2"/>
                </a:solidFill>
                <a:hlinkClick r:id="rId23" invalidUrl="" action="" tgtFrame="" tooltip="https://cag.gov.in/uploads/icisa_it_reports/511826d89e666c9210b864837c29d60c-062663434a855f8-57539731.pdf" history="1" highlightClick="0" endSnd="0">
                  <a:extLst>
                    <a:ext uri="{A12FA001-AC4F-418D-AE19-62706E023703}">
                      <ahyp:hlinkClr xmlns:ahyp="http://schemas.microsoft.com/office/drawing/2018/hyperlinkcolor" val="tx"/>
                    </a:ext>
                  </a:extLst>
                </a:hlinkClick>
              </a:rPr>
              <a:t>CAG Report No. 18 of 2020, Ch. IV</a:t>
            </a:r>
            <a:endParaRPr lang="en-US" sz="1050" dirty="0"/>
          </a:p>
          <a:p>
            <a:pPr marL="127000" indent="-127000">
              <a:spcAft>
                <a:spcPts val="400"/>
              </a:spcAft>
              <a:buSzPct val="100000"/>
              <a:buChar char="•"/>
            </a:pPr>
            <a:r>
              <a:rPr lang="en-US" sz="1050" u="sng" dirty="0">
                <a:solidFill>
                  <a:schemeClr val="accent2"/>
                </a:solidFill>
                <a:hlinkClick r:id="rId24" invalidUrl="" action="" tgtFrame="" tooltip="https://doe.gov.in/files/whats_new_documents/FM_releases_Revised_GFR2017.pdf" history="1" highlightClick="0" endSnd="0">
                  <a:extLst>
                    <a:ext uri="{A12FA001-AC4F-418D-AE19-62706E023703}">
                      <ahyp:hlinkClr xmlns:ahyp="http://schemas.microsoft.com/office/drawing/2018/hyperlinkcolor" val="tx"/>
                    </a:ext>
                  </a:extLst>
                </a:hlinkClick>
              </a:rPr>
              <a:t>PIB, 7 Mar 2017 (GFR 2017 released)</a:t>
            </a:r>
            <a:endParaRPr lang="en-US" sz="1050" dirty="0"/>
          </a:p>
          <a:p>
            <a:pPr marL="127000" indent="-127000">
              <a:spcAft>
                <a:spcPts val="400"/>
              </a:spcAft>
              <a:buSzPct val="100000"/>
              <a:buChar char="•"/>
            </a:pPr>
            <a:r>
              <a:rPr lang="en-US" sz="1050" u="sng" dirty="0">
                <a:solidFill>
                  <a:schemeClr val="accent2"/>
                </a:solidFill>
                <a:hlinkClick r:id="rId25" invalidUrl="" action="" tgtFrame="" tooltip="https://www.pib.gov.in/PressReleasePage.aspx?PRID=2249335" history="1" highlightClick="0" endSnd="0">
                  <a:extLst>
                    <a:ext uri="{A12FA001-AC4F-418D-AE19-62706E023703}">
                      <ahyp:hlinkClr xmlns:ahyp="http://schemas.microsoft.com/office/drawing/2018/hyperlinkcolor" val="tx"/>
                    </a:ext>
                  </a:extLst>
                </a:hlinkClick>
              </a:rPr>
              <a:t>PIB, 6 Apr 2026 (₹18.4 lakh crore GMV)</a:t>
            </a:r>
            <a:endParaRPr lang="en-US" sz="1050" dirty="0"/>
          </a:p>
          <a:p>
            <a:pPr marL="127000" indent="-127000">
              <a:spcAft>
                <a:spcPts val="400"/>
              </a:spcAft>
              <a:buSzPct val="100000"/>
              <a:buChar char="•"/>
            </a:pPr>
            <a:r>
              <a:rPr lang="en-US" sz="1050" u="sng" dirty="0">
                <a:solidFill>
                  <a:schemeClr val="accent2"/>
                </a:solidFill>
                <a:hlinkClick r:id="rId26" invalidUrl="" action="" tgtFrame="" tooltip="https://www.pib.gov.in/PressReleasePage.aspx?PRID=2296546" history="1" highlightClick="0" endSnd="0">
                  <a:extLst>
                    <a:ext uri="{A12FA001-AC4F-418D-AE19-62706E023703}">
                      <ahyp:hlinkClr xmlns:ahyp="http://schemas.microsoft.com/office/drawing/2018/hyperlinkcolor" val="tx"/>
                    </a:ext>
                  </a:extLst>
                </a:hlinkClick>
              </a:rPr>
              <a:t>PIB Backgrounder, 8 Aug 2026 (10 years)</a:t>
            </a:r>
            <a:endParaRPr lang="en-US" sz="1050" dirty="0"/>
          </a:p>
        </p:txBody>
      </p:sp>
      <p:sp>
        <p:nvSpPr>
          <p:cNvPr id="21" name="Secondary"/>
          <p:cNvSpPr/>
          <p:nvPr/>
        </p:nvSpPr>
        <p:spPr>
          <a:xfrm>
            <a:off x="8083296" y="4206240"/>
            <a:ext cx="3557016" cy="1947672"/>
          </a:xfrm>
          <a:prstGeom prst="roundRect">
            <a:avLst>
              <a:gd name="adj" fmla="val 4695"/>
            </a:avLst>
          </a:prstGeom>
          <a:solidFill>
            <a:schemeClr val="accent4"/>
          </a:solidFill>
          <a:ln w="9525">
            <a:solidFill>
              <a:schemeClr val="accent4"/>
            </a:solidFill>
            <a:prstDash val="solid"/>
          </a:ln>
        </p:spPr>
      </p:sp>
      <p:sp>
        <p:nvSpPr>
          <p:cNvPr id="22" name="Text 19"/>
          <p:cNvSpPr txBox="1"/>
          <p:nvPr/>
        </p:nvSpPr>
        <p:spPr>
          <a:xfrm>
            <a:off x="8229600" y="4279392"/>
            <a:ext cx="3282696" cy="237744"/>
          </a:xfrm>
          <a:prstGeom prst="rect">
            <a:avLst/>
          </a:prstGeom>
          <a:noFill/>
          <a:ln/>
        </p:spPr>
        <p:txBody>
          <a:bodyPr wrap="square" lIns="0" tIns="0" rIns="0" bIns="0" rtlCol="0" anchor="t"/>
          <a:lstStyle/>
          <a:p>
            <a:pPr indent="0" marL="0">
              <a:buNone/>
            </a:pPr>
            <a:r>
              <a:rPr lang="en-US" sz="1100" b="1" dirty="0">
                <a:solidFill>
                  <a:schemeClr val="accent6"/>
                </a:solidFill>
              </a:rPr>
              <a:t>Secondary</a:t>
            </a:r>
            <a:endParaRPr lang="en-US" sz="1100" dirty="0"/>
          </a:p>
        </p:txBody>
      </p:sp>
      <p:sp>
        <p:nvSpPr>
          <p:cNvPr id="23" name="Text 20"/>
          <p:cNvSpPr txBox="1"/>
          <p:nvPr/>
        </p:nvSpPr>
        <p:spPr>
          <a:xfrm>
            <a:off x="8229600" y="4572000"/>
            <a:ext cx="3337560" cy="1527048"/>
          </a:xfrm>
          <a:prstGeom prst="rect">
            <a:avLst/>
          </a:prstGeom>
          <a:noFill/>
          <a:ln/>
        </p:spPr>
        <p:txBody>
          <a:bodyPr wrap="square" lIns="0" tIns="0" rIns="0" bIns="0" rtlCol="0" anchor="t"/>
          <a:lstStyle/>
          <a:p>
            <a:pPr marL="127000" indent="-127000">
              <a:spcAft>
                <a:spcPts val="400"/>
              </a:spcAft>
              <a:buSzPct val="100000"/>
              <a:buChar char="•"/>
            </a:pPr>
            <a:r>
              <a:rPr lang="en-US" sz="1050" u="sng" dirty="0">
                <a:solidFill>
                  <a:schemeClr val="accent2"/>
                </a:solidFill>
                <a:hlinkClick r:id="rId27" invalidUrl="" action="" tgtFrame="" tooltip="https://prsindia.org/billtrack/the-public-procurement-bill-2012" history="1" highlightClick="0" endSnd="0">
                  <a:extLst>
                    <a:ext uri="{A12FA001-AC4F-418D-AE19-62706E023703}">
                      <ahyp:hlinkClr xmlns:ahyp="http://schemas.microsoft.com/office/drawing/2018/hyperlinkcolor" val="tx"/>
                    </a:ext>
                  </a:extLst>
                </a:hlinkClick>
              </a:rPr>
              <a:t>PRS: Public Procurement Bill 2012</a:t>
            </a:r>
            <a:endParaRPr lang="en-US" sz="1050" dirty="0"/>
          </a:p>
          <a:p>
            <a:pPr marL="127000" indent="-127000">
              <a:spcAft>
                <a:spcPts val="400"/>
              </a:spcAft>
              <a:buSzPct val="100000"/>
              <a:buChar char="•"/>
            </a:pPr>
            <a:r>
              <a:rPr lang="en-US" sz="1050" u="sng" dirty="0">
                <a:solidFill>
                  <a:schemeClr val="accent2"/>
                </a:solidFill>
                <a:hlinkClick r:id="rId28" invalidUrl="" action="" tgtFrame="" tooltip="https://www.gktoday.in/commerce-ministry-shut-dgsd/" history="1" highlightClick="0" endSnd="0">
                  <a:extLst>
                    <a:ext uri="{A12FA001-AC4F-418D-AE19-62706E023703}">
                      <ahyp:hlinkClr xmlns:ahyp="http://schemas.microsoft.com/office/drawing/2018/hyperlinkcolor" val="tx"/>
                    </a:ext>
                  </a:extLst>
                </a:hlinkClick>
              </a:rPr>
              <a:t>GKToday: DGS&amp;D history</a:t>
            </a:r>
            <a:endParaRPr lang="en-US" sz="1050" dirty="0"/>
          </a:p>
          <a:p>
            <a:pPr marL="127000" indent="-127000">
              <a:spcAft>
                <a:spcPts val="400"/>
              </a:spcAft>
              <a:buSzPct val="100000"/>
              <a:buChar char="•"/>
            </a:pPr>
            <a:r>
              <a:rPr lang="en-US" sz="1050" u="sng" dirty="0">
                <a:solidFill>
                  <a:schemeClr val="accent2"/>
                </a:solidFill>
                <a:hlinkClick r:id="rId29" invalidUrl="" action="" tgtFrame="" tooltip="https://www.drishtiias.com/daily-updates/daily-news-analysis/10-years-of-government-e-marketplace-gem" history="1" highlightClick="0" endSnd="0">
                  <a:extLst>
                    <a:ext uri="{A12FA001-AC4F-418D-AE19-62706E023703}">
                      <ahyp:hlinkClr xmlns:ahyp="http://schemas.microsoft.com/office/drawing/2018/hyperlinkcolor" val="tx"/>
                    </a:ext>
                  </a:extLst>
                </a:hlinkClick>
              </a:rPr>
              <a:t>Drishti IAS: GeM at 10</a:t>
            </a:r>
            <a:endParaRPr lang="en-US" sz="1050" dirty="0"/>
          </a:p>
        </p:txBody>
      </p:sp>
      <p:sp>
        <p:nvSpPr>
          <p:cNvPr id="24" name="How sources are ranked"/>
          <p:cNvSpPr/>
          <p:nvPr/>
        </p:nvSpPr>
        <p:spPr>
          <a:xfrm>
            <a:off x="4315968" y="4480560"/>
            <a:ext cx="3557016" cy="1673352"/>
          </a:xfrm>
          <a:prstGeom prst="roundRect">
            <a:avLst>
              <a:gd name="adj" fmla="val 5464"/>
            </a:avLst>
          </a:prstGeom>
          <a:solidFill>
            <a:schemeClr val="accent5"/>
          </a:solidFill>
          <a:ln w="9525">
            <a:solidFill>
              <a:schemeClr val="accent3"/>
            </a:solidFill>
            <a:prstDash val="solid"/>
          </a:ln>
        </p:spPr>
      </p:sp>
      <p:sp>
        <p:nvSpPr>
          <p:cNvPr id="25" name="Text 22"/>
          <p:cNvSpPr txBox="1"/>
          <p:nvPr/>
        </p:nvSpPr>
        <p:spPr>
          <a:xfrm>
            <a:off x="4462272" y="4572000"/>
            <a:ext cx="3282696" cy="1508760"/>
          </a:xfrm>
          <a:prstGeom prst="rect">
            <a:avLst/>
          </a:prstGeom>
          <a:noFill/>
          <a:ln/>
        </p:spPr>
        <p:txBody>
          <a:bodyPr wrap="square" lIns="0" tIns="0" rIns="0" bIns="0" rtlCol="0" anchor="t"/>
          <a:lstStyle/>
          <a:p>
            <a:pPr indent="0" marL="0">
              <a:spcAft>
                <a:spcPts val="400"/>
              </a:spcAft>
              <a:buNone/>
            </a:pPr>
            <a:r>
              <a:rPr lang="en-US" sz="1100" b="1" dirty="0">
                <a:solidFill>
                  <a:schemeClr val="accent1"/>
                </a:solidFill>
              </a:rPr>
              <a:t>How sources are ranked</a:t>
            </a:r>
            <a:endParaRPr lang="en-US" sz="1200" dirty="0"/>
          </a:p>
          <a:p>
            <a:pPr indent="0" marL="0">
              <a:spcAft>
                <a:spcPts val="400"/>
              </a:spcAft>
              <a:buNone/>
            </a:pPr>
            <a:r>
              <a:rPr lang="en-US" sz="1050" dirty="0">
                <a:solidFill>
                  <a:schemeClr val="tx1"/>
                </a:solidFill>
              </a:rPr>
              <a:t>Primary: statutes, rules, government orders, MoF manuals, GeM's own terms, and official records (Cabinet, CAG, PIB). Secondary sources only add colour or fill gaps no primary source covers, and are marked † on the slides.</a:t>
            </a:r>
            <a:endParaRPr lang="en-US" sz="1200" dirty="0"/>
          </a:p>
        </p:txBody>
      </p:sp>
      <p:sp>
        <p:nvSpPr>
          <p:cNvPr id="25" name="Slide Number Placeholder 0"/>
          <p:cNvSpPr>
            <a:spLocks noGrp="1"/>
          </p:cNvSpPr>
          <p:nvPr>
            <p:ph type="sldNum" sz="quarter" idx="4294967295"/>
          </p:nvPr>
        </p:nvSpPr>
        <p:spPr>
          <a:xfrm>
            <a:off x="11183112"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GeM Astral Rose">
  <a:themeElements>
    <a:clrScheme name="GeM Astral Rose">
      <a:dk1>
        <a:srgbClr val="2A1B3D"/>
      </a:dk1>
      <a:lt1>
        <a:srgbClr val="FFFFFF"/>
      </a:lt1>
      <a:dk2>
        <a:srgbClr val="1B1230"/>
      </a:dk2>
      <a:lt2>
        <a:srgbClr val="FAF6FA"/>
      </a:lt2>
      <a:accent1>
        <a:srgbClr val="B0636F"/>
      </a:accent1>
      <a:accent2>
        <a:srgbClr val="6B4FA0"/>
      </a:accent2>
      <a:accent3>
        <a:srgbClr val="D8A7B1"/>
      </a:accent3>
      <a:accent4>
        <a:srgbClr val="EEE6F6"/>
      </a:accent4>
      <a:accent5>
        <a:srgbClr val="F8E9EC"/>
      </a:accent5>
      <a:accent6>
        <a:srgbClr val="7A6888"/>
      </a:accent6>
      <a:hlink>
        <a:srgbClr val="6B4FA0"/>
      </a:hlink>
      <a:folHlink>
        <a:srgbClr val="7A6888"/>
      </a:folHlink>
    </a:clrScheme>
    <a:fontScheme name="GeM Astral Ro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Government e-Marketplace (GeM): Origins, Framework and the Bidding Process</dc:title>
  <dc:subject>PptxGenJS Presentation</dc:subject>
  <dc:creator>Presenter</dc:creator>
  <cp:lastModifiedBy>Presenter</cp:lastModifiedBy>
  <cp:revision>1</cp:revision>
  <dcterms:created xsi:type="dcterms:W3CDTF">2026-10-28T08:04:17Z</dcterms:created>
  <dcterms:modified xsi:type="dcterms:W3CDTF">2026-10-28T08:04:17Z</dcterms:modified>
</cp:coreProperties>
</file>