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e4eedba-ebcd-5fce-9fa3-360829637012}">
          <p14:sldIdLst>
            <p14:sldId id="256"/>
          </p14:sldIdLst>
        </p14:section>
        <p14:section name="Part 1 - History of GeM" id="{add28c8e-0514-c205-7da0-5bae8d37c28f}">
          <p14:sldIdLst>
            <p14:sldId id="257"/>
          </p14:sldIdLst>
        </p14:section>
        <p14:section name="Part 2 - Public procurement framework" id="{cf20e670-1cdf-7651-faa6-38e4e379e241}">
          <p14:sldIdLst>
            <p14:sldId id="258"/>
            <p14:sldId id="259"/>
            <p14:sldId id="260"/>
            <p14:sldId id="261"/>
          </p14:sldIdLst>
        </p14:section>
        <p14:section name="Part 3 - Bidding on GeM" id="{ce54ad0c-9e27-edee-41c2-1920aca40c4c}">
          <p14:sldIdLst>
            <p14:sldId id="262"/>
            <p14:sldId id="263"/>
            <p14:sldId id="264"/>
          </p14:sldIdLst>
        </p14:section>
        <p14:section name="Close" id="{5664e56d-431b-f3e5-0d6b-f2817590657b}">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cover three things. First, where GeM came from. Second, the framework of rules it sits in, at the Centre and in the States. Third, how a purchase or a bid actually moves through the portal, from creation to payment. Every point on these slides is drawn from the General Financial Rules, the Ministry of Finance manuals or GeM's own terms, and the sources are on each slide.
Say the full name 'Government e-Marketplace' once before you start saying 'GeM'.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65 years, from 1951, central government buying ran through DGS&amp;D: rate contracts, paper files and long lead times. In February 2016, on a Group of Secretaries' recommendation, the Government decided to build a single online marketplace instead.
The pilot went live on 9 August 2016 with just 120 product categories and one service. Three things then locked it in. The legal anchor: GFR 2017, Rule 149, made GeM mandatory for anything available on it. The institutional anchor: a not-for-profit company, GeM SPV, was incorporated on 17 May 2017, and DGS&amp;D was wound up that October. The technology anchor: the full platform, GeM 3.0, went live on 26 January 2018.
Today GeM handles over Rs 5 lakh crore a year, about 1.37 lakh buyer organisations and nearly 25 lakh sellers. Small businesses win about two-thirds of all orders.
If asked: since 1 Jun 2022 cooperatives can also buy on GeM; private buyers cannot. The CAG's 2020 IT audit found Phase 1 of GeM 3.0 was declared live prematurely.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surprising fact is that the Centre has no procurement statute. What it has is a hierarchy. At the top is the Constitution: Article 298 lets the Union and the States make contracts, and Article 299 says how. A contract must be in the name of the President or the Governor and signed by an authorised officer. Article 14 is why courts can strike down an arbitrary tender.
Below that sit the general commercial laws, which govern the deal itself, and the integrity laws: anti-corruption, vigilance, Lokpal. Level II is the rulebook: the General Financial Rules and the Delegation of Financial Powers Rules, plus Government orders. Level III is the Ministry of Finance manuals; Level IV is the tender documents.
The remark that practitioners forget is the third one. A supplier's rights come only from the law and the contract. The manuals bind officers, not suppliers.
Note: Annexure 1 as printed lists 'General Financial Rules, 1987 (Amendment) 2022' beside the Delegation of Financial Power Rules. That reads as a slip for DFPR 1978 (amended 2022), now replaced by DFPR 2024 from 1 Apr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144 is the procurement constitution: efficiency, economy, transparency, fairness and competition, with the officer personally accountable. Who can approve is set by the Delegation of Financial Powers Rules 2024. A Secretary can approve up to Rs 100 crore through competitive tenders, but only Rs 25 crore through single or proprietary tenders, so competition earns more delegation.
The buying method then depends on value. In July 2024 every threshold was doubled: Rs 50,000 without quotation, up to Rs 5 lakh by purchase committee, up to Rs 50 lakh by limited tender, and an open tender above that. Services moved the same way.
On top sit the policy levers. Local suppliers get a 20% preference, a quarter of purchases must come from small enterprises, startups get relaxed entry, and bidders from countries sharing a land border with India must be registered. Everything is published on the central portal. Arbitration is now the exception, not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purchasing is old: a stores department in London from 1860, DGS&amp;D from 1951, and General Financial Rules since 1947. A procurement law was attempted in 2012, but the Bill lapsed in 2014, so the system still runs on rules.
What 2017 changed is the default. Under Rule 149, if an item is on GeM you must buy it on GeM. To go outside, you need a GeMAR&amp;PTS report showing it isn't available. If it is available but you have a compelling reason, you need the Standing Committee of GeM and your Secretary to agree. Even your annual buying plan has to be on GeM within 30 days of the budget.
If asked whether a department can still tender on the CPPP: for items available on GeM, GeM is mandatory. The CPPP is used for items not on GeM, after a GeMAR&amp;PTS is generated, and for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so far binds the Centre. The States share the same constitutional base, Articles 298 and 299, but write their own rules. Tamil Nadu, Karnataka and Rajasthan have procurement statutes. Rajasthan's 2012 Act even gives bidders a statutory right of appeal, which no central law does.
Central policy reaches the States in softer ways. The MSE policy doesn't bind them, but they've been asked to adopt similar policies. A land-border registration issued by the Centre is valid for State tenders too.
And GeM is open to them. It lets a State buyer apply its own local-industry and small-business preferences through the bid's additional terms. That flexibility is one reason State buying on GeM grew by over a third last year.
If asked whether GeM is mandatory for States: not under Rule 149, which binds the Centre. A State makes GeM mandatory through its own orders 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decides the route. Up to Rs 50,000 you can buy directly from any seller, provided you certify the price is reasonable. Between Rs 50,000 and Rs 10 lakh you must take the cheapest offer after comparing at least three different manufacturers. Above Rs 10 lakh you must run a competitive bid or reverse auction.
Two special routes sit alongside. Push Button Procurement, for buys up to Rs 5 lakh, lets the system award automatically if at least five sellers bid. PAC buying is for when only one make will do, but it needs a Proprietary Article Certificate and still goes through bidding above Rs 50,000.
Two prohibitions are worth stressing: splitting a demand to dodge a threshold, and using a GeM price to place an order outside GeM. GeM can block such bids and cancel such contracts.
Before 10 Jul 2024 the limits were Rs 25,000 (direct) and Rs 5 lakh (L1).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bid from start to finish. The department needs a sanction and funds before it starts; GeM assumes both when the contract is placed. The buyer builds the bid from GeM's own specification templates and condition library. That keeps tenders standard and stops buyers writing in restrictive conditions.
The bid stays open for at least ten clear days. Small bids under Rs 5 lakh need no earnest money, and small businesses and startups are exempt anyway. The buyer evaluates; GeM provides the tool but takes no decisions. If prices tie, goods go to a forced reverse auction and services to a random draw.
Two design choices stand out. The reverse auction builds in industrial policy: a small business within 15% of the lowest price, or a Make in India supplier within 20%, stays in the auction. And the payment clock protects suppliers: ten days after acceptance, the full amount is due.
Background: with 7 qualified bidders under the 50% rule, L1 to L4 go to the RA; with 2 or 3, nobody is eliminated. Bid security is forfeited for withdrawing within validity, false documents or not giving performance security, and GeM may debar the seller for at least 3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safeguards. First, GeM's own contract terms govern, and a buyer's additional terms override the standard ones, but only within GeM's library. Second, grievances go to the buyer, not GeM; GeM steps in only for breaches of its published Disclaimer. Third, disputes stay between buyer and seller under Indian law in the buyer's courts. GeM is never a party, and the buyer must even ask the court to remove GeM if a seller names it.
Background: liability is capped at the contract value, except third-party intellectual property claims and judicially determined gross negligence or wilful misconduct. Bidders cannot challenge the need for procurement, the procurement mode or government preference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points slowly, then say: 'Happy to take questions on any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10698480" cy="411480"/>
          </a:xfrm>
          <a:prstGeom prst="rect">
            <a:avLst/>
          </a:prstGeom>
          <a:noFill/>
          <a:ln/>
        </p:spPr>
        <p:txBody>
          <a:bodyPr wrap="square" rtlCol="0"/>
          <a:lstStyle>
            <a:lvl1pPr indent="0" marL="0">
              <a:buNone/>
              <a:defRPr lang="en-US" sz="1400" b="1" spc="4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731520" y="2011680"/>
            <a:ext cx="1069848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3840480"/>
            <a:ext cx="10698480" cy="640080"/>
          </a:xfrm>
          <a:prstGeom prst="rect">
            <a:avLst/>
          </a:prstGeom>
          <a:noFill/>
          <a:ln/>
        </p:spPr>
        <p:txBody>
          <a:bodyPr wrap="square" rtlCol="0"/>
          <a:lstStyle>
            <a:lvl1pPr indent="0" marL="0">
              <a:buNone/>
              <a:defRPr lang="en-US" sz="2200" dirty="0">
                <a:solidFill>
                  <a:schemeClr val="accent4"/>
                </a:solidFill>
              </a:defRPr>
            </a:lvl1pPr>
          </a:lstStyle>
          <a:p>
            <a:pPr indent="0" marL="0">
              <a:buNone/>
            </a:pPr>
            <a:endParaRPr lang="en-US" sz="2200" dirty="0"/>
          </a:p>
        </p:txBody>
      </p:sp>
      <p:sp>
        <p:nvSpPr>
          <p:cNvPr id="5" name="Text 0"/>
          <p:cNvSpPr/>
          <p:nvPr>
            <p:ph idx="103" type="body" hasCustomPrompt="1"/>
          </p:nvPr>
        </p:nvSpPr>
        <p:spPr>
          <a:xfrm>
            <a:off x="731520" y="5669280"/>
            <a:ext cx="10698480" cy="45720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rtlCol="0"/>
          <a:lstStyle>
            <a:lvl1pPr indent="0" marL="0">
              <a:buNone/>
              <a:defRPr lang="en-US" sz="1100" b="1" spc="3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548640" y="566928"/>
            <a:ext cx="11064240" cy="658368"/>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4" name="Text 0"/>
          <p:cNvSpPr/>
          <p:nvPr>
            <p:ph idx="102" type="body" hasCustomPrompt="1"/>
          </p:nvPr>
        </p:nvSpPr>
        <p:spPr>
          <a:xfrm>
            <a:off x="548640" y="6272784"/>
            <a:ext cx="10332720" cy="384048"/>
          </a:xfrm>
          <a:prstGeom prst="rect">
            <a:avLst/>
          </a:prstGeom>
          <a:noFill/>
          <a:ln/>
        </p:spPr>
        <p:txBody>
          <a:bodyPr wrap="square" rtlCol="0"/>
          <a:lstStyle>
            <a:lvl1pPr indent="0" marL="0">
              <a:buNone/>
              <a:defRPr lang="en-US" sz="1000" dirty="0">
                <a:solidFill>
                  <a:schemeClr val="accent3"/>
                </a:solidFill>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20140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rtlCol="0"/>
          <a:lstStyle>
            <a:lvl1pPr indent="0" marL="0">
              <a:buNone/>
              <a:defRPr lang="en-US" sz="1100" b="1" spc="3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548640" y="566928"/>
            <a:ext cx="11064240" cy="658368"/>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548640" y="6272784"/>
            <a:ext cx="10332720" cy="384048"/>
          </a:xfrm>
          <a:prstGeom prst="rect">
            <a:avLst/>
          </a:prstGeom>
          <a:noFill/>
          <a:ln/>
        </p:spPr>
        <p:txBody>
          <a:bodyPr wrap="square" rtlCol="0"/>
          <a:lstStyle>
            <a:lvl1pPr indent="0" marL="0">
              <a:buNone/>
              <a:defRPr lang="en-US" sz="1000" dirty="0">
                <a:solidFill>
                  <a:schemeClr val="accent4"/>
                </a:solidFill>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20140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10698480" cy="411480"/>
          </a:xfrm>
          <a:prstGeom prst="rect">
            <a:avLst/>
          </a:prstGeom>
          <a:noFill/>
          <a:ln/>
        </p:spPr>
        <p:txBody>
          <a:bodyPr wrap="square" lIns="0" tIns="0" rIns="0" bIns="0" rtlCol="0" anchor="b"/>
          <a:lstStyle/>
          <a:p>
            <a:pPr indent="0" marL="0">
              <a:buNone/>
            </a:pPr>
            <a:r>
              <a:rPr lang="en-US" sz="1400" b="1" spc="400" kern="0" dirty="0">
                <a:solidFill>
                  <a:schemeClr val="accent1"/>
                </a:solidFill>
              </a:rPr>
              <a:t>A BRIEFING ON INDIA'S NATIONAL PUBLIC PROCUREMENT PORTAL</a:t>
            </a:r>
            <a:endParaRPr lang="en-US" sz="1400" dirty="0"/>
          </a:p>
        </p:txBody>
      </p:sp>
      <p:sp>
        <p:nvSpPr>
          <p:cNvPr id="3" name="Text 0"/>
          <p:cNvSpPr/>
          <p:nvPr>
            <p:ph idx="101" type="title" hasCustomPrompt="1"/>
          </p:nvPr>
        </p:nvSpPr>
        <p:spPr>
          <a:xfrm>
            <a:off x="731520" y="2011680"/>
            <a:ext cx="10698480" cy="1737360"/>
          </a:xfrm>
          <a:prstGeom prst="rect">
            <a:avLst/>
          </a:prstGeom>
          <a:noFill/>
          <a:ln/>
        </p:spPr>
        <p:txBody>
          <a:bodyPr wrap="square" lIns="0" tIns="0" rIns="0" bIns="0" rtlCol="0" anchor="t"/>
          <a:lstStyle/>
          <a:p>
            <a:pPr algn="l" indent="0" marL="0">
              <a:buNone/>
            </a:pPr>
            <a:r>
              <a:rPr lang="en-US" sz="4400" b="1" dirty="0">
                <a:solidFill>
                  <a:schemeClr val="bg1"/>
                </a:solidFill>
              </a:rPr>
              <a:t>Government e-Marketplace (GeM)</a:t>
            </a:r>
            <a:endParaRPr lang="en-US" sz="4400" dirty="0"/>
          </a:p>
        </p:txBody>
      </p:sp>
      <p:sp>
        <p:nvSpPr>
          <p:cNvPr id="4" name="Text 0"/>
          <p:cNvSpPr/>
          <p:nvPr>
            <p:ph idx="102" type="body" hasCustomPrompt="1"/>
          </p:nvPr>
        </p:nvSpPr>
        <p:spPr>
          <a:xfrm>
            <a:off x="731520" y="3840480"/>
            <a:ext cx="10698480" cy="640080"/>
          </a:xfrm>
          <a:prstGeom prst="rect">
            <a:avLst/>
          </a:prstGeom>
          <a:noFill/>
          <a:ln/>
        </p:spPr>
        <p:txBody>
          <a:bodyPr wrap="square" lIns="0" tIns="0" rIns="0" bIns="0" rtlCol="0" anchor="t"/>
          <a:lstStyle/>
          <a:p>
            <a:pPr indent="0" marL="0">
              <a:buNone/>
            </a:pPr>
            <a:r>
              <a:rPr lang="en-US" sz="2200" dirty="0">
                <a:solidFill>
                  <a:schemeClr val="accent4"/>
                </a:solidFill>
              </a:rPr>
              <a:t>Origins, framework and the bidding process</a:t>
            </a:r>
            <a:endParaRPr lang="en-US" sz="2200" dirty="0"/>
          </a:p>
        </p:txBody>
      </p:sp>
      <p:sp>
        <p:nvSpPr>
          <p:cNvPr id="5" name="Text 0"/>
          <p:cNvSpPr/>
          <p:nvPr>
            <p:ph idx="103" type="body" hasCustomPrompt="1"/>
          </p:nvPr>
        </p:nvSpPr>
        <p:spPr>
          <a:xfrm>
            <a:off x="731520" y="5669280"/>
            <a:ext cx="10698480" cy="457200"/>
          </a:xfrm>
          <a:prstGeom prst="rect">
            <a:avLst/>
          </a:prstGeom>
          <a:noFill/>
          <a:ln/>
        </p:spPr>
        <p:txBody>
          <a:bodyPr wrap="square" lIns="0" tIns="0" rIns="0" bIns="0" rtlCol="0" anchor="t"/>
          <a:lstStyle/>
          <a:p>
            <a:pPr indent="0" marL="0">
              <a:buNone/>
            </a:pPr>
            <a:r>
              <a:rPr lang="en-US" sz="1400" dirty="0">
                <a:solidFill>
                  <a:schemeClr val="accent4"/>
                </a:solidFill>
              </a:rPr>
              <a:t>Presented to [Name, Designation]  ·  [Presenter]  ·  [Date]</a:t>
            </a:r>
            <a:endParaRPr lang="en-US" sz="1400" dirty="0"/>
          </a:p>
        </p:txBody>
      </p:sp>
      <p:sp>
        <p:nvSpPr>
          <p:cNvPr id="6" name="Part dot 1"/>
          <p:cNvSpPr/>
          <p:nvPr/>
        </p:nvSpPr>
        <p:spPr>
          <a:xfrm>
            <a:off x="731520" y="4892040"/>
            <a:ext cx="164592" cy="164592"/>
          </a:xfrm>
          <a:prstGeom prst="ellipse">
            <a:avLst/>
          </a:prstGeom>
          <a:solidFill>
            <a:schemeClr val="accent1"/>
          </a:solidFill>
          <a:ln w="12700">
            <a:solidFill>
              <a:schemeClr val="accent1"/>
            </a:solidFill>
            <a:prstDash val="solid"/>
          </a:ln>
        </p:spPr>
      </p:sp>
      <p:sp>
        <p:nvSpPr>
          <p:cNvPr id="7" name="Part dot 2"/>
          <p:cNvSpPr/>
          <p:nvPr/>
        </p:nvSpPr>
        <p:spPr>
          <a:xfrm>
            <a:off x="1024128" y="4892040"/>
            <a:ext cx="164592" cy="164592"/>
          </a:xfrm>
          <a:prstGeom prst="ellipse">
            <a:avLst/>
          </a:prstGeom>
          <a:solidFill>
            <a:schemeClr val="accent1"/>
          </a:solidFill>
          <a:ln w="12700">
            <a:solidFill>
              <a:schemeClr val="accent1"/>
            </a:solidFill>
            <a:prstDash val="solid"/>
          </a:ln>
        </p:spPr>
      </p:sp>
      <p:sp>
        <p:nvSpPr>
          <p:cNvPr id="8" name="Part dot 3"/>
          <p:cNvSpPr/>
          <p:nvPr/>
        </p:nvSpPr>
        <p:spPr>
          <a:xfrm>
            <a:off x="1316736" y="4892040"/>
            <a:ext cx="164592" cy="164592"/>
          </a:xfrm>
          <a:prstGeom prst="ellipse">
            <a:avLst/>
          </a:prstGeom>
          <a:solidFill>
            <a:schemeClr val="accent1"/>
          </a:solidFill>
          <a:ln w="12700">
            <a:solidFill>
              <a:schemeClr val="accent1"/>
            </a:solidFill>
            <a:prstDash val="solid"/>
          </a:ln>
        </p:spPr>
      </p:sp>
      <p:sp>
        <p:nvSpPr>
          <p:cNvPr id="9" name="Text 7"/>
          <p:cNvSpPr txBox="1"/>
          <p:nvPr/>
        </p:nvSpPr>
        <p:spPr>
          <a:xfrm>
            <a:off x="1691640" y="4818888"/>
            <a:ext cx="8229600" cy="320040"/>
          </a:xfrm>
          <a:prstGeom prst="rect">
            <a:avLst/>
          </a:prstGeom>
          <a:noFill/>
          <a:ln/>
        </p:spPr>
        <p:txBody>
          <a:bodyPr wrap="square" lIns="0" tIns="0" rIns="0" bIns="0" rtlCol="0" anchor="ctr"/>
          <a:lstStyle/>
          <a:p>
            <a:pPr indent="0" marL="0">
              <a:buNone/>
            </a:pPr>
            <a:r>
              <a:rPr lang="en-US" sz="1400" dirty="0">
                <a:solidFill>
                  <a:schemeClr val="accent4"/>
                </a:solidFill>
              </a:rPr>
              <a:t>History  ·  Public procurement framework  ·  Bidding on GeM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PART 1  ·  HISTORY</a:t>
            </a:r>
            <a:endParaRPr lang="en-US" sz="1100" dirty="0"/>
          </a:p>
        </p:txBody>
      </p:sp>
      <p:sp>
        <p:nvSpPr>
          <p:cNvPr id="3" name="Text 0"/>
          <p:cNvSpPr/>
          <p:nvPr>
            <p:ph idx="101" type="title" hasCustomPrompt="1"/>
          </p:nvPr>
        </p:nvSpPr>
        <p:spPr>
          <a:xfrm>
            <a:off x="548640" y="566928"/>
            <a:ext cx="11064240" cy="658368"/>
          </a:xfrm>
          <a:prstGeom prst="rect">
            <a:avLst/>
          </a:prstGeom>
          <a:noFill/>
          <a:ln/>
        </p:spPr>
        <p:txBody>
          <a:bodyPr wrap="square" lIns="0" tIns="0" rIns="0" bIns="0" rtlCol="0" anchor="ctr"/>
          <a:lstStyle/>
          <a:p>
            <a:pPr algn="l" indent="0" marL="0">
              <a:buNone/>
            </a:pPr>
            <a:r>
              <a:rPr lang="en-US" sz="3200" b="1" dirty="0">
                <a:solidFill>
                  <a:schemeClr val="tx2"/>
                </a:solidFill>
              </a:rPr>
              <a:t>GeM: from pilot to national procurement portal</a:t>
            </a:r>
            <a:endParaRPr lang="en-US" sz="3200" dirty="0"/>
          </a:p>
        </p:txBody>
      </p:sp>
      <p:sp>
        <p:nvSpPr>
          <p:cNvPr id="4" name="Text 0"/>
          <p:cNvSpPr/>
          <p:nvPr>
            <p:ph idx="102" type="body" hasCustomPrompt="1"/>
          </p:nvPr>
        </p:nvSpPr>
        <p:spPr>
          <a:xfrm>
            <a:off x="548640" y="6272784"/>
            <a:ext cx="10332720" cy="384048"/>
          </a:xfrm>
          <a:prstGeom prst="rect">
            <a:avLst/>
          </a:prstGeom>
          <a:noFill/>
          <a:ln/>
        </p:spPr>
        <p:txBody>
          <a:bodyPr wrap="square" lIns="0" tIns="0" rIns="0" bIns="0" rtlCol="0" anchor="t"/>
          <a:lstStyle/>
          <a:p>
            <a:pPr indent="0" marL="0">
              <a:buNone/>
            </a:pPr>
            <a:r>
              <a:rPr lang="en-US" sz="1000" dirty="0">
                <a:solidFill>
                  <a:schemeClr val="accent3"/>
                </a:solidFill>
              </a:rPr>
              <a:t>Sources: Comptroller and Auditor General (CAG) Report No. 18 of 2020, Ch. IV; Cabinet releases, 12 Apr 2017 and 1 Jun 2022; GFR 2017 (updated to 31 Jan 2026), Rule 149; Press Information Bureau (PIB) releases, 6 Apr 2026 and 8 Aug 2026.</a:t>
            </a:r>
            <a:endParaRPr lang="en-US" sz="1000" dirty="0"/>
          </a:p>
        </p:txBody>
      </p:sp>
      <p:sp>
        <p:nvSpPr>
          <p:cNvPr id="6" name="Timeline axis"/>
          <p:cNvSpPr/>
          <p:nvPr/>
        </p:nvSpPr>
        <p:spPr>
          <a:xfrm>
            <a:off x="1645920" y="2697480"/>
            <a:ext cx="8915400" cy="0"/>
          </a:xfrm>
          <a:prstGeom prst="line">
            <a:avLst/>
          </a:prstGeom>
          <a:noFill/>
          <a:ln w="25400">
            <a:solidFill>
              <a:schemeClr val="accent4"/>
            </a:solidFill>
            <a:prstDash val="solid"/>
          </a:ln>
        </p:spPr>
      </p:sp>
      <p:sp>
        <p:nvSpPr>
          <p:cNvPr id="7" name="Milestone 1"/>
          <p:cNvSpPr/>
          <p:nvPr/>
        </p:nvSpPr>
        <p:spPr>
          <a:xfrm>
            <a:off x="1545336" y="2596896"/>
            <a:ext cx="201168" cy="201168"/>
          </a:xfrm>
          <a:prstGeom prst="ellipse">
            <a:avLst/>
          </a:prstGeom>
          <a:solidFill>
            <a:schemeClr val="tx2"/>
          </a:solidFill>
          <a:ln w="19050">
            <a:solidFill>
              <a:schemeClr val="bg1"/>
            </a:solidFill>
            <a:prstDash val="solid"/>
          </a:ln>
        </p:spPr>
      </p:sp>
      <p:sp>
        <p:nvSpPr>
          <p:cNvPr id="8" name="Text 5"/>
          <p:cNvSpPr txBox="1"/>
          <p:nvPr/>
        </p:nvSpPr>
        <p:spPr>
          <a:xfrm>
            <a:off x="594360" y="1417320"/>
            <a:ext cx="2103120" cy="274320"/>
          </a:xfrm>
          <a:prstGeom prst="rect">
            <a:avLst/>
          </a:prstGeom>
          <a:noFill/>
          <a:ln/>
        </p:spPr>
        <p:txBody>
          <a:bodyPr wrap="square" lIns="0" tIns="0" rIns="0" bIns="0" rtlCol="0" anchor="t"/>
          <a:lstStyle/>
          <a:p>
            <a:pPr algn="ctr" indent="0" marL="0">
              <a:buNone/>
            </a:pPr>
            <a:r>
              <a:rPr lang="en-US" sz="1300" b="1" dirty="0">
                <a:solidFill>
                  <a:schemeClr val="accent1"/>
                </a:solidFill>
              </a:rPr>
              <a:t>1951 – 2016</a:t>
            </a:r>
            <a:endParaRPr lang="en-US" sz="1300" dirty="0"/>
          </a:p>
        </p:txBody>
      </p:sp>
      <p:sp>
        <p:nvSpPr>
          <p:cNvPr id="9" name="Text 6"/>
          <p:cNvSpPr txBox="1"/>
          <p:nvPr/>
        </p:nvSpPr>
        <p:spPr>
          <a:xfrm>
            <a:off x="594360" y="1691640"/>
            <a:ext cx="2103120" cy="868680"/>
          </a:xfrm>
          <a:prstGeom prst="rect">
            <a:avLst/>
          </a:prstGeom>
          <a:noFill/>
          <a:ln/>
        </p:spPr>
        <p:txBody>
          <a:bodyPr wrap="square" lIns="0" tIns="0" rIns="0" bIns="0" rtlCol="0" anchor="t"/>
          <a:lstStyle/>
          <a:p>
            <a:pPr algn="ctr" indent="0" marL="0">
              <a:buNone/>
            </a:pPr>
            <a:r>
              <a:rPr lang="en-US" sz="1200" dirty="0">
                <a:solidFill>
                  <a:schemeClr val="tx1"/>
                </a:solidFill>
              </a:rPr>
              <a:t>Directorate General of Supplies and Disposals (DGS&amp;D) buys centrally</a:t>
            </a:r>
            <a:endParaRPr lang="en-US" sz="1200" dirty="0"/>
          </a:p>
        </p:txBody>
      </p:sp>
      <p:sp>
        <p:nvSpPr>
          <p:cNvPr id="10" name="Milestone 2"/>
          <p:cNvSpPr/>
          <p:nvPr/>
        </p:nvSpPr>
        <p:spPr>
          <a:xfrm>
            <a:off x="2659761" y="2596896"/>
            <a:ext cx="201168" cy="201168"/>
          </a:xfrm>
          <a:prstGeom prst="ellipse">
            <a:avLst/>
          </a:prstGeom>
          <a:solidFill>
            <a:schemeClr val="tx2"/>
          </a:solidFill>
          <a:ln w="19050">
            <a:solidFill>
              <a:schemeClr val="bg1"/>
            </a:solidFill>
            <a:prstDash val="solid"/>
          </a:ln>
        </p:spPr>
      </p:sp>
      <p:sp>
        <p:nvSpPr>
          <p:cNvPr id="11" name="Text 8"/>
          <p:cNvSpPr txBox="1"/>
          <p:nvPr/>
        </p:nvSpPr>
        <p:spPr>
          <a:xfrm>
            <a:off x="1708785" y="2898648"/>
            <a:ext cx="2103120" cy="274320"/>
          </a:xfrm>
          <a:prstGeom prst="rect">
            <a:avLst/>
          </a:prstGeom>
          <a:noFill/>
          <a:ln/>
        </p:spPr>
        <p:txBody>
          <a:bodyPr wrap="square" lIns="0" tIns="0" rIns="0" bIns="0" rtlCol="0" anchor="t"/>
          <a:lstStyle/>
          <a:p>
            <a:pPr algn="ctr" indent="0" marL="0">
              <a:buNone/>
            </a:pPr>
            <a:r>
              <a:rPr lang="en-US" sz="1300" b="1" dirty="0">
                <a:solidFill>
                  <a:schemeClr val="accent1"/>
                </a:solidFill>
              </a:rPr>
              <a:t>Feb 2016</a:t>
            </a:r>
            <a:endParaRPr lang="en-US" sz="1300" dirty="0"/>
          </a:p>
        </p:txBody>
      </p:sp>
      <p:sp>
        <p:nvSpPr>
          <p:cNvPr id="12" name="Text 9"/>
          <p:cNvSpPr txBox="1"/>
          <p:nvPr/>
        </p:nvSpPr>
        <p:spPr>
          <a:xfrm>
            <a:off x="1708785" y="3172968"/>
            <a:ext cx="2103120" cy="868680"/>
          </a:xfrm>
          <a:prstGeom prst="rect">
            <a:avLst/>
          </a:prstGeom>
          <a:noFill/>
          <a:ln/>
        </p:spPr>
        <p:txBody>
          <a:bodyPr wrap="square" lIns="0" tIns="0" rIns="0" bIns="0" rtlCol="0" anchor="t"/>
          <a:lstStyle/>
          <a:p>
            <a:pPr algn="ctr" indent="0" marL="0">
              <a:buNone/>
            </a:pPr>
            <a:r>
              <a:rPr lang="en-US" sz="1200" dirty="0">
                <a:solidFill>
                  <a:schemeClr val="tx1"/>
                </a:solidFill>
              </a:rPr>
              <a:t>Group of Secretaries recommends a dedicated government e-market</a:t>
            </a:r>
            <a:endParaRPr lang="en-US" sz="1200" dirty="0"/>
          </a:p>
        </p:txBody>
      </p:sp>
      <p:sp>
        <p:nvSpPr>
          <p:cNvPr id="13" name="Milestone 3"/>
          <p:cNvSpPr/>
          <p:nvPr/>
        </p:nvSpPr>
        <p:spPr>
          <a:xfrm>
            <a:off x="3774186" y="2596896"/>
            <a:ext cx="201168" cy="201168"/>
          </a:xfrm>
          <a:prstGeom prst="ellipse">
            <a:avLst/>
          </a:prstGeom>
          <a:solidFill>
            <a:schemeClr val="accent1"/>
          </a:solidFill>
          <a:ln w="19050">
            <a:solidFill>
              <a:schemeClr val="bg1"/>
            </a:solidFill>
            <a:prstDash val="solid"/>
          </a:ln>
        </p:spPr>
      </p:sp>
      <p:sp>
        <p:nvSpPr>
          <p:cNvPr id="14" name="Text 11"/>
          <p:cNvSpPr txBox="1"/>
          <p:nvPr/>
        </p:nvSpPr>
        <p:spPr>
          <a:xfrm>
            <a:off x="2823210" y="1417320"/>
            <a:ext cx="2103120" cy="274320"/>
          </a:xfrm>
          <a:prstGeom prst="rect">
            <a:avLst/>
          </a:prstGeom>
          <a:noFill/>
          <a:ln/>
        </p:spPr>
        <p:txBody>
          <a:bodyPr wrap="square" lIns="0" tIns="0" rIns="0" bIns="0" rtlCol="0" anchor="t"/>
          <a:lstStyle/>
          <a:p>
            <a:pPr algn="ctr" indent="0" marL="0">
              <a:buNone/>
            </a:pPr>
            <a:r>
              <a:rPr lang="en-US" sz="1300" b="1" dirty="0">
                <a:solidFill>
                  <a:schemeClr val="accent1"/>
                </a:solidFill>
              </a:rPr>
              <a:t>9 Aug 2016</a:t>
            </a:r>
            <a:endParaRPr lang="en-US" sz="1300" dirty="0"/>
          </a:p>
        </p:txBody>
      </p:sp>
      <p:sp>
        <p:nvSpPr>
          <p:cNvPr id="15" name="Text 12"/>
          <p:cNvSpPr txBox="1"/>
          <p:nvPr/>
        </p:nvSpPr>
        <p:spPr>
          <a:xfrm>
            <a:off x="2823210" y="1691640"/>
            <a:ext cx="2103120" cy="868680"/>
          </a:xfrm>
          <a:prstGeom prst="rect">
            <a:avLst/>
          </a:prstGeom>
          <a:noFill/>
          <a:ln/>
        </p:spPr>
        <p:txBody>
          <a:bodyPr wrap="square" lIns="0" tIns="0" rIns="0" bIns="0" rtlCol="0" anchor="t"/>
          <a:lstStyle/>
          <a:p>
            <a:pPr algn="ctr" indent="0" marL="0">
              <a:buNone/>
            </a:pPr>
            <a:r>
              <a:rPr lang="en-US" sz="1200" dirty="0">
                <a:solidFill>
                  <a:schemeClr val="tx1"/>
                </a:solidFill>
              </a:rPr>
              <a:t>GeM pilot launched: 120 product categories, 1 service</a:t>
            </a:r>
            <a:endParaRPr lang="en-US" sz="1200" dirty="0"/>
          </a:p>
        </p:txBody>
      </p:sp>
      <p:sp>
        <p:nvSpPr>
          <p:cNvPr id="16" name="Milestone 4"/>
          <p:cNvSpPr/>
          <p:nvPr/>
        </p:nvSpPr>
        <p:spPr>
          <a:xfrm>
            <a:off x="4888611" y="2596896"/>
            <a:ext cx="201168" cy="201168"/>
          </a:xfrm>
          <a:prstGeom prst="ellipse">
            <a:avLst/>
          </a:prstGeom>
          <a:solidFill>
            <a:schemeClr val="tx2"/>
          </a:solidFill>
          <a:ln w="19050">
            <a:solidFill>
              <a:schemeClr val="bg1"/>
            </a:solidFill>
            <a:prstDash val="solid"/>
          </a:ln>
        </p:spPr>
      </p:sp>
      <p:sp>
        <p:nvSpPr>
          <p:cNvPr id="17" name="Text 14"/>
          <p:cNvSpPr txBox="1"/>
          <p:nvPr/>
        </p:nvSpPr>
        <p:spPr>
          <a:xfrm>
            <a:off x="3937635" y="2898648"/>
            <a:ext cx="2103120" cy="274320"/>
          </a:xfrm>
          <a:prstGeom prst="rect">
            <a:avLst/>
          </a:prstGeom>
          <a:noFill/>
          <a:ln/>
        </p:spPr>
        <p:txBody>
          <a:bodyPr wrap="square" lIns="0" tIns="0" rIns="0" bIns="0" rtlCol="0" anchor="t"/>
          <a:lstStyle/>
          <a:p>
            <a:pPr algn="ctr" indent="0" marL="0">
              <a:buNone/>
            </a:pPr>
            <a:r>
              <a:rPr lang="en-US" sz="1300" b="1" dirty="0">
                <a:solidFill>
                  <a:schemeClr val="accent1"/>
                </a:solidFill>
              </a:rPr>
              <a:t>Mar 2017</a:t>
            </a:r>
            <a:endParaRPr lang="en-US" sz="1300" dirty="0"/>
          </a:p>
        </p:txBody>
      </p:sp>
      <p:sp>
        <p:nvSpPr>
          <p:cNvPr id="18" name="Text 15"/>
          <p:cNvSpPr txBox="1"/>
          <p:nvPr/>
        </p:nvSpPr>
        <p:spPr>
          <a:xfrm>
            <a:off x="3937635" y="3172968"/>
            <a:ext cx="2103120" cy="868680"/>
          </a:xfrm>
          <a:prstGeom prst="rect">
            <a:avLst/>
          </a:prstGeom>
          <a:noFill/>
          <a:ln/>
        </p:spPr>
        <p:txBody>
          <a:bodyPr wrap="square" lIns="0" tIns="0" rIns="0" bIns="0" rtlCol="0" anchor="t"/>
          <a:lstStyle/>
          <a:p>
            <a:pPr algn="ctr" indent="0" marL="0">
              <a:buNone/>
            </a:pPr>
            <a:r>
              <a:rPr lang="en-US" sz="1200" dirty="0">
                <a:solidFill>
                  <a:schemeClr val="tx1"/>
                </a:solidFill>
              </a:rPr>
              <a:t>General Financial Rules (GFR) 2017: Rule 149 makes GeM mandatory</a:t>
            </a:r>
            <a:endParaRPr lang="en-US" sz="1200" dirty="0"/>
          </a:p>
        </p:txBody>
      </p:sp>
      <p:sp>
        <p:nvSpPr>
          <p:cNvPr id="19" name="Milestone 5"/>
          <p:cNvSpPr/>
          <p:nvPr/>
        </p:nvSpPr>
        <p:spPr>
          <a:xfrm>
            <a:off x="6003036" y="2596896"/>
            <a:ext cx="201168" cy="201168"/>
          </a:xfrm>
          <a:prstGeom prst="ellipse">
            <a:avLst/>
          </a:prstGeom>
          <a:solidFill>
            <a:schemeClr val="tx2"/>
          </a:solidFill>
          <a:ln w="19050">
            <a:solidFill>
              <a:schemeClr val="bg1"/>
            </a:solidFill>
            <a:prstDash val="solid"/>
          </a:ln>
        </p:spPr>
      </p:sp>
      <p:sp>
        <p:nvSpPr>
          <p:cNvPr id="20" name="Text 17"/>
          <p:cNvSpPr txBox="1"/>
          <p:nvPr/>
        </p:nvSpPr>
        <p:spPr>
          <a:xfrm>
            <a:off x="5052060" y="1417320"/>
            <a:ext cx="2103120" cy="274320"/>
          </a:xfrm>
          <a:prstGeom prst="rect">
            <a:avLst/>
          </a:prstGeom>
          <a:noFill/>
          <a:ln/>
        </p:spPr>
        <p:txBody>
          <a:bodyPr wrap="square" lIns="0" tIns="0" rIns="0" bIns="0" rtlCol="0" anchor="t"/>
          <a:lstStyle/>
          <a:p>
            <a:pPr algn="ctr" indent="0" marL="0">
              <a:buNone/>
            </a:pPr>
            <a:r>
              <a:rPr lang="en-US" sz="1300" b="1" dirty="0">
                <a:solidFill>
                  <a:schemeClr val="accent1"/>
                </a:solidFill>
              </a:rPr>
              <a:t>17 May 2017</a:t>
            </a:r>
            <a:endParaRPr lang="en-US" sz="1300" dirty="0"/>
          </a:p>
        </p:txBody>
      </p:sp>
      <p:sp>
        <p:nvSpPr>
          <p:cNvPr id="21" name="Text 18"/>
          <p:cNvSpPr txBox="1"/>
          <p:nvPr/>
        </p:nvSpPr>
        <p:spPr>
          <a:xfrm>
            <a:off x="5052060" y="1691640"/>
            <a:ext cx="2103120" cy="868680"/>
          </a:xfrm>
          <a:prstGeom prst="rect">
            <a:avLst/>
          </a:prstGeom>
          <a:noFill/>
          <a:ln/>
        </p:spPr>
        <p:txBody>
          <a:bodyPr wrap="square" lIns="0" tIns="0" rIns="0" bIns="0" rtlCol="0" anchor="t"/>
          <a:lstStyle/>
          <a:p>
            <a:pPr algn="ctr" indent="0" marL="0">
              <a:buNone/>
            </a:pPr>
            <a:r>
              <a:rPr lang="en-US" sz="1200" dirty="0">
                <a:solidFill>
                  <a:schemeClr val="tx1"/>
                </a:solidFill>
              </a:rPr>
              <a:t>GeM Special Purpose Vehicle (SPV) incorporated, a not-for-profit company</a:t>
            </a:r>
            <a:endParaRPr lang="en-US" sz="1200" dirty="0"/>
          </a:p>
        </p:txBody>
      </p:sp>
      <p:sp>
        <p:nvSpPr>
          <p:cNvPr id="22" name="Milestone 6"/>
          <p:cNvSpPr/>
          <p:nvPr/>
        </p:nvSpPr>
        <p:spPr>
          <a:xfrm>
            <a:off x="7117461" y="2596896"/>
            <a:ext cx="201168" cy="201168"/>
          </a:xfrm>
          <a:prstGeom prst="ellipse">
            <a:avLst/>
          </a:prstGeom>
          <a:solidFill>
            <a:schemeClr val="tx2"/>
          </a:solidFill>
          <a:ln w="19050">
            <a:solidFill>
              <a:schemeClr val="bg1"/>
            </a:solidFill>
            <a:prstDash val="solid"/>
          </a:ln>
        </p:spPr>
      </p:sp>
      <p:sp>
        <p:nvSpPr>
          <p:cNvPr id="23" name="Text 20"/>
          <p:cNvSpPr txBox="1"/>
          <p:nvPr/>
        </p:nvSpPr>
        <p:spPr>
          <a:xfrm>
            <a:off x="6166485" y="2898648"/>
            <a:ext cx="2103120" cy="274320"/>
          </a:xfrm>
          <a:prstGeom prst="rect">
            <a:avLst/>
          </a:prstGeom>
          <a:noFill/>
          <a:ln/>
        </p:spPr>
        <p:txBody>
          <a:bodyPr wrap="square" lIns="0" tIns="0" rIns="0" bIns="0" rtlCol="0" anchor="t"/>
          <a:lstStyle/>
          <a:p>
            <a:pPr algn="ctr" indent="0" marL="0">
              <a:buNone/>
            </a:pPr>
            <a:r>
              <a:rPr lang="en-US" sz="1300" b="1" dirty="0">
                <a:solidFill>
                  <a:schemeClr val="accent1"/>
                </a:solidFill>
              </a:rPr>
              <a:t>31 Oct 2017</a:t>
            </a:r>
            <a:endParaRPr lang="en-US" sz="1300" dirty="0"/>
          </a:p>
        </p:txBody>
      </p:sp>
      <p:sp>
        <p:nvSpPr>
          <p:cNvPr id="24" name="Text 21"/>
          <p:cNvSpPr txBox="1"/>
          <p:nvPr/>
        </p:nvSpPr>
        <p:spPr>
          <a:xfrm>
            <a:off x="6166485" y="3172968"/>
            <a:ext cx="2103120" cy="868680"/>
          </a:xfrm>
          <a:prstGeom prst="rect">
            <a:avLst/>
          </a:prstGeom>
          <a:noFill/>
          <a:ln/>
        </p:spPr>
        <p:txBody>
          <a:bodyPr wrap="square" lIns="0" tIns="0" rIns="0" bIns="0" rtlCol="0" anchor="t"/>
          <a:lstStyle/>
          <a:p>
            <a:pPr algn="ctr" indent="0" marL="0">
              <a:buNone/>
            </a:pPr>
            <a:r>
              <a:rPr lang="en-US" sz="1200" dirty="0">
                <a:solidFill>
                  <a:schemeClr val="tx1"/>
                </a:solidFill>
              </a:rPr>
              <a:t>DGS&amp;D wound up</a:t>
            </a:r>
            <a:endParaRPr lang="en-US" sz="1200" dirty="0"/>
          </a:p>
        </p:txBody>
      </p:sp>
      <p:sp>
        <p:nvSpPr>
          <p:cNvPr id="25" name="Milestone 7"/>
          <p:cNvSpPr/>
          <p:nvPr/>
        </p:nvSpPr>
        <p:spPr>
          <a:xfrm>
            <a:off x="8231886" y="2596896"/>
            <a:ext cx="201168" cy="201168"/>
          </a:xfrm>
          <a:prstGeom prst="ellipse">
            <a:avLst/>
          </a:prstGeom>
          <a:solidFill>
            <a:schemeClr val="tx2"/>
          </a:solidFill>
          <a:ln w="19050">
            <a:solidFill>
              <a:schemeClr val="bg1"/>
            </a:solidFill>
            <a:prstDash val="solid"/>
          </a:ln>
        </p:spPr>
      </p:sp>
      <p:sp>
        <p:nvSpPr>
          <p:cNvPr id="26" name="Text 23"/>
          <p:cNvSpPr txBox="1"/>
          <p:nvPr/>
        </p:nvSpPr>
        <p:spPr>
          <a:xfrm>
            <a:off x="7280910" y="1417320"/>
            <a:ext cx="2103120" cy="274320"/>
          </a:xfrm>
          <a:prstGeom prst="rect">
            <a:avLst/>
          </a:prstGeom>
          <a:noFill/>
          <a:ln/>
        </p:spPr>
        <p:txBody>
          <a:bodyPr wrap="square" lIns="0" tIns="0" rIns="0" bIns="0" rtlCol="0" anchor="t"/>
          <a:lstStyle/>
          <a:p>
            <a:pPr algn="ctr" indent="0" marL="0">
              <a:buNone/>
            </a:pPr>
            <a:r>
              <a:rPr lang="en-US" sz="1300" b="1" dirty="0">
                <a:solidFill>
                  <a:schemeClr val="accent1"/>
                </a:solidFill>
              </a:rPr>
              <a:t>26 Jan 2018</a:t>
            </a:r>
            <a:endParaRPr lang="en-US" sz="1300" dirty="0"/>
          </a:p>
        </p:txBody>
      </p:sp>
      <p:sp>
        <p:nvSpPr>
          <p:cNvPr id="27" name="Text 24"/>
          <p:cNvSpPr txBox="1"/>
          <p:nvPr/>
        </p:nvSpPr>
        <p:spPr>
          <a:xfrm>
            <a:off x="7280910" y="1691640"/>
            <a:ext cx="2103120" cy="868680"/>
          </a:xfrm>
          <a:prstGeom prst="rect">
            <a:avLst/>
          </a:prstGeom>
          <a:noFill/>
          <a:ln/>
        </p:spPr>
        <p:txBody>
          <a:bodyPr wrap="square" lIns="0" tIns="0" rIns="0" bIns="0" rtlCol="0" anchor="t"/>
          <a:lstStyle/>
          <a:p>
            <a:pPr algn="ctr" indent="0" marL="0">
              <a:buNone/>
            </a:pPr>
            <a:r>
              <a:rPr lang="en-US" sz="1200" dirty="0">
                <a:solidFill>
                  <a:schemeClr val="tx1"/>
                </a:solidFill>
              </a:rPr>
              <a:t>GeM 3.0 goes live (Phase 1)</a:t>
            </a:r>
            <a:endParaRPr lang="en-US" sz="1200" dirty="0"/>
          </a:p>
        </p:txBody>
      </p:sp>
      <p:sp>
        <p:nvSpPr>
          <p:cNvPr id="28" name="Milestone 8"/>
          <p:cNvSpPr/>
          <p:nvPr/>
        </p:nvSpPr>
        <p:spPr>
          <a:xfrm>
            <a:off x="9346311" y="2596896"/>
            <a:ext cx="201168" cy="201168"/>
          </a:xfrm>
          <a:prstGeom prst="ellipse">
            <a:avLst/>
          </a:prstGeom>
          <a:solidFill>
            <a:schemeClr val="tx2"/>
          </a:solidFill>
          <a:ln w="19050">
            <a:solidFill>
              <a:schemeClr val="bg1"/>
            </a:solidFill>
            <a:prstDash val="solid"/>
          </a:ln>
        </p:spPr>
      </p:sp>
      <p:sp>
        <p:nvSpPr>
          <p:cNvPr id="29" name="Text 26"/>
          <p:cNvSpPr txBox="1"/>
          <p:nvPr/>
        </p:nvSpPr>
        <p:spPr>
          <a:xfrm>
            <a:off x="8395335" y="2898648"/>
            <a:ext cx="2103120" cy="274320"/>
          </a:xfrm>
          <a:prstGeom prst="rect">
            <a:avLst/>
          </a:prstGeom>
          <a:noFill/>
          <a:ln/>
        </p:spPr>
        <p:txBody>
          <a:bodyPr wrap="square" lIns="0" tIns="0" rIns="0" bIns="0" rtlCol="0" anchor="t"/>
          <a:lstStyle/>
          <a:p>
            <a:pPr algn="ctr" indent="0" marL="0">
              <a:buNone/>
            </a:pPr>
            <a:r>
              <a:rPr lang="en-US" sz="1300" b="1" dirty="0">
                <a:solidFill>
                  <a:schemeClr val="accent1"/>
                </a:solidFill>
              </a:rPr>
              <a:t>10 Jul 2024</a:t>
            </a:r>
            <a:endParaRPr lang="en-US" sz="1300" dirty="0"/>
          </a:p>
        </p:txBody>
      </p:sp>
      <p:sp>
        <p:nvSpPr>
          <p:cNvPr id="30" name="Text 27"/>
          <p:cNvSpPr txBox="1"/>
          <p:nvPr/>
        </p:nvSpPr>
        <p:spPr>
          <a:xfrm>
            <a:off x="8395335" y="3172968"/>
            <a:ext cx="2103120" cy="868680"/>
          </a:xfrm>
          <a:prstGeom prst="rect">
            <a:avLst/>
          </a:prstGeom>
          <a:noFill/>
          <a:ln/>
        </p:spPr>
        <p:txBody>
          <a:bodyPr wrap="square" lIns="0" tIns="0" rIns="0" bIns="0" rtlCol="0" anchor="t"/>
          <a:lstStyle/>
          <a:p>
            <a:pPr algn="ctr" indent="0" marL="0">
              <a:buNone/>
            </a:pPr>
            <a:r>
              <a:rPr lang="en-US" sz="1200" dirty="0">
                <a:solidFill>
                  <a:schemeClr val="tx1"/>
                </a:solidFill>
              </a:rPr>
              <a:t>GeM purchase thresholds doubled</a:t>
            </a:r>
            <a:endParaRPr lang="en-US" sz="1200" dirty="0"/>
          </a:p>
        </p:txBody>
      </p:sp>
      <p:sp>
        <p:nvSpPr>
          <p:cNvPr id="31" name="Milestone 9"/>
          <p:cNvSpPr/>
          <p:nvPr/>
        </p:nvSpPr>
        <p:spPr>
          <a:xfrm>
            <a:off x="10460736" y="2596896"/>
            <a:ext cx="201168" cy="201168"/>
          </a:xfrm>
          <a:prstGeom prst="ellipse">
            <a:avLst/>
          </a:prstGeom>
          <a:solidFill>
            <a:schemeClr val="tx2"/>
          </a:solidFill>
          <a:ln w="19050">
            <a:solidFill>
              <a:schemeClr val="bg1"/>
            </a:solidFill>
            <a:prstDash val="solid"/>
          </a:ln>
        </p:spPr>
      </p:sp>
      <p:sp>
        <p:nvSpPr>
          <p:cNvPr id="32" name="Text 29"/>
          <p:cNvSpPr txBox="1"/>
          <p:nvPr/>
        </p:nvSpPr>
        <p:spPr>
          <a:xfrm>
            <a:off x="9509760" y="1417320"/>
            <a:ext cx="2103120" cy="274320"/>
          </a:xfrm>
          <a:prstGeom prst="rect">
            <a:avLst/>
          </a:prstGeom>
          <a:noFill/>
          <a:ln/>
        </p:spPr>
        <p:txBody>
          <a:bodyPr wrap="square" lIns="0" tIns="0" rIns="0" bIns="0" rtlCol="0" anchor="t"/>
          <a:lstStyle/>
          <a:p>
            <a:pPr algn="ctr" indent="0" marL="0">
              <a:buNone/>
            </a:pPr>
            <a:r>
              <a:rPr lang="en-US" sz="1300" b="1" dirty="0">
                <a:solidFill>
                  <a:schemeClr val="accent1"/>
                </a:solidFill>
              </a:rPr>
              <a:t>9 Aug 2026</a:t>
            </a:r>
            <a:endParaRPr lang="en-US" sz="1300" dirty="0"/>
          </a:p>
        </p:txBody>
      </p:sp>
      <p:sp>
        <p:nvSpPr>
          <p:cNvPr id="33" name="Text 30"/>
          <p:cNvSpPr txBox="1"/>
          <p:nvPr/>
        </p:nvSpPr>
        <p:spPr>
          <a:xfrm>
            <a:off x="9509760" y="1691640"/>
            <a:ext cx="2103120" cy="868680"/>
          </a:xfrm>
          <a:prstGeom prst="rect">
            <a:avLst/>
          </a:prstGeom>
          <a:noFill/>
          <a:ln/>
        </p:spPr>
        <p:txBody>
          <a:bodyPr wrap="square" lIns="0" tIns="0" rIns="0" bIns="0" rtlCol="0" anchor="t"/>
          <a:lstStyle/>
          <a:p>
            <a:pPr algn="ctr" indent="0" marL="0">
              <a:buNone/>
            </a:pPr>
            <a:r>
              <a:rPr lang="en-US" sz="1200" dirty="0">
                <a:solidFill>
                  <a:schemeClr val="tx1"/>
                </a:solidFill>
              </a:rPr>
              <a:t>GeM completes 10 years</a:t>
            </a:r>
            <a:endParaRPr lang="en-US" sz="1200" dirty="0"/>
          </a:p>
        </p:txBody>
      </p:sp>
      <p:sp>
        <p:nvSpPr>
          <p:cNvPr id="34" name="Stat card 1"/>
          <p:cNvSpPr/>
          <p:nvPr/>
        </p:nvSpPr>
        <p:spPr>
          <a:xfrm>
            <a:off x="548640" y="4343400"/>
            <a:ext cx="2628900" cy="1645920"/>
          </a:xfrm>
          <a:prstGeom prst="roundRect">
            <a:avLst>
              <a:gd name="adj" fmla="val 4444"/>
            </a:avLst>
          </a:prstGeom>
          <a:solidFill>
            <a:schemeClr val="bg2"/>
          </a:solidFill>
          <a:ln w="12700">
            <a:solidFill>
              <a:schemeClr val="bg2"/>
            </a:solidFill>
            <a:prstDash val="solid"/>
          </a:ln>
        </p:spPr>
      </p:sp>
      <p:sp>
        <p:nvSpPr>
          <p:cNvPr id="35" name="Text 32"/>
          <p:cNvSpPr txBox="1"/>
          <p:nvPr/>
        </p:nvSpPr>
        <p:spPr>
          <a:xfrm>
            <a:off x="731520" y="4526280"/>
            <a:ext cx="22631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₹18.4 lakh crore</a:t>
            </a:r>
            <a:endParaRPr lang="en-US" sz="2200" dirty="0"/>
          </a:p>
        </p:txBody>
      </p:sp>
      <p:sp>
        <p:nvSpPr>
          <p:cNvPr id="36" name="Text 33"/>
          <p:cNvSpPr txBox="1"/>
          <p:nvPr/>
        </p:nvSpPr>
        <p:spPr>
          <a:xfrm>
            <a:off x="731520" y="5138928"/>
            <a:ext cx="2263140" cy="731520"/>
          </a:xfrm>
          <a:prstGeom prst="rect">
            <a:avLst/>
          </a:prstGeom>
          <a:noFill/>
          <a:ln/>
        </p:spPr>
        <p:txBody>
          <a:bodyPr wrap="square" lIns="0" tIns="0" rIns="0" bIns="0" rtlCol="0" anchor="t"/>
          <a:lstStyle/>
          <a:p>
            <a:pPr indent="0" marL="0">
              <a:buNone/>
            </a:pPr>
            <a:r>
              <a:rPr lang="en-US" sz="1200" dirty="0">
                <a:solidFill>
                  <a:schemeClr val="accent3"/>
                </a:solidFill>
              </a:rPr>
              <a:t>cumulative Gross Merchandise Value (GMV), Apr 2026</a:t>
            </a:r>
            <a:endParaRPr lang="en-US" sz="1200" dirty="0"/>
          </a:p>
        </p:txBody>
      </p:sp>
      <p:sp>
        <p:nvSpPr>
          <p:cNvPr id="37" name="Stat card 2"/>
          <p:cNvSpPr/>
          <p:nvPr/>
        </p:nvSpPr>
        <p:spPr>
          <a:xfrm>
            <a:off x="3360420" y="4343400"/>
            <a:ext cx="2628900" cy="1645920"/>
          </a:xfrm>
          <a:prstGeom prst="roundRect">
            <a:avLst>
              <a:gd name="adj" fmla="val 4444"/>
            </a:avLst>
          </a:prstGeom>
          <a:solidFill>
            <a:schemeClr val="bg2"/>
          </a:solidFill>
          <a:ln w="12700">
            <a:solidFill>
              <a:schemeClr val="bg2"/>
            </a:solidFill>
            <a:prstDash val="solid"/>
          </a:ln>
        </p:spPr>
      </p:sp>
      <p:sp>
        <p:nvSpPr>
          <p:cNvPr id="38" name="Text 35"/>
          <p:cNvSpPr txBox="1"/>
          <p:nvPr/>
        </p:nvSpPr>
        <p:spPr>
          <a:xfrm>
            <a:off x="3543300" y="4526280"/>
            <a:ext cx="22631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₹5 lakh crore+</a:t>
            </a:r>
            <a:endParaRPr lang="en-US" sz="2200" dirty="0"/>
          </a:p>
        </p:txBody>
      </p:sp>
      <p:sp>
        <p:nvSpPr>
          <p:cNvPr id="39" name="Text 36"/>
          <p:cNvSpPr txBox="1"/>
          <p:nvPr/>
        </p:nvSpPr>
        <p:spPr>
          <a:xfrm>
            <a:off x="3543300" y="5138928"/>
            <a:ext cx="2263140" cy="731520"/>
          </a:xfrm>
          <a:prstGeom prst="rect">
            <a:avLst/>
          </a:prstGeom>
          <a:noFill/>
          <a:ln/>
        </p:spPr>
        <p:txBody>
          <a:bodyPr wrap="square" lIns="0" tIns="0" rIns="0" bIns="0" rtlCol="0" anchor="t"/>
          <a:lstStyle/>
          <a:p>
            <a:pPr indent="0" marL="0">
              <a:buNone/>
            </a:pPr>
            <a:r>
              <a:rPr lang="en-US" sz="1200" dirty="0">
                <a:solidFill>
                  <a:schemeClr val="accent3"/>
                </a:solidFill>
              </a:rPr>
              <a:t>GMV in financial year (FY) 2025–26 alone</a:t>
            </a:r>
            <a:endParaRPr lang="en-US" sz="1200" dirty="0"/>
          </a:p>
        </p:txBody>
      </p:sp>
      <p:sp>
        <p:nvSpPr>
          <p:cNvPr id="40" name="Stat card 3"/>
          <p:cNvSpPr/>
          <p:nvPr/>
        </p:nvSpPr>
        <p:spPr>
          <a:xfrm>
            <a:off x="6172200" y="4343400"/>
            <a:ext cx="2628900" cy="1645920"/>
          </a:xfrm>
          <a:prstGeom prst="roundRect">
            <a:avLst>
              <a:gd name="adj" fmla="val 4444"/>
            </a:avLst>
          </a:prstGeom>
          <a:solidFill>
            <a:schemeClr val="bg2"/>
          </a:solidFill>
          <a:ln w="12700">
            <a:solidFill>
              <a:schemeClr val="bg2"/>
            </a:solidFill>
            <a:prstDash val="solid"/>
          </a:ln>
        </p:spPr>
      </p:sp>
      <p:sp>
        <p:nvSpPr>
          <p:cNvPr id="41" name="Text 38"/>
          <p:cNvSpPr txBox="1"/>
          <p:nvPr/>
        </p:nvSpPr>
        <p:spPr>
          <a:xfrm>
            <a:off x="6355080" y="4526280"/>
            <a:ext cx="22631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1.37 lakh</a:t>
            </a:r>
            <a:endParaRPr lang="en-US" sz="2200" dirty="0"/>
          </a:p>
        </p:txBody>
      </p:sp>
      <p:sp>
        <p:nvSpPr>
          <p:cNvPr id="42" name="Text 39"/>
          <p:cNvSpPr txBox="1"/>
          <p:nvPr/>
        </p:nvSpPr>
        <p:spPr>
          <a:xfrm>
            <a:off x="6355080" y="5138928"/>
            <a:ext cx="2263140" cy="731520"/>
          </a:xfrm>
          <a:prstGeom prst="rect">
            <a:avLst/>
          </a:prstGeom>
          <a:noFill/>
          <a:ln/>
        </p:spPr>
        <p:txBody>
          <a:bodyPr wrap="square" lIns="0" tIns="0" rIns="0" bIns="0" rtlCol="0" anchor="t"/>
          <a:lstStyle/>
          <a:p>
            <a:pPr indent="0" marL="0">
              <a:buNone/>
            </a:pPr>
            <a:r>
              <a:rPr lang="en-US" sz="1200" dirty="0">
                <a:solidFill>
                  <a:schemeClr val="accent3"/>
                </a:solidFill>
              </a:rPr>
              <a:t>buyer organisations, with nearly 25 lakh sellers (Aug 2026)</a:t>
            </a:r>
            <a:endParaRPr lang="en-US" sz="1200" dirty="0"/>
          </a:p>
        </p:txBody>
      </p:sp>
      <p:sp>
        <p:nvSpPr>
          <p:cNvPr id="43" name="Stat card 4"/>
          <p:cNvSpPr/>
          <p:nvPr/>
        </p:nvSpPr>
        <p:spPr>
          <a:xfrm>
            <a:off x="8983980" y="4343400"/>
            <a:ext cx="2628900" cy="1645920"/>
          </a:xfrm>
          <a:prstGeom prst="roundRect">
            <a:avLst>
              <a:gd name="adj" fmla="val 4444"/>
            </a:avLst>
          </a:prstGeom>
          <a:solidFill>
            <a:schemeClr val="bg2"/>
          </a:solidFill>
          <a:ln w="12700">
            <a:solidFill>
              <a:schemeClr val="bg2"/>
            </a:solidFill>
            <a:prstDash val="solid"/>
          </a:ln>
        </p:spPr>
      </p:sp>
      <p:sp>
        <p:nvSpPr>
          <p:cNvPr id="44" name="Text 41"/>
          <p:cNvSpPr txBox="1"/>
          <p:nvPr/>
        </p:nvSpPr>
        <p:spPr>
          <a:xfrm>
            <a:off x="9166860" y="4526280"/>
            <a:ext cx="22631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68%</a:t>
            </a:r>
            <a:endParaRPr lang="en-US" sz="2200" dirty="0"/>
          </a:p>
        </p:txBody>
      </p:sp>
      <p:sp>
        <p:nvSpPr>
          <p:cNvPr id="45" name="Text 42"/>
          <p:cNvSpPr txBox="1"/>
          <p:nvPr/>
        </p:nvSpPr>
        <p:spPr>
          <a:xfrm>
            <a:off x="9166860" y="5138928"/>
            <a:ext cx="2263140" cy="731520"/>
          </a:xfrm>
          <a:prstGeom prst="rect">
            <a:avLst/>
          </a:prstGeom>
          <a:noFill/>
          <a:ln/>
        </p:spPr>
        <p:txBody>
          <a:bodyPr wrap="square" lIns="0" tIns="0" rIns="0" bIns="0" rtlCol="0" anchor="t"/>
          <a:lstStyle/>
          <a:p>
            <a:pPr indent="0" marL="0">
              <a:buNone/>
            </a:pPr>
            <a:r>
              <a:rPr lang="en-US" sz="1200" dirty="0">
                <a:solidFill>
                  <a:schemeClr val="accent3"/>
                </a:solidFill>
              </a:rPr>
              <a:t>of FY 2025–26 orders won by Micro and Small Enterprises (MSEs)</a:t>
            </a:r>
            <a:endParaRPr lang="en-US" sz="1200" dirty="0"/>
          </a:p>
        </p:txBody>
      </p:sp>
      <p:sp>
        <p:nvSpPr>
          <p:cNvPr id="25" name="Slide Number Placeholder 0"/>
          <p:cNvSpPr>
            <a:spLocks noGrp="1"/>
          </p:cNvSpPr>
          <p:nvPr>
            <p:ph type="sldNum" sz="quarter" idx="4294967295"/>
          </p:nvPr>
        </p:nvSpPr>
        <p:spPr>
          <a:xfrm>
            <a:off x="1120140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PART 2  ·  HOW PUBLIC PROCUREMENT WORKS</a:t>
            </a:r>
            <a:endParaRPr lang="en-US" sz="1100" dirty="0"/>
          </a:p>
        </p:txBody>
      </p:sp>
      <p:sp>
        <p:nvSpPr>
          <p:cNvPr id="3" name="Text 0"/>
          <p:cNvSpPr/>
          <p:nvPr>
            <p:ph idx="101" type="title" hasCustomPrompt="1"/>
          </p:nvPr>
        </p:nvSpPr>
        <p:spPr>
          <a:xfrm>
            <a:off x="548640" y="566928"/>
            <a:ext cx="11064240" cy="658368"/>
          </a:xfrm>
          <a:prstGeom prst="rect">
            <a:avLst/>
          </a:prstGeom>
          <a:noFill/>
          <a:ln/>
        </p:spPr>
        <p:txBody>
          <a:bodyPr wrap="square" lIns="0" tIns="0" rIns="0" bIns="0" rtlCol="0" anchor="ctr"/>
          <a:lstStyle/>
          <a:p>
            <a:pPr algn="l" indent="0" marL="0">
              <a:buNone/>
            </a:pPr>
            <a:r>
              <a:rPr lang="en-US" sz="3200" b="1" dirty="0">
                <a:solidFill>
                  <a:schemeClr val="tx2"/>
                </a:solidFill>
              </a:rPr>
              <a:t>No single procurement law, but a layered hierarchy</a:t>
            </a:r>
            <a:endParaRPr lang="en-US" sz="3200" dirty="0"/>
          </a:p>
        </p:txBody>
      </p:sp>
      <p:sp>
        <p:nvSpPr>
          <p:cNvPr id="4" name="Text 0"/>
          <p:cNvSpPr/>
          <p:nvPr>
            <p:ph idx="102" type="body" hasCustomPrompt="1"/>
          </p:nvPr>
        </p:nvSpPr>
        <p:spPr>
          <a:xfrm>
            <a:off x="548640" y="6272784"/>
            <a:ext cx="10332720" cy="384048"/>
          </a:xfrm>
          <a:prstGeom prst="rect">
            <a:avLst/>
          </a:prstGeom>
          <a:noFill/>
          <a:ln/>
        </p:spPr>
        <p:txBody>
          <a:bodyPr wrap="square" lIns="0" tIns="0" rIns="0" bIns="0" rtlCol="0" anchor="t"/>
          <a:lstStyle/>
          <a:p>
            <a:pPr indent="0" marL="0">
              <a:buNone/>
            </a:pPr>
            <a:r>
              <a:rPr lang="en-US" sz="1000" dirty="0">
                <a:solidFill>
                  <a:schemeClr val="accent3"/>
                </a:solidFill>
              </a:rPr>
              <a:t>Sources: Constitution of India (as on 1 May 2024), Arts 14, 19(1)(g), 298, 299; Manual for Procurement of Goods, Second Edition 2024, paras 1.1–1.3 and Annexure 1 'Hierarchy of Procurement Guidelines'; Delegation of Financial Powers Rules 2024, Rule 1.</a:t>
            </a:r>
            <a:endParaRPr lang="en-US" sz="1000" dirty="0"/>
          </a:p>
        </p:txBody>
      </p:sp>
      <p:sp>
        <p:nvSpPr>
          <p:cNvPr id="6" name="Level I label"/>
          <p:cNvSpPr/>
          <p:nvPr/>
        </p:nvSpPr>
        <p:spPr>
          <a:xfrm>
            <a:off x="1005840" y="1481328"/>
            <a:ext cx="1965960" cy="1828800"/>
          </a:xfrm>
          <a:prstGeom prst="roundRect">
            <a:avLst>
              <a:gd name="adj" fmla="val 4000"/>
            </a:avLst>
          </a:prstGeom>
          <a:solidFill>
            <a:schemeClr val="tx2"/>
          </a:solidFill>
          <a:ln w="12700">
            <a:solidFill>
              <a:schemeClr val="tx2"/>
            </a:solidFill>
            <a:prstDash val="solid"/>
          </a:ln>
        </p:spPr>
      </p:sp>
      <p:sp>
        <p:nvSpPr>
          <p:cNvPr id="7" name="Text 4"/>
          <p:cNvSpPr txBox="1"/>
          <p:nvPr/>
        </p:nvSpPr>
        <p:spPr>
          <a:xfrm>
            <a:off x="1143000" y="1481328"/>
            <a:ext cx="1691640" cy="1828800"/>
          </a:xfrm>
          <a:prstGeom prst="rect">
            <a:avLst/>
          </a:prstGeom>
          <a:noFill/>
          <a:ln/>
        </p:spPr>
        <p:txBody>
          <a:bodyPr wrap="square" lIns="0" tIns="0" rIns="0" bIns="0" rtlCol="0" anchor="ctr"/>
          <a:lstStyle/>
          <a:p>
            <a:pPr indent="0" marL="0">
              <a:buNone/>
            </a:pPr>
            <a:r>
              <a:rPr lang="en-US" sz="1100" b="1" spc="200" kern="0" dirty="0">
                <a:solidFill>
                  <a:schemeClr val="accent1"/>
                </a:solidFill>
              </a:rPr>
              <a:t>LEVEL I</a:t>
            </a:r>
            <a:endParaRPr lang="en-US" sz="1400" dirty="0"/>
          </a:p>
          <a:p>
            <a:pPr indent="0" marL="0">
              <a:buNone/>
            </a:pPr>
            <a:r>
              <a:rPr lang="en-US" sz="1500" b="1" dirty="0">
                <a:solidFill>
                  <a:schemeClr val="bg1"/>
                </a:solidFill>
              </a:rPr>
              <a:t>Statutory framework</a:t>
            </a:r>
            <a:endParaRPr lang="en-US" sz="1400" dirty="0"/>
          </a:p>
        </p:txBody>
      </p:sp>
      <p:sp>
        <p:nvSpPr>
          <p:cNvPr id="8" name="Level I contents"/>
          <p:cNvSpPr/>
          <p:nvPr/>
        </p:nvSpPr>
        <p:spPr>
          <a:xfrm>
            <a:off x="3044952" y="1481328"/>
            <a:ext cx="5486400" cy="1828800"/>
          </a:xfrm>
          <a:prstGeom prst="roundRect">
            <a:avLst>
              <a:gd name="adj" fmla="val 4000"/>
            </a:avLst>
          </a:prstGeom>
          <a:solidFill>
            <a:schemeClr val="bg2"/>
          </a:solidFill>
          <a:ln w="12700">
            <a:solidFill>
              <a:schemeClr val="bg2"/>
            </a:solidFill>
            <a:prstDash val="solid"/>
          </a:ln>
        </p:spPr>
      </p:sp>
      <p:sp>
        <p:nvSpPr>
          <p:cNvPr id="9" name="Text 6"/>
          <p:cNvSpPr txBox="1"/>
          <p:nvPr/>
        </p:nvSpPr>
        <p:spPr>
          <a:xfrm>
            <a:off x="3200400" y="1554480"/>
            <a:ext cx="5175504" cy="1682496"/>
          </a:xfrm>
          <a:prstGeom prst="rect">
            <a:avLst/>
          </a:prstGeom>
          <a:noFill/>
          <a:ln/>
        </p:spPr>
        <p:txBody>
          <a:bodyPr wrap="square" lIns="0" tIns="0" rIns="0" bIns="0" rtlCol="0" anchor="ctr"/>
          <a:lstStyle/>
          <a:p>
            <a:pPr indent="0" marL="0">
              <a:spcAft>
                <a:spcPts val="200"/>
              </a:spcAft>
              <a:buNone/>
            </a:pPr>
            <a:r>
              <a:rPr lang="en-US" sz="1100" dirty="0">
                <a:solidFill>
                  <a:schemeClr val="tx1"/>
                </a:solidFill>
              </a:rPr>
              <a:t>Constitution of India: Arts 298, 299 (government contracts), 14, 19(1)(g)</a:t>
            </a:r>
            <a:endParaRPr lang="en-US" sz="1100" dirty="0"/>
          </a:p>
          <a:p>
            <a:pPr indent="0" marL="0">
              <a:spcAft>
                <a:spcPts val="200"/>
              </a:spcAft>
              <a:buNone/>
            </a:pPr>
            <a:r>
              <a:rPr lang="en-US" sz="1100" dirty="0">
                <a:solidFill>
                  <a:schemeClr val="tx1"/>
                </a:solidFill>
              </a:rPr>
              <a:t>Mercantile laws: Indian Contract Act 1872 · Sale of Goods Act 1930 · Arbitration and Conciliation Act 1996 · Competition Act 2002 · Information Technology Act 2000</a:t>
            </a:r>
            <a:endParaRPr lang="en-US" sz="1100" dirty="0"/>
          </a:p>
          <a:p>
            <a:pPr indent="0" marL="0">
              <a:spcAft>
                <a:spcPts val="200"/>
              </a:spcAft>
              <a:buNone/>
            </a:pPr>
            <a:r>
              <a:rPr lang="en-US" sz="1100" dirty="0">
                <a:solidFill>
                  <a:schemeClr val="tx1"/>
                </a:solidFill>
              </a:rPr>
              <a:t>Procurement-specific laws: Right to Information Act 2005 · Micro, Small and Medium Enterprises Development Act 2006 · Prevention of Corruption Act 1988 · Lokpal and Lokayuktas Act 2013 · Whistle Blowers Protection Act 2014 · Central Vigilance Commission Act 2003 · Delhi Special Police Establishment Act 1946 · Bharatiya Nagarik Suraksha Sanhita and Bharatiya Nyaya Sanhita 2023</a:t>
            </a:r>
            <a:endParaRPr lang="en-US" sz="1100" dirty="0"/>
          </a:p>
        </p:txBody>
      </p:sp>
      <p:sp>
        <p:nvSpPr>
          <p:cNvPr id="10" name="Level II label"/>
          <p:cNvSpPr/>
          <p:nvPr/>
        </p:nvSpPr>
        <p:spPr>
          <a:xfrm>
            <a:off x="1005840" y="3419856"/>
            <a:ext cx="1965960" cy="777240"/>
          </a:xfrm>
          <a:prstGeom prst="roundRect">
            <a:avLst>
              <a:gd name="adj" fmla="val 9412"/>
            </a:avLst>
          </a:prstGeom>
          <a:solidFill>
            <a:schemeClr val="tx2"/>
          </a:solidFill>
          <a:ln w="12700">
            <a:solidFill>
              <a:schemeClr val="tx2"/>
            </a:solidFill>
            <a:prstDash val="solid"/>
          </a:ln>
        </p:spPr>
      </p:sp>
      <p:sp>
        <p:nvSpPr>
          <p:cNvPr id="11" name="Text 8"/>
          <p:cNvSpPr txBox="1"/>
          <p:nvPr/>
        </p:nvSpPr>
        <p:spPr>
          <a:xfrm>
            <a:off x="1143000" y="3419856"/>
            <a:ext cx="1691640" cy="777240"/>
          </a:xfrm>
          <a:prstGeom prst="rect">
            <a:avLst/>
          </a:prstGeom>
          <a:noFill/>
          <a:ln/>
        </p:spPr>
        <p:txBody>
          <a:bodyPr wrap="square" lIns="0" tIns="0" rIns="0" bIns="0" rtlCol="0" anchor="ctr"/>
          <a:lstStyle/>
          <a:p>
            <a:pPr indent="0" marL="0">
              <a:buNone/>
            </a:pPr>
            <a:r>
              <a:rPr lang="en-US" sz="1100" b="1" spc="200" kern="0" dirty="0">
                <a:solidFill>
                  <a:schemeClr val="accent1"/>
                </a:solidFill>
              </a:rPr>
              <a:t>LEVEL II</a:t>
            </a:r>
            <a:endParaRPr lang="en-US" sz="1400" dirty="0"/>
          </a:p>
          <a:p>
            <a:pPr indent="0" marL="0">
              <a:buNone/>
            </a:pPr>
            <a:r>
              <a:rPr lang="en-US" sz="1500" b="1" dirty="0">
                <a:solidFill>
                  <a:schemeClr val="bg1"/>
                </a:solidFill>
              </a:rPr>
              <a:t>Rules and regulations</a:t>
            </a:r>
            <a:endParaRPr lang="en-US" sz="1400" dirty="0"/>
          </a:p>
        </p:txBody>
      </p:sp>
      <p:sp>
        <p:nvSpPr>
          <p:cNvPr id="12" name="Level II contents"/>
          <p:cNvSpPr/>
          <p:nvPr/>
        </p:nvSpPr>
        <p:spPr>
          <a:xfrm>
            <a:off x="3044952" y="3419856"/>
            <a:ext cx="5486400" cy="777240"/>
          </a:xfrm>
          <a:prstGeom prst="roundRect">
            <a:avLst>
              <a:gd name="adj" fmla="val 9412"/>
            </a:avLst>
          </a:prstGeom>
          <a:solidFill>
            <a:schemeClr val="bg2"/>
          </a:solidFill>
          <a:ln w="12700">
            <a:solidFill>
              <a:schemeClr val="bg2"/>
            </a:solidFill>
            <a:prstDash val="solid"/>
          </a:ln>
        </p:spPr>
      </p:sp>
      <p:sp>
        <p:nvSpPr>
          <p:cNvPr id="13" name="Text 10"/>
          <p:cNvSpPr txBox="1"/>
          <p:nvPr/>
        </p:nvSpPr>
        <p:spPr>
          <a:xfrm>
            <a:off x="3200400" y="3493008"/>
            <a:ext cx="5175504" cy="630936"/>
          </a:xfrm>
          <a:prstGeom prst="rect">
            <a:avLst/>
          </a:prstGeom>
          <a:noFill/>
          <a:ln/>
        </p:spPr>
        <p:txBody>
          <a:bodyPr wrap="square" lIns="0" tIns="0" rIns="0" bIns="0" rtlCol="0" anchor="ctr"/>
          <a:lstStyle/>
          <a:p>
            <a:pPr indent="0" marL="0">
              <a:spcAft>
                <a:spcPts val="200"/>
              </a:spcAft>
              <a:buNone/>
            </a:pPr>
            <a:r>
              <a:rPr lang="en-US" sz="1200" dirty="0">
                <a:solidFill>
                  <a:schemeClr val="tx1"/>
                </a:solidFill>
              </a:rPr>
              <a:t>GFR 2017 · Delegation of Financial Powers Rules (DFPR, now DFPR 2024) · other Government orders on financial, vigilance, security, safety and counter-trade aspects</a:t>
            </a:r>
            <a:endParaRPr lang="en-US" sz="1200" dirty="0"/>
          </a:p>
        </p:txBody>
      </p:sp>
      <p:sp>
        <p:nvSpPr>
          <p:cNvPr id="14" name="Level III label"/>
          <p:cNvSpPr/>
          <p:nvPr/>
        </p:nvSpPr>
        <p:spPr>
          <a:xfrm>
            <a:off x="1005840" y="4306824"/>
            <a:ext cx="1965960" cy="777240"/>
          </a:xfrm>
          <a:prstGeom prst="roundRect">
            <a:avLst>
              <a:gd name="adj" fmla="val 9412"/>
            </a:avLst>
          </a:prstGeom>
          <a:solidFill>
            <a:schemeClr val="tx2"/>
          </a:solidFill>
          <a:ln w="12700">
            <a:solidFill>
              <a:schemeClr val="tx2"/>
            </a:solidFill>
            <a:prstDash val="solid"/>
          </a:ln>
        </p:spPr>
      </p:sp>
      <p:sp>
        <p:nvSpPr>
          <p:cNvPr id="15" name="Text 12"/>
          <p:cNvSpPr txBox="1"/>
          <p:nvPr/>
        </p:nvSpPr>
        <p:spPr>
          <a:xfrm>
            <a:off x="1143000" y="4306824"/>
            <a:ext cx="1691640" cy="777240"/>
          </a:xfrm>
          <a:prstGeom prst="rect">
            <a:avLst/>
          </a:prstGeom>
          <a:noFill/>
          <a:ln/>
        </p:spPr>
        <p:txBody>
          <a:bodyPr wrap="square" lIns="0" tIns="0" rIns="0" bIns="0" rtlCol="0" anchor="ctr"/>
          <a:lstStyle/>
          <a:p>
            <a:pPr indent="0" marL="0">
              <a:buNone/>
            </a:pPr>
            <a:r>
              <a:rPr lang="en-US" sz="1100" b="1" spc="200" kern="0" dirty="0">
                <a:solidFill>
                  <a:schemeClr val="accent1"/>
                </a:solidFill>
              </a:rPr>
              <a:t>LEVEL III</a:t>
            </a:r>
            <a:endParaRPr lang="en-US" sz="1400" dirty="0"/>
          </a:p>
          <a:p>
            <a:pPr indent="0" marL="0">
              <a:buNone/>
            </a:pPr>
            <a:r>
              <a:rPr lang="en-US" sz="1500" b="1" dirty="0">
                <a:solidFill>
                  <a:schemeClr val="bg1"/>
                </a:solidFill>
              </a:rPr>
              <a:t>Manuals</a:t>
            </a:r>
            <a:endParaRPr lang="en-US" sz="1400" dirty="0"/>
          </a:p>
        </p:txBody>
      </p:sp>
      <p:sp>
        <p:nvSpPr>
          <p:cNvPr id="16" name="Level III contents"/>
          <p:cNvSpPr/>
          <p:nvPr/>
        </p:nvSpPr>
        <p:spPr>
          <a:xfrm>
            <a:off x="3044952" y="4306824"/>
            <a:ext cx="5486400" cy="777240"/>
          </a:xfrm>
          <a:prstGeom prst="roundRect">
            <a:avLst>
              <a:gd name="adj" fmla="val 9412"/>
            </a:avLst>
          </a:prstGeom>
          <a:solidFill>
            <a:schemeClr val="bg2"/>
          </a:solidFill>
          <a:ln w="12700">
            <a:solidFill>
              <a:schemeClr val="bg2"/>
            </a:solidFill>
            <a:prstDash val="solid"/>
          </a:ln>
        </p:spPr>
      </p:sp>
      <p:sp>
        <p:nvSpPr>
          <p:cNvPr id="17" name="Text 14"/>
          <p:cNvSpPr txBox="1"/>
          <p:nvPr/>
        </p:nvSpPr>
        <p:spPr>
          <a:xfrm>
            <a:off x="3200400" y="4379976"/>
            <a:ext cx="5175504" cy="630936"/>
          </a:xfrm>
          <a:prstGeom prst="rect">
            <a:avLst/>
          </a:prstGeom>
          <a:noFill/>
          <a:ln/>
        </p:spPr>
        <p:txBody>
          <a:bodyPr wrap="square" lIns="0" tIns="0" rIns="0" bIns="0" rtlCol="0" anchor="ctr"/>
          <a:lstStyle/>
          <a:p>
            <a:pPr indent="0" marL="0">
              <a:spcAft>
                <a:spcPts val="200"/>
              </a:spcAft>
              <a:buNone/>
            </a:pPr>
            <a:r>
              <a:rPr lang="en-US" sz="1200" dirty="0">
                <a:solidFill>
                  <a:schemeClr val="tx1"/>
                </a:solidFill>
              </a:rPr>
              <a:t>Ministry of Finance (MoF) Manuals: Goods 2024 · Works 2025 · Consultancy 2025 · Non-Consultancy 2025 — and procuring entities' own detailed manuals</a:t>
            </a:r>
            <a:endParaRPr lang="en-US" sz="1200" dirty="0"/>
          </a:p>
        </p:txBody>
      </p:sp>
      <p:sp>
        <p:nvSpPr>
          <p:cNvPr id="18" name="Level IV label"/>
          <p:cNvSpPr/>
          <p:nvPr/>
        </p:nvSpPr>
        <p:spPr>
          <a:xfrm>
            <a:off x="1005840" y="5193792"/>
            <a:ext cx="1965960" cy="685800"/>
          </a:xfrm>
          <a:prstGeom prst="roundRect">
            <a:avLst>
              <a:gd name="adj" fmla="val 10667"/>
            </a:avLst>
          </a:prstGeom>
          <a:solidFill>
            <a:schemeClr val="tx2"/>
          </a:solidFill>
          <a:ln w="12700">
            <a:solidFill>
              <a:schemeClr val="tx2"/>
            </a:solidFill>
            <a:prstDash val="solid"/>
          </a:ln>
        </p:spPr>
      </p:sp>
      <p:sp>
        <p:nvSpPr>
          <p:cNvPr id="19" name="Text 16"/>
          <p:cNvSpPr txBox="1"/>
          <p:nvPr/>
        </p:nvSpPr>
        <p:spPr>
          <a:xfrm>
            <a:off x="1143000" y="5193792"/>
            <a:ext cx="1691640" cy="685800"/>
          </a:xfrm>
          <a:prstGeom prst="rect">
            <a:avLst/>
          </a:prstGeom>
          <a:noFill/>
          <a:ln/>
        </p:spPr>
        <p:txBody>
          <a:bodyPr wrap="square" lIns="0" tIns="0" rIns="0" bIns="0" rtlCol="0" anchor="ctr"/>
          <a:lstStyle/>
          <a:p>
            <a:pPr indent="0" marL="0">
              <a:buNone/>
            </a:pPr>
            <a:r>
              <a:rPr lang="en-US" sz="1100" b="1" spc="200" kern="0" dirty="0">
                <a:solidFill>
                  <a:schemeClr val="accent1"/>
                </a:solidFill>
              </a:rPr>
              <a:t>LEVEL IV</a:t>
            </a:r>
            <a:endParaRPr lang="en-US" sz="1400" dirty="0"/>
          </a:p>
          <a:p>
            <a:pPr indent="0" marL="0">
              <a:buNone/>
            </a:pPr>
            <a:r>
              <a:rPr lang="en-US" sz="1500" b="1" dirty="0">
                <a:solidFill>
                  <a:schemeClr val="bg1"/>
                </a:solidFill>
              </a:rPr>
              <a:t>Tender documents</a:t>
            </a:r>
            <a:endParaRPr lang="en-US" sz="1400" dirty="0"/>
          </a:p>
        </p:txBody>
      </p:sp>
      <p:sp>
        <p:nvSpPr>
          <p:cNvPr id="20" name="Level IV contents"/>
          <p:cNvSpPr/>
          <p:nvPr/>
        </p:nvSpPr>
        <p:spPr>
          <a:xfrm>
            <a:off x="3044952" y="5193792"/>
            <a:ext cx="5486400" cy="685800"/>
          </a:xfrm>
          <a:prstGeom prst="roundRect">
            <a:avLst>
              <a:gd name="adj" fmla="val 10667"/>
            </a:avLst>
          </a:prstGeom>
          <a:solidFill>
            <a:schemeClr val="bg2"/>
          </a:solidFill>
          <a:ln w="12700">
            <a:solidFill>
              <a:schemeClr val="bg2"/>
            </a:solidFill>
            <a:prstDash val="solid"/>
          </a:ln>
        </p:spPr>
      </p:sp>
      <p:sp>
        <p:nvSpPr>
          <p:cNvPr id="21" name="Text 18"/>
          <p:cNvSpPr txBox="1"/>
          <p:nvPr/>
        </p:nvSpPr>
        <p:spPr>
          <a:xfrm>
            <a:off x="3200400" y="5266944"/>
            <a:ext cx="5175504" cy="539496"/>
          </a:xfrm>
          <a:prstGeom prst="rect">
            <a:avLst/>
          </a:prstGeom>
          <a:noFill/>
          <a:ln/>
        </p:spPr>
        <p:txBody>
          <a:bodyPr wrap="square" lIns="0" tIns="0" rIns="0" bIns="0" rtlCol="0" anchor="ctr"/>
          <a:lstStyle/>
          <a:p>
            <a:pPr indent="0" marL="0">
              <a:spcAft>
                <a:spcPts val="200"/>
              </a:spcAft>
              <a:buNone/>
            </a:pPr>
            <a:r>
              <a:rPr lang="en-US" sz="1200" dirty="0">
                <a:solidFill>
                  <a:schemeClr val="tx1"/>
                </a:solidFill>
              </a:rPr>
              <a:t>MoF Model Tender Documents (Goods, Consultancy, Non-Consultancy) — and procuring entities' own tender documents</a:t>
            </a:r>
            <a:endParaRPr lang="en-US" sz="1200" dirty="0"/>
          </a:p>
        </p:txBody>
      </p:sp>
      <p:sp>
        <p:nvSpPr>
          <p:cNvPr id="22" name="Authority arrow"/>
          <p:cNvSpPr/>
          <p:nvPr/>
        </p:nvSpPr>
        <p:spPr>
          <a:xfrm>
            <a:off x="777240" y="1527048"/>
            <a:ext cx="0" cy="4306824"/>
          </a:xfrm>
          <a:prstGeom prst="line">
            <a:avLst/>
          </a:prstGeom>
          <a:noFill/>
          <a:ln w="31750">
            <a:solidFill>
              <a:schemeClr val="accent1"/>
            </a:solidFill>
            <a:prstDash val="solid"/>
            <a:headEnd type="triangle"/>
          </a:ln>
        </p:spPr>
      </p:sp>
      <p:sp>
        <p:nvSpPr>
          <p:cNvPr id="23" name="Text 20"/>
          <p:cNvSpPr txBox="1"/>
          <p:nvPr/>
        </p:nvSpPr>
        <p:spPr>
          <a:xfrm rot="16200000">
            <a:off x="-1741932" y="3543300"/>
            <a:ext cx="4398264" cy="274320"/>
          </a:xfrm>
          <a:prstGeom prst="rect">
            <a:avLst/>
          </a:prstGeom>
          <a:noFill/>
          <a:ln/>
        </p:spPr>
        <p:txBody>
          <a:bodyPr wrap="square" lIns="0" tIns="0" rIns="0" bIns="0" rtlCol="0" anchor="ctr"/>
          <a:lstStyle/>
          <a:p>
            <a:pPr algn="ctr" indent="0" marL="0">
              <a:buNone/>
            </a:pPr>
            <a:r>
              <a:rPr lang="en-US" sz="1000" b="1" spc="200" kern="0" dirty="0">
                <a:solidFill>
                  <a:schemeClr val="accent1"/>
                </a:solidFill>
              </a:rPr>
              <a:t>HIGHER LEVEL PREVAILS</a:t>
            </a:r>
            <a:endParaRPr lang="en-US" sz="1000" dirty="0"/>
          </a:p>
        </p:txBody>
      </p:sp>
      <p:sp>
        <p:nvSpPr>
          <p:cNvPr id="24" name="Text 21"/>
          <p:cNvSpPr txBox="1"/>
          <p:nvPr/>
        </p:nvSpPr>
        <p:spPr>
          <a:xfrm>
            <a:off x="8732520" y="1481328"/>
            <a:ext cx="2907792" cy="320040"/>
          </a:xfrm>
          <a:prstGeom prst="rect">
            <a:avLst/>
          </a:prstGeom>
          <a:noFill/>
          <a:ln/>
        </p:spPr>
        <p:txBody>
          <a:bodyPr wrap="square" lIns="0" tIns="0" rIns="0" bIns="0" rtlCol="0" anchor="t"/>
          <a:lstStyle/>
          <a:p>
            <a:pPr indent="0" marL="0">
              <a:buNone/>
            </a:pPr>
            <a:r>
              <a:rPr lang="en-US" sz="1500" b="1" dirty="0">
                <a:solidFill>
                  <a:schemeClr val="tx2"/>
                </a:solidFill>
              </a:rPr>
              <a:t>Annexure 1 — Remarks</a:t>
            </a:r>
            <a:endParaRPr lang="en-US" sz="1500" dirty="0"/>
          </a:p>
        </p:txBody>
      </p:sp>
      <p:sp>
        <p:nvSpPr>
          <p:cNvPr id="25" name="Marker 1"/>
          <p:cNvSpPr/>
          <p:nvPr/>
        </p:nvSpPr>
        <p:spPr>
          <a:xfrm>
            <a:off x="8732520" y="1920240"/>
            <a:ext cx="347472" cy="347472"/>
          </a:xfrm>
          <a:prstGeom prst="ellipse">
            <a:avLst/>
          </a:prstGeom>
          <a:solidFill>
            <a:schemeClr val="accent1"/>
          </a:solidFill>
          <a:ln w="12700">
            <a:solidFill>
              <a:schemeClr val="accent1"/>
            </a:solidFill>
            <a:prstDash val="solid"/>
          </a:ln>
        </p:spPr>
      </p:sp>
      <p:sp>
        <p:nvSpPr>
          <p:cNvPr id="26" name="Text 23"/>
          <p:cNvSpPr txBox="1"/>
          <p:nvPr/>
        </p:nvSpPr>
        <p:spPr>
          <a:xfrm>
            <a:off x="8732520" y="192024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7" name="Text 24"/>
          <p:cNvSpPr txBox="1"/>
          <p:nvPr/>
        </p:nvSpPr>
        <p:spPr>
          <a:xfrm>
            <a:off x="9208008" y="1920240"/>
            <a:ext cx="2432304" cy="731520"/>
          </a:xfrm>
          <a:prstGeom prst="rect">
            <a:avLst/>
          </a:prstGeom>
          <a:noFill/>
          <a:ln/>
        </p:spPr>
        <p:txBody>
          <a:bodyPr wrap="square" lIns="0" tIns="0" rIns="0" bIns="0" rtlCol="0" anchor="t"/>
          <a:lstStyle/>
          <a:p>
            <a:pPr indent="0" marL="0">
              <a:buNone/>
            </a:pPr>
            <a:r>
              <a:rPr lang="en-US" sz="1400" dirty="0">
                <a:solidFill>
                  <a:schemeClr val="tx1"/>
                </a:solidFill>
              </a:rPr>
              <a:t>Levels I and II are fundamental and generic.</a:t>
            </a:r>
            <a:endParaRPr lang="en-US" sz="1400" dirty="0"/>
          </a:p>
        </p:txBody>
      </p:sp>
      <p:sp>
        <p:nvSpPr>
          <p:cNvPr id="28" name="Marker 2"/>
          <p:cNvSpPr/>
          <p:nvPr/>
        </p:nvSpPr>
        <p:spPr>
          <a:xfrm>
            <a:off x="8732520" y="2788920"/>
            <a:ext cx="347472" cy="347472"/>
          </a:xfrm>
          <a:prstGeom prst="ellipse">
            <a:avLst/>
          </a:prstGeom>
          <a:solidFill>
            <a:schemeClr val="accent1"/>
          </a:solidFill>
          <a:ln w="12700">
            <a:solidFill>
              <a:schemeClr val="accent1"/>
            </a:solidFill>
            <a:prstDash val="solid"/>
          </a:ln>
        </p:spPr>
      </p:sp>
      <p:sp>
        <p:nvSpPr>
          <p:cNvPr id="29" name="Text 26"/>
          <p:cNvSpPr txBox="1"/>
          <p:nvPr/>
        </p:nvSpPr>
        <p:spPr>
          <a:xfrm>
            <a:off x="8732520" y="27889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0" name="Text 27"/>
          <p:cNvSpPr txBox="1"/>
          <p:nvPr/>
        </p:nvSpPr>
        <p:spPr>
          <a:xfrm>
            <a:off x="9208008" y="2788920"/>
            <a:ext cx="2432304" cy="731520"/>
          </a:xfrm>
          <a:prstGeom prst="rect">
            <a:avLst/>
          </a:prstGeom>
          <a:noFill/>
          <a:ln/>
        </p:spPr>
        <p:txBody>
          <a:bodyPr wrap="square" lIns="0" tIns="0" rIns="0" bIns="0" rtlCol="0" anchor="t"/>
          <a:lstStyle/>
          <a:p>
            <a:pPr indent="0" marL="0">
              <a:buNone/>
            </a:pPr>
            <a:r>
              <a:rPr lang="en-US" sz="1400" dirty="0">
                <a:solidFill>
                  <a:schemeClr val="tx1"/>
                </a:solidFill>
              </a:rPr>
              <a:t>Lower levels must conform to the levels above them.</a:t>
            </a:r>
            <a:endParaRPr lang="en-US" sz="1400" dirty="0"/>
          </a:p>
        </p:txBody>
      </p:sp>
      <p:sp>
        <p:nvSpPr>
          <p:cNvPr id="31" name="Marker 3"/>
          <p:cNvSpPr/>
          <p:nvPr/>
        </p:nvSpPr>
        <p:spPr>
          <a:xfrm>
            <a:off x="8732520" y="3657600"/>
            <a:ext cx="347472" cy="347472"/>
          </a:xfrm>
          <a:prstGeom prst="ellipse">
            <a:avLst/>
          </a:prstGeom>
          <a:solidFill>
            <a:schemeClr val="accent1"/>
          </a:solidFill>
          <a:ln w="12700">
            <a:solidFill>
              <a:schemeClr val="accent1"/>
            </a:solidFill>
            <a:prstDash val="solid"/>
          </a:ln>
        </p:spPr>
      </p:sp>
      <p:sp>
        <p:nvSpPr>
          <p:cNvPr id="32" name="Text 29"/>
          <p:cNvSpPr txBox="1"/>
          <p:nvPr/>
        </p:nvSpPr>
        <p:spPr>
          <a:xfrm>
            <a:off x="8732520" y="36576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3" name="Text 30"/>
          <p:cNvSpPr txBox="1"/>
          <p:nvPr/>
        </p:nvSpPr>
        <p:spPr>
          <a:xfrm>
            <a:off x="9208008" y="3657600"/>
            <a:ext cx="2432304" cy="1417320"/>
          </a:xfrm>
          <a:prstGeom prst="rect">
            <a:avLst/>
          </a:prstGeom>
          <a:noFill/>
          <a:ln/>
        </p:spPr>
        <p:txBody>
          <a:bodyPr wrap="square" lIns="0" tIns="0" rIns="0" bIns="0" rtlCol="0" anchor="t"/>
          <a:lstStyle/>
          <a:p>
            <a:pPr indent="0" marL="0">
              <a:buNone/>
            </a:pPr>
            <a:r>
              <a:rPr lang="en-US" sz="1400" dirty="0">
                <a:solidFill>
                  <a:schemeClr val="tx1"/>
                </a:solidFill>
              </a:rPr>
              <a:t>A bidder's rights come only from the law and the tender, contract or registration documents. Levels II and III have "no locus standi" with bidders.</a:t>
            </a:r>
            <a:endParaRPr lang="en-US" sz="1400" dirty="0"/>
          </a:p>
        </p:txBody>
      </p:sp>
      <p:sp>
        <p:nvSpPr>
          <p:cNvPr id="25" name="Slide Number Placeholder 0"/>
          <p:cNvSpPr>
            <a:spLocks noGrp="1"/>
          </p:cNvSpPr>
          <p:nvPr>
            <p:ph type="sldNum" sz="quarter" idx="4294967295"/>
          </p:nvPr>
        </p:nvSpPr>
        <p:spPr>
          <a:xfrm>
            <a:off x="1120140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PART 2  ·  HOW PUBLIC PROCUREMENT WORKS</a:t>
            </a:r>
            <a:endParaRPr lang="en-US" sz="1100" dirty="0"/>
          </a:p>
        </p:txBody>
      </p:sp>
      <p:sp>
        <p:nvSpPr>
          <p:cNvPr id="3" name="Text 0"/>
          <p:cNvSpPr/>
          <p:nvPr>
            <p:ph idx="101" type="title" hasCustomPrompt="1"/>
          </p:nvPr>
        </p:nvSpPr>
        <p:spPr>
          <a:xfrm>
            <a:off x="548640" y="566928"/>
            <a:ext cx="11064240" cy="658368"/>
          </a:xfrm>
          <a:prstGeom prst="rect">
            <a:avLst/>
          </a:prstGeom>
          <a:noFill/>
          <a:ln/>
        </p:spPr>
        <p:txBody>
          <a:bodyPr wrap="square" lIns="0" tIns="0" rIns="0" bIns="0" rtlCol="0" anchor="ctr"/>
          <a:lstStyle/>
          <a:p>
            <a:pPr algn="l" indent="0" marL="0">
              <a:buNone/>
            </a:pPr>
            <a:r>
              <a:rPr lang="en-US" sz="3200" b="1" dirty="0">
                <a:solidFill>
                  <a:schemeClr val="tx2"/>
                </a:solidFill>
              </a:rPr>
              <a:t>Procurement policy at a glance</a:t>
            </a:r>
            <a:endParaRPr lang="en-US" sz="3200" dirty="0"/>
          </a:p>
        </p:txBody>
      </p:sp>
      <p:sp>
        <p:nvSpPr>
          <p:cNvPr id="4" name="Text 0"/>
          <p:cNvSpPr/>
          <p:nvPr>
            <p:ph idx="102" type="body" hasCustomPrompt="1"/>
          </p:nvPr>
        </p:nvSpPr>
        <p:spPr>
          <a:xfrm>
            <a:off x="548640" y="6272784"/>
            <a:ext cx="10332720" cy="384048"/>
          </a:xfrm>
          <a:prstGeom prst="rect">
            <a:avLst/>
          </a:prstGeom>
          <a:noFill/>
          <a:ln/>
        </p:spPr>
        <p:txBody>
          <a:bodyPr wrap="square" lIns="0" tIns="0" rIns="0" bIns="0" rtlCol="0" anchor="t"/>
          <a:lstStyle/>
          <a:p>
            <a:pPr indent="0" marL="0">
              <a:buNone/>
            </a:pPr>
            <a:r>
              <a:rPr lang="en-US" sz="1000" dirty="0">
                <a:solidFill>
                  <a:schemeClr val="accent3"/>
                </a:solidFill>
              </a:rPr>
              <a:t>Sources: GFR 2017 (updated to 31 Jan 2026), Rules 144, 154–162, 166–173, 183, 201; DoE OM F.1/3/2024-PPD, 10 Jul 2024; DFPR 2024, Rule 11; DoE OM, 3 Jun 2024 (arbitration and mediation); Goods Manual 2024, paras 1.5, 1.11.</a:t>
            </a:r>
            <a:endParaRPr lang="en-US" sz="1000" dirty="0"/>
          </a:p>
        </p:txBody>
      </p:sp>
      <p:sp>
        <p:nvSpPr>
          <p:cNvPr id="6" name="Text 3"/>
          <p:cNvSpPr txBox="1"/>
          <p:nvPr/>
        </p:nvSpPr>
        <p:spPr>
          <a:xfrm>
            <a:off x="548640" y="1417320"/>
            <a:ext cx="1325880" cy="384048"/>
          </a:xfrm>
          <a:prstGeom prst="rect">
            <a:avLst/>
          </a:prstGeom>
          <a:noFill/>
          <a:ln/>
        </p:spPr>
        <p:txBody>
          <a:bodyPr wrap="square" lIns="0" tIns="0" rIns="0" bIns="0" rtlCol="0" anchor="ctr"/>
          <a:lstStyle/>
          <a:p>
            <a:pPr indent="0" marL="0">
              <a:buNone/>
            </a:pPr>
            <a:r>
              <a:rPr lang="en-US" sz="1300" b="1" dirty="0">
                <a:solidFill>
                  <a:schemeClr val="accent3"/>
                </a:solidFill>
              </a:rPr>
              <a:t>GFR Rule 144:</a:t>
            </a:r>
            <a:endParaRPr lang="en-US" sz="1300" dirty="0"/>
          </a:p>
        </p:txBody>
      </p:sp>
      <p:sp>
        <p:nvSpPr>
          <p:cNvPr id="7" name="Principle 1"/>
          <p:cNvSpPr/>
          <p:nvPr/>
        </p:nvSpPr>
        <p:spPr>
          <a:xfrm>
            <a:off x="1874520" y="1417320"/>
            <a:ext cx="1234440" cy="384048"/>
          </a:xfrm>
          <a:prstGeom prst="roundRect">
            <a:avLst>
              <a:gd name="adj" fmla="val 19048"/>
            </a:avLst>
          </a:prstGeom>
          <a:solidFill>
            <a:schemeClr val="accent5"/>
          </a:solidFill>
          <a:ln w="12700">
            <a:solidFill>
              <a:schemeClr val="accent5"/>
            </a:solidFill>
            <a:prstDash val="solid"/>
          </a:ln>
        </p:spPr>
      </p:sp>
      <p:sp>
        <p:nvSpPr>
          <p:cNvPr id="8" name="Text 5"/>
          <p:cNvSpPr txBox="1"/>
          <p:nvPr/>
        </p:nvSpPr>
        <p:spPr>
          <a:xfrm>
            <a:off x="1874520" y="1417320"/>
            <a:ext cx="1234440" cy="384048"/>
          </a:xfrm>
          <a:prstGeom prst="rect">
            <a:avLst/>
          </a:prstGeom>
          <a:noFill/>
          <a:ln/>
        </p:spPr>
        <p:txBody>
          <a:bodyPr wrap="square" lIns="0" tIns="0" rIns="0" bIns="0" rtlCol="0" anchor="ctr"/>
          <a:lstStyle/>
          <a:p>
            <a:pPr algn="ctr" indent="0" marL="0">
              <a:buNone/>
            </a:pPr>
            <a:r>
              <a:rPr lang="en-US" sz="1300" b="1" dirty="0">
                <a:solidFill>
                  <a:schemeClr val="tx2"/>
                </a:solidFill>
              </a:rPr>
              <a:t>Efficiency</a:t>
            </a:r>
            <a:endParaRPr lang="en-US" sz="1300" dirty="0"/>
          </a:p>
        </p:txBody>
      </p:sp>
      <p:sp>
        <p:nvSpPr>
          <p:cNvPr id="9" name="Principle 2"/>
          <p:cNvSpPr/>
          <p:nvPr/>
        </p:nvSpPr>
        <p:spPr>
          <a:xfrm>
            <a:off x="3218688" y="1417320"/>
            <a:ext cx="1143000" cy="384048"/>
          </a:xfrm>
          <a:prstGeom prst="roundRect">
            <a:avLst>
              <a:gd name="adj" fmla="val 19048"/>
            </a:avLst>
          </a:prstGeom>
          <a:solidFill>
            <a:schemeClr val="accent5"/>
          </a:solidFill>
          <a:ln w="12700">
            <a:solidFill>
              <a:schemeClr val="accent5"/>
            </a:solidFill>
            <a:prstDash val="solid"/>
          </a:ln>
        </p:spPr>
      </p:sp>
      <p:sp>
        <p:nvSpPr>
          <p:cNvPr id="10" name="Text 7"/>
          <p:cNvSpPr txBox="1"/>
          <p:nvPr/>
        </p:nvSpPr>
        <p:spPr>
          <a:xfrm>
            <a:off x="3218688" y="1417320"/>
            <a:ext cx="1143000" cy="384048"/>
          </a:xfrm>
          <a:prstGeom prst="rect">
            <a:avLst/>
          </a:prstGeom>
          <a:noFill/>
          <a:ln/>
        </p:spPr>
        <p:txBody>
          <a:bodyPr wrap="square" lIns="0" tIns="0" rIns="0" bIns="0" rtlCol="0" anchor="ctr"/>
          <a:lstStyle/>
          <a:p>
            <a:pPr algn="ctr" indent="0" marL="0">
              <a:buNone/>
            </a:pPr>
            <a:r>
              <a:rPr lang="en-US" sz="1300" b="1" dirty="0">
                <a:solidFill>
                  <a:schemeClr val="tx2"/>
                </a:solidFill>
              </a:rPr>
              <a:t>Economy</a:t>
            </a:r>
            <a:endParaRPr lang="en-US" sz="1300" dirty="0"/>
          </a:p>
        </p:txBody>
      </p:sp>
      <p:sp>
        <p:nvSpPr>
          <p:cNvPr id="11" name="Principle 3"/>
          <p:cNvSpPr/>
          <p:nvPr/>
        </p:nvSpPr>
        <p:spPr>
          <a:xfrm>
            <a:off x="4471416" y="1417320"/>
            <a:ext cx="1417320" cy="384048"/>
          </a:xfrm>
          <a:prstGeom prst="roundRect">
            <a:avLst>
              <a:gd name="adj" fmla="val 19048"/>
            </a:avLst>
          </a:prstGeom>
          <a:solidFill>
            <a:schemeClr val="accent5"/>
          </a:solidFill>
          <a:ln w="12700">
            <a:solidFill>
              <a:schemeClr val="accent5"/>
            </a:solidFill>
            <a:prstDash val="solid"/>
          </a:ln>
        </p:spPr>
      </p:sp>
      <p:sp>
        <p:nvSpPr>
          <p:cNvPr id="12" name="Text 9"/>
          <p:cNvSpPr txBox="1"/>
          <p:nvPr/>
        </p:nvSpPr>
        <p:spPr>
          <a:xfrm>
            <a:off x="4471416" y="1417320"/>
            <a:ext cx="1417320" cy="384048"/>
          </a:xfrm>
          <a:prstGeom prst="rect">
            <a:avLst/>
          </a:prstGeom>
          <a:noFill/>
          <a:ln/>
        </p:spPr>
        <p:txBody>
          <a:bodyPr wrap="square" lIns="0" tIns="0" rIns="0" bIns="0" rtlCol="0" anchor="ctr"/>
          <a:lstStyle/>
          <a:p>
            <a:pPr algn="ctr" indent="0" marL="0">
              <a:buNone/>
            </a:pPr>
            <a:r>
              <a:rPr lang="en-US" sz="1300" b="1" dirty="0">
                <a:solidFill>
                  <a:schemeClr val="tx2"/>
                </a:solidFill>
              </a:rPr>
              <a:t>Transparency</a:t>
            </a:r>
            <a:endParaRPr lang="en-US" sz="1300" dirty="0"/>
          </a:p>
        </p:txBody>
      </p:sp>
      <p:sp>
        <p:nvSpPr>
          <p:cNvPr id="13" name="Principle 4"/>
          <p:cNvSpPr/>
          <p:nvPr/>
        </p:nvSpPr>
        <p:spPr>
          <a:xfrm>
            <a:off x="5998464" y="1417320"/>
            <a:ext cx="2697480" cy="384048"/>
          </a:xfrm>
          <a:prstGeom prst="roundRect">
            <a:avLst>
              <a:gd name="adj" fmla="val 19048"/>
            </a:avLst>
          </a:prstGeom>
          <a:solidFill>
            <a:schemeClr val="accent5"/>
          </a:solidFill>
          <a:ln w="12700">
            <a:solidFill>
              <a:schemeClr val="accent5"/>
            </a:solidFill>
            <a:prstDash val="solid"/>
          </a:ln>
        </p:spPr>
      </p:sp>
      <p:sp>
        <p:nvSpPr>
          <p:cNvPr id="14" name="Text 11"/>
          <p:cNvSpPr txBox="1"/>
          <p:nvPr/>
        </p:nvSpPr>
        <p:spPr>
          <a:xfrm>
            <a:off x="5998464" y="1417320"/>
            <a:ext cx="2697480" cy="384048"/>
          </a:xfrm>
          <a:prstGeom prst="rect">
            <a:avLst/>
          </a:prstGeom>
          <a:noFill/>
          <a:ln/>
        </p:spPr>
        <p:txBody>
          <a:bodyPr wrap="square" lIns="0" tIns="0" rIns="0" bIns="0" rtlCol="0" anchor="ctr"/>
          <a:lstStyle/>
          <a:p>
            <a:pPr algn="ctr" indent="0" marL="0">
              <a:buNone/>
            </a:pPr>
            <a:r>
              <a:rPr lang="en-US" sz="1300" b="1" dirty="0">
                <a:solidFill>
                  <a:schemeClr val="tx2"/>
                </a:solidFill>
              </a:rPr>
              <a:t>Fair and equitable treatment</a:t>
            </a:r>
            <a:endParaRPr lang="en-US" sz="1300" dirty="0"/>
          </a:p>
        </p:txBody>
      </p:sp>
      <p:sp>
        <p:nvSpPr>
          <p:cNvPr id="15" name="Principle 5"/>
          <p:cNvSpPr/>
          <p:nvPr/>
        </p:nvSpPr>
        <p:spPr>
          <a:xfrm>
            <a:off x="8805672" y="1417320"/>
            <a:ext cx="1417320" cy="384048"/>
          </a:xfrm>
          <a:prstGeom prst="roundRect">
            <a:avLst>
              <a:gd name="adj" fmla="val 19048"/>
            </a:avLst>
          </a:prstGeom>
          <a:solidFill>
            <a:schemeClr val="accent5"/>
          </a:solidFill>
          <a:ln w="12700">
            <a:solidFill>
              <a:schemeClr val="accent5"/>
            </a:solidFill>
            <a:prstDash val="solid"/>
          </a:ln>
        </p:spPr>
      </p:sp>
      <p:sp>
        <p:nvSpPr>
          <p:cNvPr id="16" name="Text 13"/>
          <p:cNvSpPr txBox="1"/>
          <p:nvPr/>
        </p:nvSpPr>
        <p:spPr>
          <a:xfrm>
            <a:off x="8805672" y="1417320"/>
            <a:ext cx="1417320" cy="384048"/>
          </a:xfrm>
          <a:prstGeom prst="rect">
            <a:avLst/>
          </a:prstGeom>
          <a:noFill/>
          <a:ln/>
        </p:spPr>
        <p:txBody>
          <a:bodyPr wrap="square" lIns="0" tIns="0" rIns="0" bIns="0" rtlCol="0" anchor="ctr"/>
          <a:lstStyle/>
          <a:p>
            <a:pPr algn="ctr" indent="0" marL="0">
              <a:buNone/>
            </a:pPr>
            <a:r>
              <a:rPr lang="en-US" sz="1300" b="1" dirty="0">
                <a:solidFill>
                  <a:schemeClr val="tx2"/>
                </a:solidFill>
              </a:rPr>
              <a:t>Competition</a:t>
            </a:r>
            <a:endParaRPr lang="en-US" sz="1300" dirty="0"/>
          </a:p>
        </p:txBody>
      </p:sp>
      <p:sp>
        <p:nvSpPr>
          <p:cNvPr id="17" name="Text 14"/>
          <p:cNvSpPr txBox="1"/>
          <p:nvPr/>
        </p:nvSpPr>
        <p:spPr>
          <a:xfrm>
            <a:off x="548640" y="2011680"/>
            <a:ext cx="6217920" cy="320040"/>
          </a:xfrm>
          <a:prstGeom prst="rect">
            <a:avLst/>
          </a:prstGeom>
          <a:noFill/>
          <a:ln/>
        </p:spPr>
        <p:txBody>
          <a:bodyPr wrap="square" lIns="0" tIns="0" rIns="0" bIns="0" rtlCol="0" anchor="t"/>
          <a:lstStyle/>
          <a:p>
            <a:pPr indent="0" marL="0">
              <a:buNone/>
            </a:pPr>
            <a:r>
              <a:rPr lang="en-US" sz="1400" b="1" dirty="0">
                <a:solidFill>
                  <a:schemeClr val="tx2"/>
                </a:solidFill>
              </a:rPr>
              <a:t>Buying goods outside GeM (only when the item is not on GeM)</a:t>
            </a:r>
            <a:endParaRPr lang="en-US" sz="1400" dirty="0"/>
          </a:p>
        </p:txBody>
      </p:sp>
      <p:graphicFrame>
        <p:nvGraphicFramePr>
          <p:cNvPr id="5" name="Thresholds table"/>
          <p:cNvGraphicFramePr>
            <a:graphicFrameLocks noGrp="1"/>
          </p:cNvGraphicFramePr>
          <p:nvPr>
            <p:extLst>
              <p:ext uri="{D42A27DB-BD31-4B8C-83A1-F6EECF244321}">
                <p14:modId xmlns:p14="http://schemas.microsoft.com/office/powerpoint/2010/main" val="1579011935"/>
              </p:ext>
            </p:extLst>
          </p:nvPr>
        </p:nvGraphicFramePr>
        <p:xfrm>
          <a:off x="548640" y="2377440"/>
          <a:ext cx="6217920" cy="914400"/>
        </p:xfrm>
        <a:graphic>
          <a:graphicData uri="http://schemas.openxmlformats.org/drawingml/2006/table">
            <a:tbl>
              <a:tblPr/>
              <a:tblGrid>
                <a:gridCol w="1417320"/>
                <a:gridCol w="2697480"/>
                <a:gridCol w="731520"/>
                <a:gridCol w="1371600"/>
              </a:tblGrid>
              <a:tr h="384048">
                <a:tc>
                  <a:txBody>
                    <a:bodyPr/>
                    <a:lstStyle/>
                    <a:p>
                      <a:pPr indent="0" marL="0">
                        <a:buNone/>
                      </a:pPr>
                      <a:r>
                        <a:rPr lang="en-US" sz="1200" b="1" dirty="0">
                          <a:solidFill>
                            <a:schemeClr val="bg1"/>
                          </a:solidFill>
                        </a:rPr>
                        <a:t>Estimated value</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Method</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GFR Rule</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Before Jul 2024</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chemeClr val="tx2"/>
                    </a:solidFill>
                  </a:tcPr>
                </a:tc>
              </a:tr>
              <a:tr h="384048">
                <a:tc>
                  <a:txBody>
                    <a:bodyPr/>
                    <a:lstStyle/>
                    <a:p>
                      <a:pPr indent="0" marL="0">
                        <a:buNone/>
                      </a:pPr>
                      <a:r>
                        <a:rPr lang="en-US" sz="1200" dirty="0">
                          <a:solidFill>
                            <a:schemeClr val="tx1"/>
                          </a:solidFill>
                        </a:rPr>
                        <a:t>Up to ₹50,000</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Purchase without quotation</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154</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3"/>
                          </a:solidFill>
                        </a:rPr>
                        <a:t>Up to ₹25,000</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r>
              <a:tr h="384048">
                <a:tc>
                  <a:txBody>
                    <a:bodyPr/>
                    <a:lstStyle/>
                    <a:p>
                      <a:pPr indent="0" marL="0">
                        <a:buNone/>
                      </a:pPr>
                      <a:r>
                        <a:rPr lang="en-US" sz="1200" dirty="0">
                          <a:solidFill>
                            <a:schemeClr val="tx1"/>
                          </a:solidFill>
                        </a:rPr>
                        <a:t>₹50,000 – ₹5 lakh</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Local Purchase Committee (3 members)</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155</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3"/>
                          </a:solidFill>
                        </a:rPr>
                        <a:t>₹25,000 – ₹2.5 lakh</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r>
              <a:tr h="384048">
                <a:tc>
                  <a:txBody>
                    <a:bodyPr/>
                    <a:lstStyle/>
                    <a:p>
                      <a:pPr indent="0" marL="0">
                        <a:buNone/>
                      </a:pPr>
                      <a:r>
                        <a:rPr lang="en-US" sz="1200" dirty="0">
                          <a:solidFill>
                            <a:schemeClr val="tx1"/>
                          </a:solidFill>
                        </a:rPr>
                        <a:t>Up to ₹50 lakh</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Limited Tender Enquiry</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162</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3"/>
                          </a:solidFill>
                        </a:rPr>
                        <a:t>Up to ₹25 lakh</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r>
              <a:tr h="384048">
                <a:tc>
                  <a:txBody>
                    <a:bodyPr/>
                    <a:lstStyle/>
                    <a:p>
                      <a:pPr indent="0" marL="0">
                        <a:buNone/>
                      </a:pPr>
                      <a:r>
                        <a:rPr lang="en-US" sz="1200" dirty="0">
                          <a:solidFill>
                            <a:schemeClr val="tx1"/>
                          </a:solidFill>
                        </a:rPr>
                        <a:t>₹50 lakh and above</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Advertised (open) tender</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161</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3"/>
                          </a:solidFill>
                        </a:rPr>
                        <a:t>₹25 lakh and above</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r>
              <a:tr h="384048">
                <a:tc>
                  <a:txBody>
                    <a:bodyPr/>
                    <a:lstStyle/>
                    <a:p>
                      <a:pPr indent="0" marL="0">
                        <a:buNone/>
                      </a:pPr>
                      <a:r>
                        <a:rPr lang="en-US" sz="1200" dirty="0">
                          <a:solidFill>
                            <a:schemeClr val="tx1"/>
                          </a:solidFill>
                        </a:rPr>
                        <a:t>Any, in defined cases</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Single tender (proprietary, emergency, standardisation)</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166</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3"/>
                          </a:solidFill>
                        </a:rPr>
                        <a:t>Unchanged</a:t>
                      </a:r>
                      <a:endParaRPr lang="en-US" sz="1200" dirty="0"/>
                    </a:p>
                  </a:txBody>
                  <a:tcPr marL="54864" marR="54864" marT="54864" marB="54864"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r>
            </a:tbl>
          </a:graphicData>
        </a:graphic>
      </p:graphicFrame>
      <p:sp>
        <p:nvSpPr>
          <p:cNvPr id="19" name="Text 15"/>
          <p:cNvSpPr txBox="1"/>
          <p:nvPr/>
        </p:nvSpPr>
        <p:spPr>
          <a:xfrm>
            <a:off x="548640" y="5303520"/>
            <a:ext cx="6217920" cy="685800"/>
          </a:xfrm>
          <a:prstGeom prst="rect">
            <a:avLst/>
          </a:prstGeom>
          <a:noFill/>
          <a:ln/>
        </p:spPr>
        <p:txBody>
          <a:bodyPr wrap="square" lIns="0" tIns="0" rIns="0" bIns="0" rtlCol="0" anchor="t"/>
          <a:lstStyle/>
          <a:p>
            <a:pPr indent="0" marL="0">
              <a:buNone/>
            </a:pPr>
            <a:r>
              <a:rPr lang="en-US" sz="1200" dirty="0">
                <a:solidFill>
                  <a:schemeClr val="accent3"/>
                </a:solidFill>
              </a:rPr>
              <a:t>Services (same 10 Jul 2024 Department of Expenditure (DoE) Office Memorandum (OM)): non-consulting services by limited tender up to ₹50 lakh (Rule 201); consultancy needs an advertised Expression of Interest above ₹50 lakh (Rule 183).</a:t>
            </a:r>
            <a:endParaRPr lang="en-US" sz="1200" dirty="0"/>
          </a:p>
        </p:txBody>
      </p:sp>
      <p:sp>
        <p:nvSpPr>
          <p:cNvPr id="20" name="Policy card 1"/>
          <p:cNvSpPr/>
          <p:nvPr/>
        </p:nvSpPr>
        <p:spPr>
          <a:xfrm>
            <a:off x="6995160" y="2011680"/>
            <a:ext cx="2267712" cy="1984248"/>
          </a:xfrm>
          <a:prstGeom prst="roundRect">
            <a:avLst>
              <a:gd name="adj" fmla="val 3687"/>
            </a:avLst>
          </a:prstGeom>
          <a:solidFill>
            <a:schemeClr val="bg2"/>
          </a:solidFill>
          <a:ln w="12700">
            <a:solidFill>
              <a:schemeClr val="bg2"/>
            </a:solidFill>
            <a:prstDash val="solid"/>
          </a:ln>
        </p:spPr>
      </p:sp>
      <p:sp>
        <p:nvSpPr>
          <p:cNvPr id="21" name="Text 17"/>
          <p:cNvSpPr txBox="1"/>
          <p:nvPr/>
        </p:nvSpPr>
        <p:spPr>
          <a:xfrm>
            <a:off x="7132320" y="2121408"/>
            <a:ext cx="1993392" cy="320040"/>
          </a:xfrm>
          <a:prstGeom prst="rect">
            <a:avLst/>
          </a:prstGeom>
          <a:noFill/>
          <a:ln/>
        </p:spPr>
        <p:txBody>
          <a:bodyPr wrap="square" lIns="0" tIns="0" rIns="0" bIns="0" rtlCol="0" anchor="t"/>
          <a:lstStyle/>
          <a:p>
            <a:pPr indent="0" marL="0">
              <a:buNone/>
            </a:pPr>
            <a:r>
              <a:rPr lang="en-US" sz="1400" b="1" dirty="0">
                <a:solidFill>
                  <a:schemeClr val="tx2"/>
                </a:solidFill>
              </a:rPr>
              <a:t>Who approves</a:t>
            </a:r>
            <a:endParaRPr lang="en-US" sz="1400" dirty="0"/>
          </a:p>
        </p:txBody>
      </p:sp>
      <p:sp>
        <p:nvSpPr>
          <p:cNvPr id="22" name="Text 18"/>
          <p:cNvSpPr txBox="1"/>
          <p:nvPr/>
        </p:nvSpPr>
        <p:spPr>
          <a:xfrm>
            <a:off x="7132320" y="2468880"/>
            <a:ext cx="1993392" cy="1435608"/>
          </a:xfrm>
          <a:prstGeom prst="rect">
            <a:avLst/>
          </a:prstGeom>
          <a:noFill/>
          <a:ln/>
        </p:spPr>
        <p:txBody>
          <a:bodyPr wrap="square" lIns="0" tIns="0" rIns="0" bIns="0" rtlCol="0" anchor="t"/>
          <a:lstStyle/>
          <a:p>
            <a:pPr indent="0" marL="0">
              <a:buNone/>
            </a:pPr>
            <a:r>
              <a:rPr lang="en-US" sz="1150" dirty="0">
                <a:solidFill>
                  <a:schemeClr val="tx1"/>
                </a:solidFill>
              </a:rPr>
              <a:t>DFPR 2024, Rule 11: Secretary up to ₹100 crore (open or limited tender) and ₹25 crore (single or proprietary). Above that, the Minister in charge.</a:t>
            </a:r>
            <a:endParaRPr lang="en-US" sz="1150" dirty="0"/>
          </a:p>
        </p:txBody>
      </p:sp>
      <p:sp>
        <p:nvSpPr>
          <p:cNvPr id="23" name="Policy card 2"/>
          <p:cNvSpPr/>
          <p:nvPr/>
        </p:nvSpPr>
        <p:spPr>
          <a:xfrm>
            <a:off x="9372600" y="2011680"/>
            <a:ext cx="2267712" cy="1984248"/>
          </a:xfrm>
          <a:prstGeom prst="roundRect">
            <a:avLst>
              <a:gd name="adj" fmla="val 3687"/>
            </a:avLst>
          </a:prstGeom>
          <a:solidFill>
            <a:schemeClr val="bg2"/>
          </a:solidFill>
          <a:ln w="12700">
            <a:solidFill>
              <a:schemeClr val="bg2"/>
            </a:solidFill>
            <a:prstDash val="solid"/>
          </a:ln>
        </p:spPr>
      </p:sp>
      <p:sp>
        <p:nvSpPr>
          <p:cNvPr id="24" name="Text 20"/>
          <p:cNvSpPr txBox="1"/>
          <p:nvPr/>
        </p:nvSpPr>
        <p:spPr>
          <a:xfrm>
            <a:off x="9509760" y="2121408"/>
            <a:ext cx="1993392" cy="320040"/>
          </a:xfrm>
          <a:prstGeom prst="rect">
            <a:avLst/>
          </a:prstGeom>
          <a:noFill/>
          <a:ln/>
        </p:spPr>
        <p:txBody>
          <a:bodyPr wrap="square" lIns="0" tIns="0" rIns="0" bIns="0" rtlCol="0" anchor="t"/>
          <a:lstStyle/>
          <a:p>
            <a:pPr indent="0" marL="0">
              <a:buNone/>
            </a:pPr>
            <a:r>
              <a:rPr lang="en-US" sz="1400" b="1" dirty="0">
                <a:solidFill>
                  <a:schemeClr val="tx2"/>
                </a:solidFill>
              </a:rPr>
              <a:t>Money safeguards</a:t>
            </a:r>
            <a:endParaRPr lang="en-US" sz="1400" dirty="0"/>
          </a:p>
        </p:txBody>
      </p:sp>
      <p:sp>
        <p:nvSpPr>
          <p:cNvPr id="25" name="Text 21"/>
          <p:cNvSpPr txBox="1"/>
          <p:nvPr/>
        </p:nvSpPr>
        <p:spPr>
          <a:xfrm>
            <a:off x="9509760" y="2468880"/>
            <a:ext cx="1993392" cy="1435608"/>
          </a:xfrm>
          <a:prstGeom prst="rect">
            <a:avLst/>
          </a:prstGeom>
          <a:noFill/>
          <a:ln/>
        </p:spPr>
        <p:txBody>
          <a:bodyPr wrap="square" lIns="0" tIns="0" rIns="0" bIns="0" rtlCol="0" anchor="t"/>
          <a:lstStyle/>
          <a:p>
            <a:pPr indent="0" marL="0">
              <a:buNone/>
            </a:pPr>
            <a:r>
              <a:rPr lang="en-US" sz="1150" dirty="0">
                <a:solidFill>
                  <a:schemeClr val="tx1"/>
                </a:solidFill>
              </a:rPr>
              <a:t>Bid security 2–5% (Rule 170) · performance security 3–5% (Rule 171) · advances capped at 30% private, 40% government (Rule 172).</a:t>
            </a:r>
            <a:endParaRPr lang="en-US" sz="1150" dirty="0"/>
          </a:p>
        </p:txBody>
      </p:sp>
      <p:sp>
        <p:nvSpPr>
          <p:cNvPr id="26" name="Policy card 3"/>
          <p:cNvSpPr/>
          <p:nvPr/>
        </p:nvSpPr>
        <p:spPr>
          <a:xfrm>
            <a:off x="6995160" y="4105656"/>
            <a:ext cx="2267712" cy="1984248"/>
          </a:xfrm>
          <a:prstGeom prst="roundRect">
            <a:avLst>
              <a:gd name="adj" fmla="val 3687"/>
            </a:avLst>
          </a:prstGeom>
          <a:solidFill>
            <a:schemeClr val="bg2"/>
          </a:solidFill>
          <a:ln w="12700">
            <a:solidFill>
              <a:schemeClr val="bg2"/>
            </a:solidFill>
            <a:prstDash val="solid"/>
          </a:ln>
        </p:spPr>
      </p:sp>
      <p:sp>
        <p:nvSpPr>
          <p:cNvPr id="27" name="Text 23"/>
          <p:cNvSpPr txBox="1"/>
          <p:nvPr/>
        </p:nvSpPr>
        <p:spPr>
          <a:xfrm>
            <a:off x="7132320" y="4215384"/>
            <a:ext cx="1993392" cy="320040"/>
          </a:xfrm>
          <a:prstGeom prst="rect">
            <a:avLst/>
          </a:prstGeom>
          <a:noFill/>
          <a:ln/>
        </p:spPr>
        <p:txBody>
          <a:bodyPr wrap="square" lIns="0" tIns="0" rIns="0" bIns="0" rtlCol="0" anchor="t"/>
          <a:lstStyle/>
          <a:p>
            <a:pPr indent="0" marL="0">
              <a:buNone/>
            </a:pPr>
            <a:r>
              <a:rPr lang="en-US" sz="1400" b="1" dirty="0">
                <a:solidFill>
                  <a:schemeClr val="tx2"/>
                </a:solidFill>
              </a:rPr>
              <a:t>Policy preferences</a:t>
            </a:r>
            <a:endParaRPr lang="en-US" sz="1400" dirty="0"/>
          </a:p>
        </p:txBody>
      </p:sp>
      <p:sp>
        <p:nvSpPr>
          <p:cNvPr id="28" name="Text 24"/>
          <p:cNvSpPr txBox="1"/>
          <p:nvPr/>
        </p:nvSpPr>
        <p:spPr>
          <a:xfrm>
            <a:off x="7132320" y="4562856"/>
            <a:ext cx="1993392" cy="1435608"/>
          </a:xfrm>
          <a:prstGeom prst="rect">
            <a:avLst/>
          </a:prstGeom>
          <a:noFill/>
          <a:ln/>
        </p:spPr>
        <p:txBody>
          <a:bodyPr wrap="square" lIns="0" tIns="0" rIns="0" bIns="0" rtlCol="0" anchor="t"/>
          <a:lstStyle/>
          <a:p>
            <a:pPr indent="0" marL="0">
              <a:buNone/>
            </a:pPr>
            <a:r>
              <a:rPr lang="en-US" sz="1150" dirty="0">
                <a:solidFill>
                  <a:schemeClr val="tx1"/>
                </a:solidFill>
              </a:rPr>
              <a:t>Make in India: 20% purchase preference · MSEs: 25% target, incl. 4% Scheduled Caste/Scheduled Tribe and 3% women-owned · startups: relaxed entry · land-border bidders must register (Rule 144(xi)).</a:t>
            </a:r>
            <a:endParaRPr lang="en-US" sz="1150" dirty="0"/>
          </a:p>
        </p:txBody>
      </p:sp>
      <p:sp>
        <p:nvSpPr>
          <p:cNvPr id="29" name="Policy card 4"/>
          <p:cNvSpPr/>
          <p:nvPr/>
        </p:nvSpPr>
        <p:spPr>
          <a:xfrm>
            <a:off x="9372600" y="4105656"/>
            <a:ext cx="2267712" cy="1984248"/>
          </a:xfrm>
          <a:prstGeom prst="roundRect">
            <a:avLst>
              <a:gd name="adj" fmla="val 3687"/>
            </a:avLst>
          </a:prstGeom>
          <a:solidFill>
            <a:schemeClr val="bg2"/>
          </a:solidFill>
          <a:ln w="12700">
            <a:solidFill>
              <a:schemeClr val="bg2"/>
            </a:solidFill>
            <a:prstDash val="solid"/>
          </a:ln>
        </p:spPr>
      </p:sp>
      <p:sp>
        <p:nvSpPr>
          <p:cNvPr id="30" name="Text 26"/>
          <p:cNvSpPr txBox="1"/>
          <p:nvPr/>
        </p:nvSpPr>
        <p:spPr>
          <a:xfrm>
            <a:off x="9509760" y="4215384"/>
            <a:ext cx="1993392" cy="320040"/>
          </a:xfrm>
          <a:prstGeom prst="rect">
            <a:avLst/>
          </a:prstGeom>
          <a:noFill/>
          <a:ln/>
        </p:spPr>
        <p:txBody>
          <a:bodyPr wrap="square" lIns="0" tIns="0" rIns="0" bIns="0" rtlCol="0" anchor="t"/>
          <a:lstStyle/>
          <a:p>
            <a:pPr indent="0" marL="0">
              <a:buNone/>
            </a:pPr>
            <a:r>
              <a:rPr lang="en-US" sz="1400" b="1" dirty="0">
                <a:solidFill>
                  <a:schemeClr val="tx2"/>
                </a:solidFill>
              </a:rPr>
              <a:t>Transparency and disputes</a:t>
            </a:r>
            <a:endParaRPr lang="en-US" sz="1400" dirty="0"/>
          </a:p>
        </p:txBody>
      </p:sp>
      <p:sp>
        <p:nvSpPr>
          <p:cNvPr id="31" name="Text 27"/>
          <p:cNvSpPr txBox="1"/>
          <p:nvPr/>
        </p:nvSpPr>
        <p:spPr>
          <a:xfrm>
            <a:off x="9509760" y="4562856"/>
            <a:ext cx="1993392" cy="1435608"/>
          </a:xfrm>
          <a:prstGeom prst="rect">
            <a:avLst/>
          </a:prstGeom>
          <a:noFill/>
          <a:ln/>
        </p:spPr>
        <p:txBody>
          <a:bodyPr wrap="square" lIns="0" tIns="0" rIns="0" bIns="0" rtlCol="0" anchor="t"/>
          <a:lstStyle/>
          <a:p>
            <a:pPr indent="0" marL="0">
              <a:buNone/>
            </a:pPr>
            <a:r>
              <a:rPr lang="en-US" sz="1150" dirty="0">
                <a:solidFill>
                  <a:schemeClr val="tx1"/>
                </a:solidFill>
              </a:rPr>
              <a:t>Tenders on the GeM–Central Public Procurement Portal (CPPP); bids only online · arbitration not routine, norm under ₹10 crore disputes (DoE OM, 3 Jun 2024).</a:t>
            </a:r>
            <a:endParaRPr lang="en-US" sz="1150" dirty="0"/>
          </a:p>
        </p:txBody>
      </p:sp>
      <p:sp>
        <p:nvSpPr>
          <p:cNvPr id="25" name="Slide Number Placeholder 0"/>
          <p:cNvSpPr>
            <a:spLocks noGrp="1"/>
          </p:cNvSpPr>
          <p:nvPr>
            <p:ph type="sldNum" sz="quarter" idx="4294967295"/>
          </p:nvPr>
        </p:nvSpPr>
        <p:spPr>
          <a:xfrm>
            <a:off x="1120140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PART 2  ·  HOW GeM AND PUBLIC PROCUREMENT STARTED</a:t>
            </a:r>
            <a:endParaRPr lang="en-US" sz="1100" dirty="0"/>
          </a:p>
        </p:txBody>
      </p:sp>
      <p:sp>
        <p:nvSpPr>
          <p:cNvPr id="3" name="Text 0"/>
          <p:cNvSpPr/>
          <p:nvPr>
            <p:ph idx="101" type="title" hasCustomPrompt="1"/>
          </p:nvPr>
        </p:nvSpPr>
        <p:spPr>
          <a:xfrm>
            <a:off x="548640" y="566928"/>
            <a:ext cx="11064240" cy="658368"/>
          </a:xfrm>
          <a:prstGeom prst="rect">
            <a:avLst/>
          </a:prstGeom>
          <a:noFill/>
          <a:ln/>
        </p:spPr>
        <p:txBody>
          <a:bodyPr wrap="square" lIns="0" tIns="0" rIns="0" bIns="0" rtlCol="0" anchor="ctr"/>
          <a:lstStyle/>
          <a:p>
            <a:pPr algn="l" indent="0" marL="0">
              <a:buNone/>
            </a:pPr>
            <a:r>
              <a:rPr lang="en-US" sz="3200" b="1" dirty="0">
                <a:solidFill>
                  <a:schemeClr val="tx2"/>
                </a:solidFill>
              </a:rPr>
              <a:t>From central stores to an online marketplace</a:t>
            </a:r>
            <a:endParaRPr lang="en-US" sz="3200" dirty="0"/>
          </a:p>
        </p:txBody>
      </p:sp>
      <p:sp>
        <p:nvSpPr>
          <p:cNvPr id="4" name="Text 0"/>
          <p:cNvSpPr/>
          <p:nvPr>
            <p:ph idx="102" type="body" hasCustomPrompt="1"/>
          </p:nvPr>
        </p:nvSpPr>
        <p:spPr>
          <a:xfrm>
            <a:off x="548640" y="6272784"/>
            <a:ext cx="10332720" cy="384048"/>
          </a:xfrm>
          <a:prstGeom prst="rect">
            <a:avLst/>
          </a:prstGeom>
          <a:noFill/>
          <a:ln/>
        </p:spPr>
        <p:txBody>
          <a:bodyPr wrap="square" lIns="0" tIns="0" rIns="0" bIns="0" rtlCol="0" anchor="t"/>
          <a:lstStyle/>
          <a:p>
            <a:pPr indent="0" marL="0">
              <a:buNone/>
            </a:pPr>
            <a:r>
              <a:rPr lang="en-US" sz="1000" dirty="0">
                <a:solidFill>
                  <a:schemeClr val="accent3"/>
                </a:solidFill>
              </a:rPr>
              <a:t>Sources: PIB release on GFR 2017, 7 Mar 2017; CAG Report No. 18 of 2020; GFR 2017, Rules 147, 149, 150; DoE OMs of 4 Feb 2019, 11 Jun 2021 and 5 Feb 2020; Goods Manual 2024, paras 4.17.2, 5.1.1; Constitution, Art. 107(5). † Secondary sources (GKToday; PRS Legislative Research).</a:t>
            </a:r>
            <a:endParaRPr lang="en-US" sz="1000" dirty="0"/>
          </a:p>
        </p:txBody>
      </p:sp>
      <p:sp>
        <p:nvSpPr>
          <p:cNvPr id="6" name="Text 3"/>
          <p:cNvSpPr txBox="1"/>
          <p:nvPr/>
        </p:nvSpPr>
        <p:spPr>
          <a:xfrm>
            <a:off x="548640" y="1417320"/>
            <a:ext cx="5120640" cy="320040"/>
          </a:xfrm>
          <a:prstGeom prst="rect">
            <a:avLst/>
          </a:prstGeom>
          <a:noFill/>
          <a:ln/>
        </p:spPr>
        <p:txBody>
          <a:bodyPr wrap="square" lIns="0" tIns="0" rIns="0" bIns="0" rtlCol="0" anchor="t"/>
          <a:lstStyle/>
          <a:p>
            <a:pPr indent="0" marL="0">
              <a:buNone/>
            </a:pPr>
            <a:r>
              <a:rPr lang="en-US" sz="1300" b="1" spc="300" kern="0" dirty="0">
                <a:solidFill>
                  <a:schemeClr val="accent1"/>
                </a:solidFill>
              </a:rPr>
              <a:t>THEN</a:t>
            </a:r>
            <a:endParaRPr lang="en-US" sz="1300" dirty="0"/>
          </a:p>
        </p:txBody>
      </p:sp>
      <p:sp>
        <p:nvSpPr>
          <p:cNvPr id="7" name="Then axis"/>
          <p:cNvSpPr/>
          <p:nvPr/>
        </p:nvSpPr>
        <p:spPr>
          <a:xfrm>
            <a:off x="768096" y="1984248"/>
            <a:ext cx="0" cy="3648456"/>
          </a:xfrm>
          <a:prstGeom prst="line">
            <a:avLst/>
          </a:prstGeom>
          <a:noFill/>
          <a:ln w="25400">
            <a:solidFill>
              <a:schemeClr val="accent4"/>
            </a:solidFill>
            <a:prstDash val="solid"/>
          </a:ln>
        </p:spPr>
      </p:sp>
      <p:sp>
        <p:nvSpPr>
          <p:cNvPr id="8" name="Then dot 1"/>
          <p:cNvSpPr/>
          <p:nvPr/>
        </p:nvSpPr>
        <p:spPr>
          <a:xfrm>
            <a:off x="685800" y="1901952"/>
            <a:ext cx="164592" cy="164592"/>
          </a:xfrm>
          <a:prstGeom prst="ellipse">
            <a:avLst/>
          </a:prstGeom>
          <a:solidFill>
            <a:schemeClr val="tx2"/>
          </a:solidFill>
          <a:ln w="19050">
            <a:solidFill>
              <a:schemeClr val="bg1"/>
            </a:solidFill>
            <a:prstDash val="solid"/>
          </a:ln>
        </p:spPr>
      </p:sp>
      <p:sp>
        <p:nvSpPr>
          <p:cNvPr id="9" name="Text 6"/>
          <p:cNvSpPr txBox="1"/>
          <p:nvPr/>
        </p:nvSpPr>
        <p:spPr>
          <a:xfrm>
            <a:off x="1005840" y="1874520"/>
            <a:ext cx="1143000" cy="274320"/>
          </a:xfrm>
          <a:prstGeom prst="rect">
            <a:avLst/>
          </a:prstGeom>
          <a:noFill/>
          <a:ln/>
        </p:spPr>
        <p:txBody>
          <a:bodyPr wrap="square" lIns="0" tIns="0" rIns="0" bIns="0" rtlCol="0" anchor="t"/>
          <a:lstStyle/>
          <a:p>
            <a:pPr indent="0" marL="0">
              <a:buNone/>
            </a:pPr>
            <a:r>
              <a:rPr lang="en-US" sz="1300" b="1" dirty="0">
                <a:solidFill>
                  <a:schemeClr val="tx2"/>
                </a:solidFill>
              </a:rPr>
              <a:t>1860 †</a:t>
            </a:r>
            <a:endParaRPr lang="en-US" sz="1300" dirty="0"/>
          </a:p>
        </p:txBody>
      </p:sp>
      <p:sp>
        <p:nvSpPr>
          <p:cNvPr id="10" name="Text 7"/>
          <p:cNvSpPr txBox="1"/>
          <p:nvPr/>
        </p:nvSpPr>
        <p:spPr>
          <a:xfrm>
            <a:off x="2148840" y="1874520"/>
            <a:ext cx="3840480" cy="457200"/>
          </a:xfrm>
          <a:prstGeom prst="rect">
            <a:avLst/>
          </a:prstGeom>
          <a:noFill/>
          <a:ln/>
        </p:spPr>
        <p:txBody>
          <a:bodyPr wrap="square" lIns="0" tIns="0" rIns="0" bIns="0" rtlCol="0" anchor="t"/>
          <a:lstStyle/>
          <a:p>
            <a:pPr indent="0" marL="0">
              <a:buNone/>
            </a:pPr>
            <a:r>
              <a:rPr lang="en-US" sz="1300" dirty="0">
                <a:solidFill>
                  <a:schemeClr val="tx1"/>
                </a:solidFill>
              </a:rPr>
              <a:t>India Store Department, London, buys centrally for India</a:t>
            </a:r>
            <a:endParaRPr lang="en-US" sz="1300" dirty="0"/>
          </a:p>
        </p:txBody>
      </p:sp>
      <p:sp>
        <p:nvSpPr>
          <p:cNvPr id="11" name="Then dot 2"/>
          <p:cNvSpPr/>
          <p:nvPr/>
        </p:nvSpPr>
        <p:spPr>
          <a:xfrm>
            <a:off x="685800" y="2423160"/>
            <a:ext cx="164592" cy="164592"/>
          </a:xfrm>
          <a:prstGeom prst="ellipse">
            <a:avLst/>
          </a:prstGeom>
          <a:solidFill>
            <a:schemeClr val="tx2"/>
          </a:solidFill>
          <a:ln w="19050">
            <a:solidFill>
              <a:schemeClr val="bg1"/>
            </a:solidFill>
            <a:prstDash val="solid"/>
          </a:ln>
        </p:spPr>
      </p:sp>
      <p:sp>
        <p:nvSpPr>
          <p:cNvPr id="12" name="Text 9"/>
          <p:cNvSpPr txBox="1"/>
          <p:nvPr/>
        </p:nvSpPr>
        <p:spPr>
          <a:xfrm>
            <a:off x="1005840" y="2395728"/>
            <a:ext cx="1143000" cy="274320"/>
          </a:xfrm>
          <a:prstGeom prst="rect">
            <a:avLst/>
          </a:prstGeom>
          <a:noFill/>
          <a:ln/>
        </p:spPr>
        <p:txBody>
          <a:bodyPr wrap="square" lIns="0" tIns="0" rIns="0" bIns="0" rtlCol="0" anchor="t"/>
          <a:lstStyle/>
          <a:p>
            <a:pPr indent="0" marL="0">
              <a:buNone/>
            </a:pPr>
            <a:r>
              <a:rPr lang="en-US" sz="1300" b="1" dirty="0">
                <a:solidFill>
                  <a:schemeClr val="tx2"/>
                </a:solidFill>
              </a:rPr>
              <a:t>1922 †</a:t>
            </a:r>
            <a:endParaRPr lang="en-US" sz="1300" dirty="0"/>
          </a:p>
        </p:txBody>
      </p:sp>
      <p:sp>
        <p:nvSpPr>
          <p:cNvPr id="13" name="Text 10"/>
          <p:cNvSpPr txBox="1"/>
          <p:nvPr/>
        </p:nvSpPr>
        <p:spPr>
          <a:xfrm>
            <a:off x="2148840" y="2395728"/>
            <a:ext cx="3840480" cy="457200"/>
          </a:xfrm>
          <a:prstGeom prst="rect">
            <a:avLst/>
          </a:prstGeom>
          <a:noFill/>
          <a:ln/>
        </p:spPr>
        <p:txBody>
          <a:bodyPr wrap="square" lIns="0" tIns="0" rIns="0" bIns="0" rtlCol="0" anchor="t"/>
          <a:lstStyle/>
          <a:p>
            <a:pPr indent="0" marL="0">
              <a:buNone/>
            </a:pPr>
            <a:r>
              <a:rPr lang="en-US" sz="1300" dirty="0">
                <a:solidFill>
                  <a:schemeClr val="tx1"/>
                </a:solidFill>
              </a:rPr>
              <a:t>Indian Stores Department set up in India</a:t>
            </a:r>
            <a:endParaRPr lang="en-US" sz="1300" dirty="0"/>
          </a:p>
        </p:txBody>
      </p:sp>
      <p:sp>
        <p:nvSpPr>
          <p:cNvPr id="14" name="Then dot 3"/>
          <p:cNvSpPr/>
          <p:nvPr/>
        </p:nvSpPr>
        <p:spPr>
          <a:xfrm>
            <a:off x="685800" y="2944368"/>
            <a:ext cx="164592" cy="164592"/>
          </a:xfrm>
          <a:prstGeom prst="ellipse">
            <a:avLst/>
          </a:prstGeom>
          <a:solidFill>
            <a:schemeClr val="tx2"/>
          </a:solidFill>
          <a:ln w="19050">
            <a:solidFill>
              <a:schemeClr val="bg1"/>
            </a:solidFill>
            <a:prstDash val="solid"/>
          </a:ln>
        </p:spPr>
      </p:sp>
      <p:sp>
        <p:nvSpPr>
          <p:cNvPr id="15" name="Text 12"/>
          <p:cNvSpPr txBox="1"/>
          <p:nvPr/>
        </p:nvSpPr>
        <p:spPr>
          <a:xfrm>
            <a:off x="1005840" y="2916936"/>
            <a:ext cx="1143000" cy="274320"/>
          </a:xfrm>
          <a:prstGeom prst="rect">
            <a:avLst/>
          </a:prstGeom>
          <a:noFill/>
          <a:ln/>
        </p:spPr>
        <p:txBody>
          <a:bodyPr wrap="square" lIns="0" tIns="0" rIns="0" bIns="0" rtlCol="0" anchor="t"/>
          <a:lstStyle/>
          <a:p>
            <a:pPr indent="0" marL="0">
              <a:buNone/>
            </a:pPr>
            <a:r>
              <a:rPr lang="en-US" sz="1300" b="1" dirty="0">
                <a:solidFill>
                  <a:schemeClr val="tx2"/>
                </a:solidFill>
              </a:rPr>
              <a:t>1947</a:t>
            </a:r>
            <a:endParaRPr lang="en-US" sz="1300" dirty="0"/>
          </a:p>
        </p:txBody>
      </p:sp>
      <p:sp>
        <p:nvSpPr>
          <p:cNvPr id="16" name="Text 13"/>
          <p:cNvSpPr txBox="1"/>
          <p:nvPr/>
        </p:nvSpPr>
        <p:spPr>
          <a:xfrm>
            <a:off x="2148840" y="2916936"/>
            <a:ext cx="3840480" cy="457200"/>
          </a:xfrm>
          <a:prstGeom prst="rect">
            <a:avLst/>
          </a:prstGeom>
          <a:noFill/>
          <a:ln/>
        </p:spPr>
        <p:txBody>
          <a:bodyPr wrap="square" lIns="0" tIns="0" rIns="0" bIns="0" rtlCol="0" anchor="t"/>
          <a:lstStyle/>
          <a:p>
            <a:pPr indent="0" marL="0">
              <a:buNone/>
            </a:pPr>
            <a:r>
              <a:rPr lang="en-US" sz="1300" dirty="0">
                <a:solidFill>
                  <a:schemeClr val="tx1"/>
                </a:solidFill>
              </a:rPr>
              <a:t>First General Financial Rules</a:t>
            </a:r>
            <a:endParaRPr lang="en-US" sz="1300" dirty="0"/>
          </a:p>
        </p:txBody>
      </p:sp>
      <p:sp>
        <p:nvSpPr>
          <p:cNvPr id="17" name="Then dot 4"/>
          <p:cNvSpPr/>
          <p:nvPr/>
        </p:nvSpPr>
        <p:spPr>
          <a:xfrm>
            <a:off x="685800" y="3465576"/>
            <a:ext cx="164592" cy="164592"/>
          </a:xfrm>
          <a:prstGeom prst="ellipse">
            <a:avLst/>
          </a:prstGeom>
          <a:solidFill>
            <a:schemeClr val="tx2"/>
          </a:solidFill>
          <a:ln w="19050">
            <a:solidFill>
              <a:schemeClr val="bg1"/>
            </a:solidFill>
            <a:prstDash val="solid"/>
          </a:ln>
        </p:spPr>
      </p:sp>
      <p:sp>
        <p:nvSpPr>
          <p:cNvPr id="18" name="Text 15"/>
          <p:cNvSpPr txBox="1"/>
          <p:nvPr/>
        </p:nvSpPr>
        <p:spPr>
          <a:xfrm>
            <a:off x="1005840" y="3438144"/>
            <a:ext cx="1143000" cy="274320"/>
          </a:xfrm>
          <a:prstGeom prst="rect">
            <a:avLst/>
          </a:prstGeom>
          <a:noFill/>
          <a:ln/>
        </p:spPr>
        <p:txBody>
          <a:bodyPr wrap="square" lIns="0" tIns="0" rIns="0" bIns="0" rtlCol="0" anchor="t"/>
          <a:lstStyle/>
          <a:p>
            <a:pPr indent="0" marL="0">
              <a:buNone/>
            </a:pPr>
            <a:r>
              <a:rPr lang="en-US" sz="1300" b="1" dirty="0">
                <a:solidFill>
                  <a:schemeClr val="tx2"/>
                </a:solidFill>
              </a:rPr>
              <a:t>1951</a:t>
            </a:r>
            <a:endParaRPr lang="en-US" sz="1300" dirty="0"/>
          </a:p>
        </p:txBody>
      </p:sp>
      <p:sp>
        <p:nvSpPr>
          <p:cNvPr id="19" name="Text 16"/>
          <p:cNvSpPr txBox="1"/>
          <p:nvPr/>
        </p:nvSpPr>
        <p:spPr>
          <a:xfrm>
            <a:off x="2148840" y="3438144"/>
            <a:ext cx="3840480" cy="457200"/>
          </a:xfrm>
          <a:prstGeom prst="rect">
            <a:avLst/>
          </a:prstGeom>
          <a:noFill/>
          <a:ln/>
        </p:spPr>
        <p:txBody>
          <a:bodyPr wrap="square" lIns="0" tIns="0" rIns="0" bIns="0" rtlCol="0" anchor="t"/>
          <a:lstStyle/>
          <a:p>
            <a:pPr indent="0" marL="0">
              <a:buNone/>
            </a:pPr>
            <a:r>
              <a:rPr lang="en-US" sz="1300" dirty="0">
                <a:solidFill>
                  <a:schemeClr val="tx1"/>
                </a:solidFill>
              </a:rPr>
              <a:t>DGS&amp;D becomes the Central Purchase Organisation</a:t>
            </a:r>
            <a:endParaRPr lang="en-US" sz="1300" dirty="0"/>
          </a:p>
        </p:txBody>
      </p:sp>
      <p:sp>
        <p:nvSpPr>
          <p:cNvPr id="20" name="Then dot 5"/>
          <p:cNvSpPr/>
          <p:nvPr/>
        </p:nvSpPr>
        <p:spPr>
          <a:xfrm>
            <a:off x="685800" y="3986784"/>
            <a:ext cx="164592" cy="164592"/>
          </a:xfrm>
          <a:prstGeom prst="ellipse">
            <a:avLst/>
          </a:prstGeom>
          <a:solidFill>
            <a:schemeClr val="tx2"/>
          </a:solidFill>
          <a:ln w="19050">
            <a:solidFill>
              <a:schemeClr val="bg1"/>
            </a:solidFill>
            <a:prstDash val="solid"/>
          </a:ln>
        </p:spPr>
      </p:sp>
      <p:sp>
        <p:nvSpPr>
          <p:cNvPr id="21" name="Text 18"/>
          <p:cNvSpPr txBox="1"/>
          <p:nvPr/>
        </p:nvSpPr>
        <p:spPr>
          <a:xfrm>
            <a:off x="1005840" y="3959352"/>
            <a:ext cx="1143000" cy="274320"/>
          </a:xfrm>
          <a:prstGeom prst="rect">
            <a:avLst/>
          </a:prstGeom>
          <a:noFill/>
          <a:ln/>
        </p:spPr>
        <p:txBody>
          <a:bodyPr wrap="square" lIns="0" tIns="0" rIns="0" bIns="0" rtlCol="0" anchor="t"/>
          <a:lstStyle/>
          <a:p>
            <a:pPr indent="0" marL="0">
              <a:buNone/>
            </a:pPr>
            <a:r>
              <a:rPr lang="en-US" sz="1300" b="1" dirty="0">
                <a:solidFill>
                  <a:schemeClr val="tx2"/>
                </a:solidFill>
              </a:rPr>
              <a:t>1963, 2005</a:t>
            </a:r>
            <a:endParaRPr lang="en-US" sz="1300" dirty="0"/>
          </a:p>
        </p:txBody>
      </p:sp>
      <p:sp>
        <p:nvSpPr>
          <p:cNvPr id="22" name="Text 19"/>
          <p:cNvSpPr txBox="1"/>
          <p:nvPr/>
        </p:nvSpPr>
        <p:spPr>
          <a:xfrm>
            <a:off x="2148840" y="3959352"/>
            <a:ext cx="3840480" cy="457200"/>
          </a:xfrm>
          <a:prstGeom prst="rect">
            <a:avLst/>
          </a:prstGeom>
          <a:noFill/>
          <a:ln/>
        </p:spPr>
        <p:txBody>
          <a:bodyPr wrap="square" lIns="0" tIns="0" rIns="0" bIns="0" rtlCol="0" anchor="t"/>
          <a:lstStyle/>
          <a:p>
            <a:pPr indent="0" marL="0">
              <a:buNone/>
            </a:pPr>
            <a:r>
              <a:rPr lang="en-US" sz="1300" dirty="0">
                <a:solidFill>
                  <a:schemeClr val="tx1"/>
                </a:solidFill>
              </a:rPr>
              <a:t>GFR reissued as GFR 1963 and GFR 2005</a:t>
            </a:r>
            <a:endParaRPr lang="en-US" sz="1300" dirty="0"/>
          </a:p>
        </p:txBody>
      </p:sp>
      <p:sp>
        <p:nvSpPr>
          <p:cNvPr id="23" name="Then dot 6"/>
          <p:cNvSpPr/>
          <p:nvPr/>
        </p:nvSpPr>
        <p:spPr>
          <a:xfrm>
            <a:off x="685800" y="4507992"/>
            <a:ext cx="164592" cy="164592"/>
          </a:xfrm>
          <a:prstGeom prst="ellipse">
            <a:avLst/>
          </a:prstGeom>
          <a:solidFill>
            <a:schemeClr val="tx2"/>
          </a:solidFill>
          <a:ln w="19050">
            <a:solidFill>
              <a:schemeClr val="bg1"/>
            </a:solidFill>
            <a:prstDash val="solid"/>
          </a:ln>
        </p:spPr>
      </p:sp>
      <p:sp>
        <p:nvSpPr>
          <p:cNvPr id="24" name="Text 21"/>
          <p:cNvSpPr txBox="1"/>
          <p:nvPr/>
        </p:nvSpPr>
        <p:spPr>
          <a:xfrm>
            <a:off x="1005840" y="4480560"/>
            <a:ext cx="1143000" cy="274320"/>
          </a:xfrm>
          <a:prstGeom prst="rect">
            <a:avLst/>
          </a:prstGeom>
          <a:noFill/>
          <a:ln/>
        </p:spPr>
        <p:txBody>
          <a:bodyPr wrap="square" lIns="0" tIns="0" rIns="0" bIns="0" rtlCol="0" anchor="t"/>
          <a:lstStyle/>
          <a:p>
            <a:pPr indent="0" marL="0">
              <a:buNone/>
            </a:pPr>
            <a:r>
              <a:rPr lang="en-US" sz="1300" b="1" dirty="0">
                <a:solidFill>
                  <a:schemeClr val="tx2"/>
                </a:solidFill>
              </a:rPr>
              <a:t>2006</a:t>
            </a:r>
            <a:endParaRPr lang="en-US" sz="1300" dirty="0"/>
          </a:p>
        </p:txBody>
      </p:sp>
      <p:sp>
        <p:nvSpPr>
          <p:cNvPr id="25" name="Text 22"/>
          <p:cNvSpPr txBox="1"/>
          <p:nvPr/>
        </p:nvSpPr>
        <p:spPr>
          <a:xfrm>
            <a:off x="2148840" y="4480560"/>
            <a:ext cx="3840480" cy="457200"/>
          </a:xfrm>
          <a:prstGeom prst="rect">
            <a:avLst/>
          </a:prstGeom>
          <a:noFill/>
          <a:ln/>
        </p:spPr>
        <p:txBody>
          <a:bodyPr wrap="square" lIns="0" tIns="0" rIns="0" bIns="0" rtlCol="0" anchor="t"/>
          <a:lstStyle/>
          <a:p>
            <a:pPr indent="0" marL="0">
              <a:buNone/>
            </a:pPr>
            <a:r>
              <a:rPr lang="en-US" sz="1300" dirty="0">
                <a:solidFill>
                  <a:schemeClr val="tx1"/>
                </a:solidFill>
              </a:rPr>
              <a:t>First MoF procurement manuals (Goods, Works, Consultants)</a:t>
            </a:r>
            <a:endParaRPr lang="en-US" sz="1300" dirty="0"/>
          </a:p>
        </p:txBody>
      </p:sp>
      <p:sp>
        <p:nvSpPr>
          <p:cNvPr id="26" name="Then dot 7"/>
          <p:cNvSpPr/>
          <p:nvPr/>
        </p:nvSpPr>
        <p:spPr>
          <a:xfrm>
            <a:off x="685800" y="5029200"/>
            <a:ext cx="164592" cy="164592"/>
          </a:xfrm>
          <a:prstGeom prst="ellipse">
            <a:avLst/>
          </a:prstGeom>
          <a:solidFill>
            <a:schemeClr val="tx2"/>
          </a:solidFill>
          <a:ln w="19050">
            <a:solidFill>
              <a:schemeClr val="bg1"/>
            </a:solidFill>
            <a:prstDash val="solid"/>
          </a:ln>
        </p:spPr>
      </p:sp>
      <p:sp>
        <p:nvSpPr>
          <p:cNvPr id="27" name="Text 24"/>
          <p:cNvSpPr txBox="1"/>
          <p:nvPr/>
        </p:nvSpPr>
        <p:spPr>
          <a:xfrm>
            <a:off x="1005840" y="5001768"/>
            <a:ext cx="1143000" cy="274320"/>
          </a:xfrm>
          <a:prstGeom prst="rect">
            <a:avLst/>
          </a:prstGeom>
          <a:noFill/>
          <a:ln/>
        </p:spPr>
        <p:txBody>
          <a:bodyPr wrap="square" lIns="0" tIns="0" rIns="0" bIns="0" rtlCol="0" anchor="t"/>
          <a:lstStyle/>
          <a:p>
            <a:pPr indent="0" marL="0">
              <a:buNone/>
            </a:pPr>
            <a:r>
              <a:rPr lang="en-US" sz="1300" b="1" dirty="0">
                <a:solidFill>
                  <a:schemeClr val="tx2"/>
                </a:solidFill>
              </a:rPr>
              <a:t>2012</a:t>
            </a:r>
            <a:endParaRPr lang="en-US" sz="1300" dirty="0"/>
          </a:p>
        </p:txBody>
      </p:sp>
      <p:sp>
        <p:nvSpPr>
          <p:cNvPr id="28" name="Text 25"/>
          <p:cNvSpPr txBox="1"/>
          <p:nvPr/>
        </p:nvSpPr>
        <p:spPr>
          <a:xfrm>
            <a:off x="2148840" y="5001768"/>
            <a:ext cx="3840480" cy="457200"/>
          </a:xfrm>
          <a:prstGeom prst="rect">
            <a:avLst/>
          </a:prstGeom>
          <a:noFill/>
          <a:ln/>
        </p:spPr>
        <p:txBody>
          <a:bodyPr wrap="square" lIns="0" tIns="0" rIns="0" bIns="0" rtlCol="0" anchor="t"/>
          <a:lstStyle/>
          <a:p>
            <a:pPr indent="0" marL="0">
              <a:buNone/>
            </a:pPr>
            <a:r>
              <a:rPr lang="en-US" sz="1300" dirty="0">
                <a:solidFill>
                  <a:schemeClr val="tx1"/>
                </a:solidFill>
              </a:rPr>
              <a:t>Public Procurement Bill introduced; lapsed in 2014 †</a:t>
            </a:r>
            <a:endParaRPr lang="en-US" sz="1300" dirty="0"/>
          </a:p>
        </p:txBody>
      </p:sp>
      <p:sp>
        <p:nvSpPr>
          <p:cNvPr id="29" name="Then dot 8"/>
          <p:cNvSpPr/>
          <p:nvPr/>
        </p:nvSpPr>
        <p:spPr>
          <a:xfrm>
            <a:off x="685800" y="5550408"/>
            <a:ext cx="164592" cy="164592"/>
          </a:xfrm>
          <a:prstGeom prst="ellipse">
            <a:avLst/>
          </a:prstGeom>
          <a:solidFill>
            <a:schemeClr val="accent1"/>
          </a:solidFill>
          <a:ln w="19050">
            <a:solidFill>
              <a:schemeClr val="bg1"/>
            </a:solidFill>
            <a:prstDash val="solid"/>
          </a:ln>
        </p:spPr>
      </p:sp>
      <p:sp>
        <p:nvSpPr>
          <p:cNvPr id="30" name="Text 27"/>
          <p:cNvSpPr txBox="1"/>
          <p:nvPr/>
        </p:nvSpPr>
        <p:spPr>
          <a:xfrm>
            <a:off x="1005840" y="5522976"/>
            <a:ext cx="1143000" cy="274320"/>
          </a:xfrm>
          <a:prstGeom prst="rect">
            <a:avLst/>
          </a:prstGeom>
          <a:noFill/>
          <a:ln/>
        </p:spPr>
        <p:txBody>
          <a:bodyPr wrap="square" lIns="0" tIns="0" rIns="0" bIns="0" rtlCol="0" anchor="t"/>
          <a:lstStyle/>
          <a:p>
            <a:pPr indent="0" marL="0">
              <a:buNone/>
            </a:pPr>
            <a:r>
              <a:rPr lang="en-US" sz="1300" b="1" dirty="0">
                <a:solidFill>
                  <a:schemeClr val="tx2"/>
                </a:solidFill>
              </a:rPr>
              <a:t>Mar 2017</a:t>
            </a:r>
            <a:endParaRPr lang="en-US" sz="1300" dirty="0"/>
          </a:p>
        </p:txBody>
      </p:sp>
      <p:sp>
        <p:nvSpPr>
          <p:cNvPr id="31" name="Text 28"/>
          <p:cNvSpPr txBox="1"/>
          <p:nvPr/>
        </p:nvSpPr>
        <p:spPr>
          <a:xfrm>
            <a:off x="2148840" y="5522976"/>
            <a:ext cx="3840480" cy="457200"/>
          </a:xfrm>
          <a:prstGeom prst="rect">
            <a:avLst/>
          </a:prstGeom>
          <a:noFill/>
          <a:ln/>
        </p:spPr>
        <p:txBody>
          <a:bodyPr wrap="square" lIns="0" tIns="0" rIns="0" bIns="0" rtlCol="0" anchor="t"/>
          <a:lstStyle/>
          <a:p>
            <a:pPr indent="0" marL="0">
              <a:buNone/>
            </a:pPr>
            <a:r>
              <a:rPr lang="en-US" sz="1300" dirty="0">
                <a:solidFill>
                  <a:schemeClr val="tx1"/>
                </a:solidFill>
              </a:rPr>
              <a:t>GFR 2017 released, reflecting the CPPP and GeM</a:t>
            </a:r>
            <a:endParaRPr lang="en-US" sz="1300" dirty="0"/>
          </a:p>
        </p:txBody>
      </p:sp>
      <p:sp>
        <p:nvSpPr>
          <p:cNvPr id="32" name="Text 29"/>
          <p:cNvSpPr txBox="1"/>
          <p:nvPr/>
        </p:nvSpPr>
        <p:spPr>
          <a:xfrm>
            <a:off x="6263640" y="1417320"/>
            <a:ext cx="5394960" cy="320040"/>
          </a:xfrm>
          <a:prstGeom prst="rect">
            <a:avLst/>
          </a:prstGeom>
          <a:noFill/>
          <a:ln/>
        </p:spPr>
        <p:txBody>
          <a:bodyPr wrap="square" lIns="0" tIns="0" rIns="0" bIns="0" rtlCol="0" anchor="t"/>
          <a:lstStyle/>
          <a:p>
            <a:pPr indent="0" marL="0">
              <a:buNone/>
            </a:pPr>
            <a:r>
              <a:rPr lang="en-US" sz="1300" b="1" spc="300" kern="0" dirty="0">
                <a:solidFill>
                  <a:schemeClr val="accent1"/>
                </a:solidFill>
              </a:rPr>
              <a:t>NOW — HOW GeM IS WRITTEN INTO THE RULES</a:t>
            </a:r>
            <a:endParaRPr lang="en-US" sz="1300" dirty="0"/>
          </a:p>
        </p:txBody>
      </p:sp>
      <p:sp>
        <p:nvSpPr>
          <p:cNvPr id="33" name="Rule card 1"/>
          <p:cNvSpPr/>
          <p:nvPr/>
        </p:nvSpPr>
        <p:spPr>
          <a:xfrm>
            <a:off x="6263640" y="1828800"/>
            <a:ext cx="5376672" cy="658368"/>
          </a:xfrm>
          <a:prstGeom prst="roundRect">
            <a:avLst>
              <a:gd name="adj" fmla="val 11111"/>
            </a:avLst>
          </a:prstGeom>
          <a:solidFill>
            <a:schemeClr val="accent5"/>
          </a:solidFill>
          <a:ln w="12700">
            <a:solidFill>
              <a:schemeClr val="accent5"/>
            </a:solidFill>
            <a:prstDash val="solid"/>
          </a:ln>
        </p:spPr>
      </p:sp>
      <p:sp>
        <p:nvSpPr>
          <p:cNvPr id="34" name="Text 31"/>
          <p:cNvSpPr txBox="1"/>
          <p:nvPr/>
        </p:nvSpPr>
        <p:spPr>
          <a:xfrm>
            <a:off x="6400800" y="1828800"/>
            <a:ext cx="1691640" cy="658368"/>
          </a:xfrm>
          <a:prstGeom prst="rect">
            <a:avLst/>
          </a:prstGeom>
          <a:noFill/>
          <a:ln/>
        </p:spPr>
        <p:txBody>
          <a:bodyPr wrap="square" lIns="0" tIns="0" rIns="0" bIns="0" rtlCol="0" anchor="ctr"/>
          <a:lstStyle/>
          <a:p>
            <a:pPr indent="0" marL="0">
              <a:buNone/>
            </a:pPr>
            <a:r>
              <a:rPr lang="en-US" sz="1300" b="1" dirty="0">
                <a:solidFill>
                  <a:schemeClr val="tx2"/>
                </a:solidFill>
              </a:rPr>
              <a:t>Rule 147</a:t>
            </a:r>
            <a:endParaRPr lang="en-US" sz="1300" dirty="0"/>
          </a:p>
        </p:txBody>
      </p:sp>
      <p:sp>
        <p:nvSpPr>
          <p:cNvPr id="35" name="Text 32"/>
          <p:cNvSpPr txBox="1"/>
          <p:nvPr/>
        </p:nvSpPr>
        <p:spPr>
          <a:xfrm>
            <a:off x="8138160" y="1828800"/>
            <a:ext cx="3383280" cy="658368"/>
          </a:xfrm>
          <a:prstGeom prst="rect">
            <a:avLst/>
          </a:prstGeom>
          <a:noFill/>
          <a:ln/>
        </p:spPr>
        <p:txBody>
          <a:bodyPr wrap="square" lIns="0" tIns="0" rIns="0" bIns="0" rtlCol="0" anchor="ctr"/>
          <a:lstStyle/>
          <a:p>
            <a:pPr indent="0" marL="0">
              <a:buNone/>
            </a:pPr>
            <a:r>
              <a:rPr lang="en-US" sz="1200" dirty="0">
                <a:solidFill>
                  <a:schemeClr val="tx1"/>
                </a:solidFill>
              </a:rPr>
              <a:t>Full purchasing powers only for items not on GeM</a:t>
            </a:r>
            <a:endParaRPr lang="en-US" sz="1200" dirty="0"/>
          </a:p>
        </p:txBody>
      </p:sp>
      <p:sp>
        <p:nvSpPr>
          <p:cNvPr id="36" name="Rule card 2"/>
          <p:cNvSpPr/>
          <p:nvPr/>
        </p:nvSpPr>
        <p:spPr>
          <a:xfrm>
            <a:off x="6263640" y="2560320"/>
            <a:ext cx="5376672" cy="658368"/>
          </a:xfrm>
          <a:prstGeom prst="roundRect">
            <a:avLst>
              <a:gd name="adj" fmla="val 11111"/>
            </a:avLst>
          </a:prstGeom>
          <a:solidFill>
            <a:schemeClr val="accent5"/>
          </a:solidFill>
          <a:ln w="12700">
            <a:solidFill>
              <a:schemeClr val="accent5"/>
            </a:solidFill>
            <a:prstDash val="solid"/>
          </a:ln>
        </p:spPr>
      </p:sp>
      <p:sp>
        <p:nvSpPr>
          <p:cNvPr id="37" name="Text 34"/>
          <p:cNvSpPr txBox="1"/>
          <p:nvPr/>
        </p:nvSpPr>
        <p:spPr>
          <a:xfrm>
            <a:off x="6400800" y="2560320"/>
            <a:ext cx="1691640" cy="658368"/>
          </a:xfrm>
          <a:prstGeom prst="rect">
            <a:avLst/>
          </a:prstGeom>
          <a:noFill/>
          <a:ln/>
        </p:spPr>
        <p:txBody>
          <a:bodyPr wrap="square" lIns="0" tIns="0" rIns="0" bIns="0" rtlCol="0" anchor="ctr"/>
          <a:lstStyle/>
          <a:p>
            <a:pPr indent="0" marL="0">
              <a:buNone/>
            </a:pPr>
            <a:r>
              <a:rPr lang="en-US" sz="1300" b="1" dirty="0">
                <a:solidFill>
                  <a:schemeClr val="tx2"/>
                </a:solidFill>
              </a:rPr>
              <a:t>Rule 149</a:t>
            </a:r>
            <a:endParaRPr lang="en-US" sz="1300" dirty="0"/>
          </a:p>
        </p:txBody>
      </p:sp>
      <p:sp>
        <p:nvSpPr>
          <p:cNvPr id="38" name="Text 35"/>
          <p:cNvSpPr txBox="1"/>
          <p:nvPr/>
        </p:nvSpPr>
        <p:spPr>
          <a:xfrm>
            <a:off x="8138160" y="2560320"/>
            <a:ext cx="3383280" cy="658368"/>
          </a:xfrm>
          <a:prstGeom prst="rect">
            <a:avLst/>
          </a:prstGeom>
          <a:noFill/>
          <a:ln/>
        </p:spPr>
        <p:txBody>
          <a:bodyPr wrap="square" lIns="0" tIns="0" rIns="0" bIns="0" rtlCol="0" anchor="ctr"/>
          <a:lstStyle/>
          <a:p>
            <a:pPr indent="0" marL="0">
              <a:buNone/>
            </a:pPr>
            <a:r>
              <a:rPr lang="en-US" sz="1200" dirty="0">
                <a:solidFill>
                  <a:schemeClr val="tx1"/>
                </a:solidFill>
              </a:rPr>
              <a:t>Common-use goods and services on GeM must be bought on GeM</a:t>
            </a:r>
            <a:endParaRPr lang="en-US" sz="1200" dirty="0"/>
          </a:p>
        </p:txBody>
      </p:sp>
      <p:sp>
        <p:nvSpPr>
          <p:cNvPr id="39" name="Rule card 3"/>
          <p:cNvSpPr/>
          <p:nvPr/>
        </p:nvSpPr>
        <p:spPr>
          <a:xfrm>
            <a:off x="6263640" y="3291840"/>
            <a:ext cx="5376672" cy="658368"/>
          </a:xfrm>
          <a:prstGeom prst="roundRect">
            <a:avLst>
              <a:gd name="adj" fmla="val 11111"/>
            </a:avLst>
          </a:prstGeom>
          <a:solidFill>
            <a:schemeClr val="bg2"/>
          </a:solidFill>
          <a:ln w="12700">
            <a:solidFill>
              <a:schemeClr val="bg2"/>
            </a:solidFill>
            <a:prstDash val="solid"/>
          </a:ln>
        </p:spPr>
      </p:sp>
      <p:sp>
        <p:nvSpPr>
          <p:cNvPr id="40" name="Text 37"/>
          <p:cNvSpPr txBox="1"/>
          <p:nvPr/>
        </p:nvSpPr>
        <p:spPr>
          <a:xfrm>
            <a:off x="6400800" y="3291840"/>
            <a:ext cx="1691640" cy="658368"/>
          </a:xfrm>
          <a:prstGeom prst="rect">
            <a:avLst/>
          </a:prstGeom>
          <a:noFill/>
          <a:ln/>
        </p:spPr>
        <p:txBody>
          <a:bodyPr wrap="square" lIns="0" tIns="0" rIns="0" bIns="0" rtlCol="0" anchor="ctr"/>
          <a:lstStyle/>
          <a:p>
            <a:pPr indent="0" marL="0">
              <a:buNone/>
            </a:pPr>
            <a:r>
              <a:rPr lang="en-US" sz="1300" b="1" dirty="0">
                <a:solidFill>
                  <a:schemeClr val="tx2"/>
                </a:solidFill>
              </a:rPr>
              <a:t>Buying outside GeM</a:t>
            </a:r>
            <a:endParaRPr lang="en-US" sz="1300" dirty="0"/>
          </a:p>
        </p:txBody>
      </p:sp>
      <p:sp>
        <p:nvSpPr>
          <p:cNvPr id="41" name="Text 38"/>
          <p:cNvSpPr txBox="1"/>
          <p:nvPr/>
        </p:nvSpPr>
        <p:spPr>
          <a:xfrm>
            <a:off x="8138160" y="3291840"/>
            <a:ext cx="3383280" cy="658368"/>
          </a:xfrm>
          <a:prstGeom prst="rect">
            <a:avLst/>
          </a:prstGeom>
          <a:noFill/>
          <a:ln/>
        </p:spPr>
        <p:txBody>
          <a:bodyPr wrap="square" lIns="0" tIns="0" rIns="0" bIns="0" rtlCol="0" anchor="ctr"/>
          <a:lstStyle/>
          <a:p>
            <a:pPr indent="0" marL="0">
              <a:buNone/>
            </a:pPr>
            <a:r>
              <a:rPr lang="en-US" sz="1200" dirty="0">
                <a:solidFill>
                  <a:schemeClr val="tx1"/>
                </a:solidFill>
              </a:rPr>
              <a:t>GeM Availability Report and Past Transaction Summary (GeMAR&amp;PTS) ID needed in every case (OM, 11 Jun 2021)</a:t>
            </a:r>
            <a:endParaRPr lang="en-US" sz="1200" dirty="0"/>
          </a:p>
        </p:txBody>
      </p:sp>
      <p:sp>
        <p:nvSpPr>
          <p:cNvPr id="42" name="Rule card 4"/>
          <p:cNvSpPr/>
          <p:nvPr/>
        </p:nvSpPr>
        <p:spPr>
          <a:xfrm>
            <a:off x="6263640" y="4023360"/>
            <a:ext cx="5376672" cy="658368"/>
          </a:xfrm>
          <a:prstGeom prst="roundRect">
            <a:avLst>
              <a:gd name="adj" fmla="val 11111"/>
            </a:avLst>
          </a:prstGeom>
          <a:solidFill>
            <a:schemeClr val="bg2"/>
          </a:solidFill>
          <a:ln w="12700">
            <a:solidFill>
              <a:schemeClr val="bg2"/>
            </a:solidFill>
            <a:prstDash val="solid"/>
          </a:ln>
        </p:spPr>
      </p:sp>
      <p:sp>
        <p:nvSpPr>
          <p:cNvPr id="43" name="Text 40"/>
          <p:cNvSpPr txBox="1"/>
          <p:nvPr/>
        </p:nvSpPr>
        <p:spPr>
          <a:xfrm>
            <a:off x="6400800" y="4023360"/>
            <a:ext cx="1691640" cy="658368"/>
          </a:xfrm>
          <a:prstGeom prst="rect">
            <a:avLst/>
          </a:prstGeom>
          <a:noFill/>
          <a:ln/>
        </p:spPr>
        <p:txBody>
          <a:bodyPr wrap="square" lIns="0" tIns="0" rIns="0" bIns="0" rtlCol="0" anchor="ctr"/>
          <a:lstStyle/>
          <a:p>
            <a:pPr indent="0" marL="0">
              <a:buNone/>
            </a:pPr>
            <a:r>
              <a:rPr lang="en-US" sz="1300" b="1" dirty="0">
                <a:solidFill>
                  <a:schemeClr val="tx2"/>
                </a:solidFill>
              </a:rPr>
              <a:t>Item on GeM, compelling reason</a:t>
            </a:r>
            <a:endParaRPr lang="en-US" sz="1300" dirty="0"/>
          </a:p>
        </p:txBody>
      </p:sp>
      <p:sp>
        <p:nvSpPr>
          <p:cNvPr id="44" name="Text 41"/>
          <p:cNvSpPr txBox="1"/>
          <p:nvPr/>
        </p:nvSpPr>
        <p:spPr>
          <a:xfrm>
            <a:off x="8138160" y="4023360"/>
            <a:ext cx="3383280" cy="658368"/>
          </a:xfrm>
          <a:prstGeom prst="rect">
            <a:avLst/>
          </a:prstGeom>
          <a:noFill/>
          <a:ln/>
        </p:spPr>
        <p:txBody>
          <a:bodyPr wrap="square" lIns="0" tIns="0" rIns="0" bIns="0" rtlCol="0" anchor="ctr"/>
          <a:lstStyle/>
          <a:p>
            <a:pPr indent="0" marL="0">
              <a:buNone/>
            </a:pPr>
            <a:r>
              <a:rPr lang="en-US" sz="1200" dirty="0">
                <a:solidFill>
                  <a:schemeClr val="tx1"/>
                </a:solidFill>
              </a:rPr>
              <a:t>Approval of the Standing Committee of GeM (SCoGeM) and the Secretary (OM, 5 Feb 2020)</a:t>
            </a:r>
            <a:endParaRPr lang="en-US" sz="1200" dirty="0"/>
          </a:p>
        </p:txBody>
      </p:sp>
      <p:sp>
        <p:nvSpPr>
          <p:cNvPr id="45" name="Rule card 5"/>
          <p:cNvSpPr/>
          <p:nvPr/>
        </p:nvSpPr>
        <p:spPr>
          <a:xfrm>
            <a:off x="6263640" y="4754880"/>
            <a:ext cx="5376672" cy="658368"/>
          </a:xfrm>
          <a:prstGeom prst="roundRect">
            <a:avLst>
              <a:gd name="adj" fmla="val 11111"/>
            </a:avLst>
          </a:prstGeom>
          <a:solidFill>
            <a:schemeClr val="bg2"/>
          </a:solidFill>
          <a:ln w="12700">
            <a:solidFill>
              <a:schemeClr val="bg2"/>
            </a:solidFill>
            <a:prstDash val="solid"/>
          </a:ln>
        </p:spPr>
      </p:sp>
      <p:sp>
        <p:nvSpPr>
          <p:cNvPr id="46" name="Text 43"/>
          <p:cNvSpPr txBox="1"/>
          <p:nvPr/>
        </p:nvSpPr>
        <p:spPr>
          <a:xfrm>
            <a:off x="6400800" y="4754880"/>
            <a:ext cx="1691640" cy="658368"/>
          </a:xfrm>
          <a:prstGeom prst="rect">
            <a:avLst/>
          </a:prstGeom>
          <a:noFill/>
          <a:ln/>
        </p:spPr>
        <p:txBody>
          <a:bodyPr wrap="square" lIns="0" tIns="0" rIns="0" bIns="0" rtlCol="0" anchor="ctr"/>
          <a:lstStyle/>
          <a:p>
            <a:pPr indent="0" marL="0">
              <a:buNone/>
            </a:pPr>
            <a:r>
              <a:rPr lang="en-US" sz="1300" b="1" dirty="0">
                <a:solidFill>
                  <a:schemeClr val="tx2"/>
                </a:solidFill>
              </a:rPr>
              <a:t>Annual Procurement Plan</a:t>
            </a:r>
            <a:endParaRPr lang="en-US" sz="1300" dirty="0"/>
          </a:p>
        </p:txBody>
      </p:sp>
      <p:sp>
        <p:nvSpPr>
          <p:cNvPr id="47" name="Text 44"/>
          <p:cNvSpPr txBox="1"/>
          <p:nvPr/>
        </p:nvSpPr>
        <p:spPr>
          <a:xfrm>
            <a:off x="8138160" y="4754880"/>
            <a:ext cx="3383280" cy="658368"/>
          </a:xfrm>
          <a:prstGeom prst="rect">
            <a:avLst/>
          </a:prstGeom>
          <a:noFill/>
          <a:ln/>
        </p:spPr>
        <p:txBody>
          <a:bodyPr wrap="square" lIns="0" tIns="0" rIns="0" bIns="0" rtlCol="0" anchor="ctr"/>
          <a:lstStyle/>
          <a:p>
            <a:pPr indent="0" marL="0">
              <a:buNone/>
            </a:pPr>
            <a:r>
              <a:rPr lang="en-US" sz="1200" dirty="0">
                <a:solidFill>
                  <a:schemeClr val="tx1"/>
                </a:solidFill>
              </a:rPr>
              <a:t>Uploaded on GeM within 30 days of budget approval (Rule 149(vi))</a:t>
            </a:r>
            <a:endParaRPr lang="en-US" sz="1200" dirty="0"/>
          </a:p>
        </p:txBody>
      </p:sp>
      <p:sp>
        <p:nvSpPr>
          <p:cNvPr id="48" name="Rule card 6"/>
          <p:cNvSpPr/>
          <p:nvPr/>
        </p:nvSpPr>
        <p:spPr>
          <a:xfrm>
            <a:off x="6263640" y="5486400"/>
            <a:ext cx="5376672" cy="658368"/>
          </a:xfrm>
          <a:prstGeom prst="roundRect">
            <a:avLst>
              <a:gd name="adj" fmla="val 11111"/>
            </a:avLst>
          </a:prstGeom>
          <a:solidFill>
            <a:schemeClr val="bg2"/>
          </a:solidFill>
          <a:ln w="12700">
            <a:solidFill>
              <a:schemeClr val="bg2"/>
            </a:solidFill>
            <a:prstDash val="solid"/>
          </a:ln>
        </p:spPr>
      </p:sp>
      <p:sp>
        <p:nvSpPr>
          <p:cNvPr id="49" name="Text 46"/>
          <p:cNvSpPr txBox="1"/>
          <p:nvPr/>
        </p:nvSpPr>
        <p:spPr>
          <a:xfrm>
            <a:off x="6400800" y="5486400"/>
            <a:ext cx="1691640" cy="658368"/>
          </a:xfrm>
          <a:prstGeom prst="rect">
            <a:avLst/>
          </a:prstGeom>
          <a:noFill/>
          <a:ln/>
        </p:spPr>
        <p:txBody>
          <a:bodyPr wrap="square" lIns="0" tIns="0" rIns="0" bIns="0" rtlCol="0" anchor="ctr"/>
          <a:lstStyle/>
          <a:p>
            <a:pPr indent="0" marL="0">
              <a:buNone/>
            </a:pPr>
            <a:r>
              <a:rPr lang="en-US" sz="1300" b="1" dirty="0">
                <a:solidFill>
                  <a:schemeClr val="tx2"/>
                </a:solidFill>
              </a:rPr>
              <a:t>Rulebook today</a:t>
            </a:r>
            <a:endParaRPr lang="en-US" sz="1300" dirty="0"/>
          </a:p>
        </p:txBody>
      </p:sp>
      <p:sp>
        <p:nvSpPr>
          <p:cNvPr id="50" name="Text 47"/>
          <p:cNvSpPr txBox="1"/>
          <p:nvPr/>
        </p:nvSpPr>
        <p:spPr>
          <a:xfrm>
            <a:off x="8138160" y="5486400"/>
            <a:ext cx="3383280" cy="658368"/>
          </a:xfrm>
          <a:prstGeom prst="rect">
            <a:avLst/>
          </a:prstGeom>
          <a:noFill/>
          <a:ln/>
        </p:spPr>
        <p:txBody>
          <a:bodyPr wrap="square" lIns="0" tIns="0" rIns="0" bIns="0" rtlCol="0" anchor="ctr"/>
          <a:lstStyle/>
          <a:p>
            <a:pPr indent="0" marL="0">
              <a:buNone/>
            </a:pPr>
            <a:r>
              <a:rPr lang="en-US" sz="1200" dirty="0">
                <a:solidFill>
                  <a:schemeClr val="tx1"/>
                </a:solidFill>
              </a:rPr>
              <a:t>Goods Manual 2024 · Works, Consultancy, Non-Consultancy Manuals 2025 · MoF Model Tender Documents</a:t>
            </a:r>
            <a:endParaRPr lang="en-US" sz="1200" dirty="0"/>
          </a:p>
        </p:txBody>
      </p:sp>
      <p:sp>
        <p:nvSpPr>
          <p:cNvPr id="25" name="Slide Number Placeholder 0"/>
          <p:cNvSpPr>
            <a:spLocks noGrp="1"/>
          </p:cNvSpPr>
          <p:nvPr>
            <p:ph type="sldNum" sz="quarter" idx="4294967295"/>
          </p:nvPr>
        </p:nvSpPr>
        <p:spPr>
          <a:xfrm>
            <a:off x="1120140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PART 2  ·  CENTRE AND STATES</a:t>
            </a:r>
            <a:endParaRPr lang="en-US" sz="1100" dirty="0"/>
          </a:p>
        </p:txBody>
      </p:sp>
      <p:sp>
        <p:nvSpPr>
          <p:cNvPr id="3" name="Text 0"/>
          <p:cNvSpPr/>
          <p:nvPr>
            <p:ph idx="101" type="title" hasCustomPrompt="1"/>
          </p:nvPr>
        </p:nvSpPr>
        <p:spPr>
          <a:xfrm>
            <a:off x="548640" y="566928"/>
            <a:ext cx="11064240" cy="658368"/>
          </a:xfrm>
          <a:prstGeom prst="rect">
            <a:avLst/>
          </a:prstGeom>
          <a:noFill/>
          <a:ln/>
        </p:spPr>
        <p:txBody>
          <a:bodyPr wrap="square" lIns="0" tIns="0" rIns="0" bIns="0" rtlCol="0" anchor="ctr"/>
          <a:lstStyle/>
          <a:p>
            <a:pPr algn="l" indent="0" marL="0">
              <a:buNone/>
            </a:pPr>
            <a:r>
              <a:rPr lang="en-US" sz="3200" b="1" dirty="0">
                <a:solidFill>
                  <a:schemeClr val="tx2"/>
                </a:solidFill>
              </a:rPr>
              <a:t>Centre and States: who follows which rules</a:t>
            </a:r>
            <a:endParaRPr lang="en-US" sz="3200" dirty="0"/>
          </a:p>
        </p:txBody>
      </p:sp>
      <p:sp>
        <p:nvSpPr>
          <p:cNvPr id="4" name="Text 0"/>
          <p:cNvSpPr/>
          <p:nvPr>
            <p:ph idx="102" type="body" hasCustomPrompt="1"/>
          </p:nvPr>
        </p:nvSpPr>
        <p:spPr>
          <a:xfrm>
            <a:off x="548640" y="6272784"/>
            <a:ext cx="10332720" cy="384048"/>
          </a:xfrm>
          <a:prstGeom prst="rect">
            <a:avLst/>
          </a:prstGeom>
          <a:noFill/>
          <a:ln/>
        </p:spPr>
        <p:txBody>
          <a:bodyPr wrap="square" lIns="0" tIns="0" rIns="0" bIns="0" rtlCol="0" anchor="t"/>
          <a:lstStyle/>
          <a:p>
            <a:pPr indent="0" marL="0">
              <a:buNone/>
            </a:pPr>
            <a:r>
              <a:rPr lang="en-US" sz="1000" dirty="0">
                <a:solidFill>
                  <a:schemeClr val="accent3"/>
                </a:solidFill>
              </a:rPr>
              <a:t>Sources: Constitution, Arts 298–299; GFR 2017, Rules 1, 264; Goods Manual 2024, paras 1.3 and 1.11, Annexure 32 (FAQs 28, 37); Tamil Nadu Act 43 of 1998; Karnataka Act 29 of 2000; Rajasthan Act 21 of 2012; GeM General Terms and Conditions (GTC) v1.29, cl. 4(xiii)(m), (t); PIB, 6 Apr 2026.</a:t>
            </a:r>
            <a:endParaRPr lang="en-US" sz="1000" dirty="0"/>
          </a:p>
        </p:txBody>
      </p:sp>
      <p:sp>
        <p:nvSpPr>
          <p:cNvPr id="6" name="Common base band"/>
          <p:cNvSpPr/>
          <p:nvPr/>
        </p:nvSpPr>
        <p:spPr>
          <a:xfrm>
            <a:off x="548640" y="1417320"/>
            <a:ext cx="11091672" cy="457200"/>
          </a:xfrm>
          <a:prstGeom prst="roundRect">
            <a:avLst>
              <a:gd name="adj" fmla="val 16000"/>
            </a:avLst>
          </a:prstGeom>
          <a:solidFill>
            <a:schemeClr val="accent5"/>
          </a:solidFill>
          <a:ln w="12700">
            <a:solidFill>
              <a:schemeClr val="accent5"/>
            </a:solidFill>
            <a:prstDash val="solid"/>
          </a:ln>
        </p:spPr>
      </p:sp>
      <p:sp>
        <p:nvSpPr>
          <p:cNvPr id="7" name="Text 4"/>
          <p:cNvSpPr txBox="1"/>
          <p:nvPr/>
        </p:nvSpPr>
        <p:spPr>
          <a:xfrm>
            <a:off x="731520" y="1417320"/>
            <a:ext cx="10789920" cy="457200"/>
          </a:xfrm>
          <a:prstGeom prst="rect">
            <a:avLst/>
          </a:prstGeom>
          <a:noFill/>
          <a:ln/>
        </p:spPr>
        <p:txBody>
          <a:bodyPr wrap="square" lIns="0" tIns="0" rIns="0" bIns="0" rtlCol="0" anchor="ctr"/>
          <a:lstStyle/>
          <a:p>
            <a:pPr indent="0" marL="0">
              <a:buNone/>
            </a:pPr>
            <a:r>
              <a:rPr lang="en-US" sz="1400" b="1" dirty="0">
                <a:solidFill>
                  <a:schemeClr val="tx2"/>
                </a:solidFill>
              </a:rPr>
              <a:t>Common base:  </a:t>
            </a:r>
            <a:pPr indent="0" marL="0">
              <a:buNone/>
            </a:pPr>
            <a:r>
              <a:rPr lang="en-US" sz="1400" dirty="0">
                <a:solidFill>
                  <a:schemeClr val="tx1"/>
                </a:solidFill>
              </a:rPr>
              <a:t>Articles 298 and 299 cover contracts of the Union and of every State; a State contract is made in the Governor's name.</a:t>
            </a:r>
            <a:endParaRPr lang="en-US" sz="1400" dirty="0"/>
          </a:p>
        </p:txBody>
      </p:sp>
      <p:sp>
        <p:nvSpPr>
          <p:cNvPr id="8" name="Centre card"/>
          <p:cNvSpPr/>
          <p:nvPr/>
        </p:nvSpPr>
        <p:spPr>
          <a:xfrm>
            <a:off x="548640" y="2011680"/>
            <a:ext cx="5440680" cy="2743200"/>
          </a:xfrm>
          <a:prstGeom prst="roundRect">
            <a:avLst>
              <a:gd name="adj" fmla="val 2667"/>
            </a:avLst>
          </a:prstGeom>
          <a:solidFill>
            <a:schemeClr val="bg2"/>
          </a:solidFill>
          <a:ln w="12700">
            <a:solidFill>
              <a:schemeClr val="bg2"/>
            </a:solidFill>
            <a:prstDash val="solid"/>
          </a:ln>
        </p:spPr>
      </p:sp>
      <p:sp>
        <p:nvSpPr>
          <p:cNvPr id="9" name="Text 6"/>
          <p:cNvSpPr txBox="1"/>
          <p:nvPr/>
        </p:nvSpPr>
        <p:spPr>
          <a:xfrm>
            <a:off x="731520" y="2121408"/>
            <a:ext cx="5029200" cy="292608"/>
          </a:xfrm>
          <a:prstGeom prst="rect">
            <a:avLst/>
          </a:prstGeom>
          <a:noFill/>
          <a:ln/>
        </p:spPr>
        <p:txBody>
          <a:bodyPr wrap="square" lIns="0" tIns="0" rIns="0" bIns="0" rtlCol="0" anchor="t"/>
          <a:lstStyle/>
          <a:p>
            <a:pPr indent="0" marL="0">
              <a:buNone/>
            </a:pPr>
            <a:r>
              <a:rPr lang="en-US" sz="1300" b="1" spc="300" kern="0" dirty="0">
                <a:solidFill>
                  <a:schemeClr val="accent1"/>
                </a:solidFill>
              </a:rPr>
              <a:t>CENTRE</a:t>
            </a:r>
            <a:endParaRPr lang="en-US" sz="1300" dirty="0"/>
          </a:p>
        </p:txBody>
      </p:sp>
      <p:sp>
        <p:nvSpPr>
          <p:cNvPr id="10" name="Text 7"/>
          <p:cNvSpPr txBox="1"/>
          <p:nvPr/>
        </p:nvSpPr>
        <p:spPr>
          <a:xfrm>
            <a:off x="731520" y="2468880"/>
            <a:ext cx="5120640" cy="2194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GFR Rule 1: central ministries, attached and subordinate offices; autonomous bodies unless their approved bye-laws differ</a:t>
            </a:r>
            <a:endParaRPr lang="en-US" sz="1300" dirty="0"/>
          </a:p>
          <a:p>
            <a:pPr marL="342900" indent="-342900">
              <a:spcAft>
                <a:spcPts val="600"/>
              </a:spcAft>
              <a:buSzPct val="100000"/>
              <a:buChar char="•"/>
            </a:pPr>
            <a:r>
              <a:rPr lang="en-US" sz="1300" dirty="0">
                <a:solidFill>
                  <a:schemeClr val="tx1"/>
                </a:solidFill>
              </a:rPr>
              <a:t>Goods Manual para 1.3: also Central Public Sector Enterprises (CPSEs), public sector banks and statutory bodies, except board-approved deviations</a:t>
            </a:r>
            <a:endParaRPr lang="en-US" sz="1300" dirty="0"/>
          </a:p>
          <a:p>
            <a:pPr marL="342900" indent="-342900">
              <a:spcAft>
                <a:spcPts val="600"/>
              </a:spcAft>
              <a:buSzPct val="100000"/>
              <a:buChar char="•"/>
            </a:pPr>
            <a:r>
              <a:rPr lang="en-US" sz="1300" dirty="0">
                <a:solidFill>
                  <a:schemeClr val="tx1"/>
                </a:solidFill>
              </a:rPr>
              <a:t>Entities may customise manuals; projects funded by international agencies may follow the funder's procedures (Rule 264)</a:t>
            </a:r>
            <a:endParaRPr lang="en-US" sz="1300" dirty="0"/>
          </a:p>
        </p:txBody>
      </p:sp>
      <p:sp>
        <p:nvSpPr>
          <p:cNvPr id="11" name="States card"/>
          <p:cNvSpPr/>
          <p:nvPr/>
        </p:nvSpPr>
        <p:spPr>
          <a:xfrm>
            <a:off x="6199632" y="2011680"/>
            <a:ext cx="5440680" cy="2743200"/>
          </a:xfrm>
          <a:prstGeom prst="roundRect">
            <a:avLst>
              <a:gd name="adj" fmla="val 2667"/>
            </a:avLst>
          </a:prstGeom>
          <a:solidFill>
            <a:schemeClr val="bg2"/>
          </a:solidFill>
          <a:ln w="12700">
            <a:solidFill>
              <a:schemeClr val="bg2"/>
            </a:solidFill>
            <a:prstDash val="solid"/>
          </a:ln>
        </p:spPr>
      </p:sp>
      <p:sp>
        <p:nvSpPr>
          <p:cNvPr id="12" name="Text 9"/>
          <p:cNvSpPr txBox="1"/>
          <p:nvPr/>
        </p:nvSpPr>
        <p:spPr>
          <a:xfrm>
            <a:off x="6382512" y="2121408"/>
            <a:ext cx="5120640" cy="292608"/>
          </a:xfrm>
          <a:prstGeom prst="rect">
            <a:avLst/>
          </a:prstGeom>
          <a:noFill/>
          <a:ln/>
        </p:spPr>
        <p:txBody>
          <a:bodyPr wrap="square" lIns="0" tIns="0" rIns="0" bIns="0" rtlCol="0" anchor="t"/>
          <a:lstStyle/>
          <a:p>
            <a:pPr indent="0" marL="0">
              <a:buNone/>
            </a:pPr>
            <a:r>
              <a:rPr lang="en-US" sz="1300" b="1" spc="300" kern="0" dirty="0">
                <a:solidFill>
                  <a:schemeClr val="accent1"/>
                </a:solidFill>
              </a:rPr>
              <a:t>STATES — OWN RULES AND STATUTES</a:t>
            </a:r>
            <a:endParaRPr lang="en-US" sz="1300" dirty="0"/>
          </a:p>
        </p:txBody>
      </p:sp>
      <p:sp>
        <p:nvSpPr>
          <p:cNvPr id="13" name="Text 10"/>
          <p:cNvSpPr txBox="1"/>
          <p:nvPr/>
        </p:nvSpPr>
        <p:spPr>
          <a:xfrm>
            <a:off x="6382512" y="2514600"/>
            <a:ext cx="5120640" cy="640080"/>
          </a:xfrm>
          <a:prstGeom prst="rect">
            <a:avLst/>
          </a:prstGeom>
          <a:noFill/>
          <a:ln/>
        </p:spPr>
        <p:txBody>
          <a:bodyPr wrap="square" lIns="0" tIns="0" rIns="0" bIns="0" rtlCol="0" anchor="t"/>
          <a:lstStyle/>
          <a:p>
            <a:pPr indent="0" marL="0">
              <a:buNone/>
            </a:pPr>
            <a:r>
              <a:rPr lang="en-US" sz="1300" b="1" dirty="0">
                <a:solidFill>
                  <a:schemeClr val="tx2"/>
                </a:solidFill>
              </a:rPr>
              <a:t>Tamil Nadu Transparency in Tenders Act, 1998</a:t>
            </a:r>
            <a:endParaRPr lang="en-US" sz="1300" dirty="0"/>
          </a:p>
          <a:p>
            <a:pPr indent="0" marL="0">
              <a:buNone/>
            </a:pPr>
            <a:r>
              <a:rPr lang="en-US" sz="1200" dirty="0">
                <a:solidFill>
                  <a:schemeClr val="accent3"/>
                </a:solidFill>
              </a:rPr>
              <a:t>Act 43 of 1998</a:t>
            </a:r>
            <a:endParaRPr lang="en-US" sz="1300" dirty="0"/>
          </a:p>
        </p:txBody>
      </p:sp>
      <p:sp>
        <p:nvSpPr>
          <p:cNvPr id="14" name="Text 11"/>
          <p:cNvSpPr txBox="1"/>
          <p:nvPr/>
        </p:nvSpPr>
        <p:spPr>
          <a:xfrm>
            <a:off x="6382512" y="3227832"/>
            <a:ext cx="5120640" cy="640080"/>
          </a:xfrm>
          <a:prstGeom prst="rect">
            <a:avLst/>
          </a:prstGeom>
          <a:noFill/>
          <a:ln/>
        </p:spPr>
        <p:txBody>
          <a:bodyPr wrap="square" lIns="0" tIns="0" rIns="0" bIns="0" rtlCol="0" anchor="t"/>
          <a:lstStyle/>
          <a:p>
            <a:pPr indent="0" marL="0">
              <a:buNone/>
            </a:pPr>
            <a:r>
              <a:rPr lang="en-US" sz="1300" b="1" dirty="0">
                <a:solidFill>
                  <a:schemeClr val="tx2"/>
                </a:solidFill>
              </a:rPr>
              <a:t>Karnataka Transparency in Public Procurements Act, 1999</a:t>
            </a:r>
            <a:endParaRPr lang="en-US" sz="1300" dirty="0"/>
          </a:p>
          <a:p>
            <a:pPr indent="0" marL="0">
              <a:buNone/>
            </a:pPr>
            <a:r>
              <a:rPr lang="en-US" sz="1200" dirty="0">
                <a:solidFill>
                  <a:schemeClr val="accent3"/>
                </a:solidFill>
              </a:rPr>
              <a:t>Act 29 of 2000</a:t>
            </a:r>
            <a:endParaRPr lang="en-US" sz="1300" dirty="0"/>
          </a:p>
        </p:txBody>
      </p:sp>
      <p:sp>
        <p:nvSpPr>
          <p:cNvPr id="15" name="Text 12"/>
          <p:cNvSpPr txBox="1"/>
          <p:nvPr/>
        </p:nvSpPr>
        <p:spPr>
          <a:xfrm>
            <a:off x="6382512" y="3941064"/>
            <a:ext cx="5120640" cy="640080"/>
          </a:xfrm>
          <a:prstGeom prst="rect">
            <a:avLst/>
          </a:prstGeom>
          <a:noFill/>
          <a:ln/>
        </p:spPr>
        <p:txBody>
          <a:bodyPr wrap="square" lIns="0" tIns="0" rIns="0" bIns="0" rtlCol="0" anchor="t"/>
          <a:lstStyle/>
          <a:p>
            <a:pPr indent="0" marL="0">
              <a:buNone/>
            </a:pPr>
            <a:r>
              <a:rPr lang="en-US" sz="1300" b="1" dirty="0">
                <a:solidFill>
                  <a:schemeClr val="tx2"/>
                </a:solidFill>
              </a:rPr>
              <a:t>Rajasthan Transparency in Public Procurement Act, 2012</a:t>
            </a:r>
            <a:endParaRPr lang="en-US" sz="1300" dirty="0"/>
          </a:p>
          <a:p>
            <a:pPr indent="0" marL="0">
              <a:buNone/>
            </a:pPr>
            <a:r>
              <a:rPr lang="en-US" sz="1200" dirty="0">
                <a:solidFill>
                  <a:schemeClr val="accent3"/>
                </a:solidFill>
              </a:rPr>
              <a:t>Act 21 of 2012 · statutory bidder appeals (s. 38)</a:t>
            </a:r>
            <a:endParaRPr lang="en-US" sz="1300" dirty="0"/>
          </a:p>
        </p:txBody>
      </p:sp>
      <p:sp>
        <p:nvSpPr>
          <p:cNvPr id="16" name="Text 13"/>
          <p:cNvSpPr txBox="1"/>
          <p:nvPr/>
        </p:nvSpPr>
        <p:spPr>
          <a:xfrm>
            <a:off x="548640" y="4873752"/>
            <a:ext cx="10972800" cy="274320"/>
          </a:xfrm>
          <a:prstGeom prst="rect">
            <a:avLst/>
          </a:prstGeom>
          <a:noFill/>
          <a:ln/>
        </p:spPr>
        <p:txBody>
          <a:bodyPr wrap="square" lIns="0" tIns="0" rIns="0" bIns="0" rtlCol="0" anchor="t"/>
          <a:lstStyle/>
          <a:p>
            <a:pPr indent="0" marL="0">
              <a:buNone/>
            </a:pPr>
            <a:r>
              <a:rPr lang="en-US" sz="1200" b="1" spc="300" kern="0" dirty="0">
                <a:solidFill>
                  <a:schemeClr val="accent3"/>
                </a:solidFill>
              </a:rPr>
              <a:t>HOW CENTRAL POLICY REACHES THE STATES</a:t>
            </a:r>
            <a:endParaRPr lang="en-US" sz="1200" dirty="0"/>
          </a:p>
        </p:txBody>
      </p:sp>
      <p:sp>
        <p:nvSpPr>
          <p:cNvPr id="17" name="Bridge outline 1"/>
          <p:cNvSpPr/>
          <p:nvPr/>
        </p:nvSpPr>
        <p:spPr>
          <a:xfrm>
            <a:off x="548640" y="5193792"/>
            <a:ext cx="2679192" cy="914400"/>
          </a:xfrm>
          <a:prstGeom prst="roundRect">
            <a:avLst>
              <a:gd name="adj" fmla="val 8000"/>
            </a:avLst>
          </a:prstGeom>
          <a:solidFill>
            <a:schemeClr val="bg1"/>
          </a:solidFill>
          <a:ln w="12700">
            <a:solidFill>
              <a:schemeClr val="accent4"/>
            </a:solidFill>
            <a:prstDash val="solid"/>
          </a:ln>
        </p:spPr>
      </p:sp>
      <p:sp>
        <p:nvSpPr>
          <p:cNvPr id="18" name="Text 15"/>
          <p:cNvSpPr txBox="1"/>
          <p:nvPr/>
        </p:nvSpPr>
        <p:spPr>
          <a:xfrm>
            <a:off x="658368" y="5193792"/>
            <a:ext cx="2459736" cy="914400"/>
          </a:xfrm>
          <a:prstGeom prst="rect">
            <a:avLst/>
          </a:prstGeom>
          <a:noFill/>
          <a:ln/>
        </p:spPr>
        <p:txBody>
          <a:bodyPr wrap="square" lIns="0" tIns="0" rIns="0" bIns="0" rtlCol="0" anchor="ctr"/>
          <a:lstStyle/>
          <a:p>
            <a:pPr indent="0" marL="0">
              <a:buNone/>
            </a:pPr>
            <a:r>
              <a:rPr lang="en-US" sz="1200" dirty="0">
                <a:solidFill>
                  <a:schemeClr val="tx1"/>
                </a:solidFill>
              </a:rPr>
              <a:t>MSE policy does not bind States; they are asked to frame their own</a:t>
            </a:r>
            <a:endParaRPr lang="en-US" sz="1200" dirty="0"/>
          </a:p>
        </p:txBody>
      </p:sp>
      <p:sp>
        <p:nvSpPr>
          <p:cNvPr id="19" name="Bridge outline 2"/>
          <p:cNvSpPr/>
          <p:nvPr/>
        </p:nvSpPr>
        <p:spPr>
          <a:xfrm>
            <a:off x="3346704" y="5193792"/>
            <a:ext cx="2679192" cy="914400"/>
          </a:xfrm>
          <a:prstGeom prst="roundRect">
            <a:avLst>
              <a:gd name="adj" fmla="val 8000"/>
            </a:avLst>
          </a:prstGeom>
          <a:solidFill>
            <a:schemeClr val="bg1"/>
          </a:solidFill>
          <a:ln w="12700">
            <a:solidFill>
              <a:schemeClr val="accent4"/>
            </a:solidFill>
            <a:prstDash val="solid"/>
          </a:ln>
        </p:spPr>
      </p:sp>
      <p:sp>
        <p:nvSpPr>
          <p:cNvPr id="20" name="Text 17"/>
          <p:cNvSpPr txBox="1"/>
          <p:nvPr/>
        </p:nvSpPr>
        <p:spPr>
          <a:xfrm>
            <a:off x="3456432" y="5193792"/>
            <a:ext cx="2459736" cy="914400"/>
          </a:xfrm>
          <a:prstGeom prst="rect">
            <a:avLst/>
          </a:prstGeom>
          <a:noFill/>
          <a:ln/>
        </p:spPr>
        <p:txBody>
          <a:bodyPr wrap="square" lIns="0" tIns="0" rIns="0" bIns="0" rtlCol="0" anchor="ctr"/>
          <a:lstStyle/>
          <a:p>
            <a:pPr indent="0" marL="0">
              <a:buNone/>
            </a:pPr>
            <a:r>
              <a:rPr lang="en-US" sz="1200" dirty="0">
                <a:solidFill>
                  <a:schemeClr val="tx1"/>
                </a:solidFill>
              </a:rPr>
              <a:t>A Centre-issued land-border registration is valid for State tenders</a:t>
            </a:r>
            <a:endParaRPr lang="en-US" sz="1200" dirty="0"/>
          </a:p>
        </p:txBody>
      </p:sp>
      <p:sp>
        <p:nvSpPr>
          <p:cNvPr id="21" name="Bridge outline 3"/>
          <p:cNvSpPr/>
          <p:nvPr/>
        </p:nvSpPr>
        <p:spPr>
          <a:xfrm>
            <a:off x="6144768" y="5193792"/>
            <a:ext cx="2679192" cy="914400"/>
          </a:xfrm>
          <a:prstGeom prst="roundRect">
            <a:avLst>
              <a:gd name="adj" fmla="val 8000"/>
            </a:avLst>
          </a:prstGeom>
          <a:solidFill>
            <a:schemeClr val="bg1"/>
          </a:solidFill>
          <a:ln w="12700">
            <a:solidFill>
              <a:schemeClr val="accent4"/>
            </a:solidFill>
            <a:prstDash val="solid"/>
          </a:ln>
        </p:spPr>
      </p:sp>
      <p:sp>
        <p:nvSpPr>
          <p:cNvPr id="22" name="Text 19"/>
          <p:cNvSpPr txBox="1"/>
          <p:nvPr/>
        </p:nvSpPr>
        <p:spPr>
          <a:xfrm>
            <a:off x="6254496" y="5193792"/>
            <a:ext cx="2459736" cy="914400"/>
          </a:xfrm>
          <a:prstGeom prst="rect">
            <a:avLst/>
          </a:prstGeom>
          <a:noFill/>
          <a:ln/>
        </p:spPr>
        <p:txBody>
          <a:bodyPr wrap="square" lIns="0" tIns="0" rIns="0" bIns="0" rtlCol="0" anchor="ctr"/>
          <a:lstStyle/>
          <a:p>
            <a:pPr indent="0" marL="0">
              <a:buNone/>
            </a:pPr>
            <a:r>
              <a:rPr lang="en-US" sz="1200" dirty="0">
                <a:solidFill>
                  <a:schemeClr val="tx1"/>
                </a:solidFill>
              </a:rPr>
              <a:t>GeM is open to State buyers; Additional Terms and Conditions (ATC) carry their own preferences</a:t>
            </a:r>
            <a:endParaRPr lang="en-US" sz="1200" dirty="0"/>
          </a:p>
        </p:txBody>
      </p:sp>
      <p:sp>
        <p:nvSpPr>
          <p:cNvPr id="23" name="Bridge outline 4"/>
          <p:cNvSpPr/>
          <p:nvPr/>
        </p:nvSpPr>
        <p:spPr>
          <a:xfrm>
            <a:off x="8942832" y="5193792"/>
            <a:ext cx="2679192" cy="914400"/>
          </a:xfrm>
          <a:prstGeom prst="roundRect">
            <a:avLst>
              <a:gd name="adj" fmla="val 8000"/>
            </a:avLst>
          </a:prstGeom>
          <a:solidFill>
            <a:schemeClr val="accent5"/>
          </a:solidFill>
          <a:ln w="12700">
            <a:solidFill>
              <a:schemeClr val="accent4"/>
            </a:solidFill>
            <a:prstDash val="solid"/>
          </a:ln>
        </p:spPr>
      </p:sp>
      <p:sp>
        <p:nvSpPr>
          <p:cNvPr id="24" name="Text 21"/>
          <p:cNvSpPr txBox="1"/>
          <p:nvPr/>
        </p:nvSpPr>
        <p:spPr>
          <a:xfrm>
            <a:off x="9052560" y="5193792"/>
            <a:ext cx="2459736" cy="914400"/>
          </a:xfrm>
          <a:prstGeom prst="rect">
            <a:avLst/>
          </a:prstGeom>
          <a:noFill/>
          <a:ln/>
        </p:spPr>
        <p:txBody>
          <a:bodyPr wrap="square" lIns="0" tIns="0" rIns="0" bIns="0" rtlCol="0" anchor="ctr"/>
          <a:lstStyle/>
          <a:p>
            <a:pPr indent="0" marL="0">
              <a:buNone/>
            </a:pPr>
            <a:r>
              <a:rPr lang="en-US" sz="1200" dirty="0">
                <a:solidFill>
                  <a:schemeClr val="tx1"/>
                </a:solidFill>
              </a:rPr>
              <a:t>State buying on GeM grew 38.3% in FY 2025–26</a:t>
            </a:r>
            <a:endParaRPr lang="en-US" sz="1200" dirty="0"/>
          </a:p>
        </p:txBody>
      </p:sp>
      <p:sp>
        <p:nvSpPr>
          <p:cNvPr id="25" name="Slide Number Placeholder 0"/>
          <p:cNvSpPr>
            <a:spLocks noGrp="1"/>
          </p:cNvSpPr>
          <p:nvPr>
            <p:ph type="sldNum" sz="quarter" idx="4294967295"/>
          </p:nvPr>
        </p:nvSpPr>
        <p:spPr>
          <a:xfrm>
            <a:off x="1120140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PART 3  ·  THE BIDDING PROCESS</a:t>
            </a:r>
            <a:endParaRPr lang="en-US" sz="1100" dirty="0"/>
          </a:p>
        </p:txBody>
      </p:sp>
      <p:sp>
        <p:nvSpPr>
          <p:cNvPr id="3" name="Text 0"/>
          <p:cNvSpPr/>
          <p:nvPr>
            <p:ph idx="101" type="title" hasCustomPrompt="1"/>
          </p:nvPr>
        </p:nvSpPr>
        <p:spPr>
          <a:xfrm>
            <a:off x="548640" y="566928"/>
            <a:ext cx="11064240" cy="658368"/>
          </a:xfrm>
          <a:prstGeom prst="rect">
            <a:avLst/>
          </a:prstGeom>
          <a:noFill/>
          <a:ln/>
        </p:spPr>
        <p:txBody>
          <a:bodyPr wrap="square" lIns="0" tIns="0" rIns="0" bIns="0" rtlCol="0" anchor="ctr"/>
          <a:lstStyle/>
          <a:p>
            <a:pPr algn="l" indent="0" marL="0">
              <a:buNone/>
            </a:pPr>
            <a:r>
              <a:rPr lang="en-US" sz="3200" b="1" dirty="0">
                <a:solidFill>
                  <a:schemeClr val="tx2"/>
                </a:solidFill>
              </a:rPr>
              <a:t>Value decides the buying route on GeM</a:t>
            </a:r>
            <a:endParaRPr lang="en-US" sz="3200" dirty="0"/>
          </a:p>
        </p:txBody>
      </p:sp>
      <p:sp>
        <p:nvSpPr>
          <p:cNvPr id="4" name="Text 0"/>
          <p:cNvSpPr/>
          <p:nvPr>
            <p:ph idx="102" type="body" hasCustomPrompt="1"/>
          </p:nvPr>
        </p:nvSpPr>
        <p:spPr>
          <a:xfrm>
            <a:off x="548640" y="6272784"/>
            <a:ext cx="10332720" cy="384048"/>
          </a:xfrm>
          <a:prstGeom prst="rect">
            <a:avLst/>
          </a:prstGeom>
          <a:noFill/>
          <a:ln/>
        </p:spPr>
        <p:txBody>
          <a:bodyPr wrap="square" lIns="0" tIns="0" rIns="0" bIns="0" rtlCol="0" anchor="t"/>
          <a:lstStyle/>
          <a:p>
            <a:pPr indent="0" marL="0">
              <a:buNone/>
            </a:pPr>
            <a:r>
              <a:rPr lang="en-US" sz="1000" dirty="0">
                <a:solidFill>
                  <a:schemeClr val="accent3"/>
                </a:solidFill>
              </a:rPr>
              <a:t>Sources: GFR 2017 (updated to 31 Jan 2026), Rule 149 and footnotes (OMs of 10 Jul 2024 and 18 Jul 2024); GeM GTC on GeM 4.0, v1.29 (25 Mar 2026), cl. 3B, 4, 30; DoE OMs on Push Button Procurement, 6 Sep 2022 and 11 Jan 2023. Scale not proportional.</a:t>
            </a:r>
            <a:endParaRPr lang="en-US" sz="1000" dirty="0"/>
          </a:p>
        </p:txBody>
      </p:sp>
      <p:sp>
        <p:nvSpPr>
          <p:cNvPr id="6" name="PBP band"/>
          <p:cNvSpPr/>
          <p:nvPr/>
        </p:nvSpPr>
        <p:spPr>
          <a:xfrm>
            <a:off x="548640" y="1600200"/>
            <a:ext cx="5257800" cy="566928"/>
          </a:xfrm>
          <a:prstGeom prst="roundRect">
            <a:avLst>
              <a:gd name="adj" fmla="val 12903"/>
            </a:avLst>
          </a:prstGeom>
          <a:solidFill>
            <a:schemeClr val="accent6"/>
          </a:solidFill>
          <a:ln w="12700">
            <a:solidFill>
              <a:schemeClr val="accent2"/>
            </a:solidFill>
            <a:prstDash val="solid"/>
          </a:ln>
        </p:spPr>
      </p:sp>
      <p:sp>
        <p:nvSpPr>
          <p:cNvPr id="7" name="Text 4"/>
          <p:cNvSpPr txBox="1"/>
          <p:nvPr/>
        </p:nvSpPr>
        <p:spPr>
          <a:xfrm>
            <a:off x="685800" y="1600200"/>
            <a:ext cx="5029200" cy="566928"/>
          </a:xfrm>
          <a:prstGeom prst="rect">
            <a:avLst/>
          </a:prstGeom>
          <a:noFill/>
          <a:ln/>
        </p:spPr>
        <p:txBody>
          <a:bodyPr wrap="square" lIns="0" tIns="0" rIns="0" bIns="0" rtlCol="0" anchor="ctr"/>
          <a:lstStyle/>
          <a:p>
            <a:pPr indent="0" marL="0">
              <a:buNone/>
            </a:pPr>
            <a:r>
              <a:rPr lang="en-US" sz="1200" b="1" dirty="0">
                <a:solidFill>
                  <a:schemeClr val="accent2"/>
                </a:solidFill>
              </a:rPr>
              <a:t>Push Button Procurement (PBP), optional · up to ₹5 lakh  </a:t>
            </a:r>
            <a:pPr indent="0" marL="0">
              <a:buNone/>
            </a:pPr>
            <a:r>
              <a:rPr lang="en-US" sz="1200" dirty="0">
                <a:solidFill>
                  <a:schemeClr val="tx1"/>
                </a:solidFill>
              </a:rPr>
              <a:t>bids only · ≥5 offers from ≥2 manufacturers · system awards automatically</a:t>
            </a:r>
            <a:endParaRPr lang="en-US" sz="1200" dirty="0"/>
          </a:p>
        </p:txBody>
      </p:sp>
      <p:sp>
        <p:nvSpPr>
          <p:cNvPr id="8" name="Route 1"/>
          <p:cNvSpPr/>
          <p:nvPr/>
        </p:nvSpPr>
        <p:spPr>
          <a:xfrm>
            <a:off x="548640" y="2331720"/>
            <a:ext cx="3291840" cy="868680"/>
          </a:xfrm>
          <a:prstGeom prst="roundRect">
            <a:avLst>
              <a:gd name="adj" fmla="val 8421"/>
            </a:avLst>
          </a:prstGeom>
          <a:solidFill>
            <a:schemeClr val="accent5"/>
          </a:solidFill>
          <a:ln w="12700">
            <a:solidFill>
              <a:schemeClr val="accent5"/>
            </a:solidFill>
            <a:prstDash val="solid"/>
          </a:ln>
        </p:spPr>
      </p:sp>
      <p:sp>
        <p:nvSpPr>
          <p:cNvPr id="9" name="Text 6"/>
          <p:cNvSpPr txBox="1"/>
          <p:nvPr/>
        </p:nvSpPr>
        <p:spPr>
          <a:xfrm>
            <a:off x="731520" y="2331720"/>
            <a:ext cx="2926080" cy="868680"/>
          </a:xfrm>
          <a:prstGeom prst="rect">
            <a:avLst/>
          </a:prstGeom>
          <a:noFill/>
          <a:ln/>
        </p:spPr>
        <p:txBody>
          <a:bodyPr wrap="square" lIns="0" tIns="0" rIns="0" bIns="0" rtlCol="0" anchor="ctr"/>
          <a:lstStyle/>
          <a:p>
            <a:pPr indent="0" marL="0">
              <a:buNone/>
            </a:pPr>
            <a:r>
              <a:rPr lang="en-US" sz="1800" b="1" dirty="0">
                <a:solidFill>
                  <a:schemeClr val="tx2"/>
                </a:solidFill>
              </a:rPr>
              <a:t>Direct purchase</a:t>
            </a:r>
            <a:endParaRPr lang="en-US" sz="1400" dirty="0"/>
          </a:p>
          <a:p>
            <a:pPr indent="0" marL="0">
              <a:buNone/>
            </a:pPr>
            <a:r>
              <a:rPr lang="en-US" sz="1300" dirty="0">
                <a:solidFill>
                  <a:schemeClr val="tx2"/>
                </a:solidFill>
              </a:rPr>
              <a:t>up to ₹50,000</a:t>
            </a:r>
            <a:endParaRPr lang="en-US" sz="1400" dirty="0"/>
          </a:p>
        </p:txBody>
      </p:sp>
      <p:sp>
        <p:nvSpPr>
          <p:cNvPr id="10" name="Route 2"/>
          <p:cNvSpPr/>
          <p:nvPr/>
        </p:nvSpPr>
        <p:spPr>
          <a:xfrm>
            <a:off x="3913632" y="2331720"/>
            <a:ext cx="3749040" cy="868680"/>
          </a:xfrm>
          <a:prstGeom prst="roundRect">
            <a:avLst>
              <a:gd name="adj" fmla="val 8421"/>
            </a:avLst>
          </a:prstGeom>
          <a:solidFill>
            <a:schemeClr val="accent1"/>
          </a:solidFill>
          <a:ln w="12700">
            <a:solidFill>
              <a:schemeClr val="accent1"/>
            </a:solidFill>
            <a:prstDash val="solid"/>
          </a:ln>
        </p:spPr>
      </p:sp>
      <p:sp>
        <p:nvSpPr>
          <p:cNvPr id="11" name="Text 8"/>
          <p:cNvSpPr txBox="1"/>
          <p:nvPr/>
        </p:nvSpPr>
        <p:spPr>
          <a:xfrm>
            <a:off x="4096512" y="2331720"/>
            <a:ext cx="3383280" cy="868680"/>
          </a:xfrm>
          <a:prstGeom prst="rect">
            <a:avLst/>
          </a:prstGeom>
          <a:noFill/>
          <a:ln/>
        </p:spPr>
        <p:txBody>
          <a:bodyPr wrap="square" lIns="0" tIns="0" rIns="0" bIns="0" rtlCol="0" anchor="ctr"/>
          <a:lstStyle/>
          <a:p>
            <a:pPr indent="0" marL="0">
              <a:buNone/>
            </a:pPr>
            <a:r>
              <a:rPr lang="en-US" sz="1800" b="1" dirty="0">
                <a:solidFill>
                  <a:schemeClr val="bg1"/>
                </a:solidFill>
              </a:rPr>
              <a:t>Lowest-price (L1) purchase</a:t>
            </a:r>
            <a:endParaRPr lang="en-US" sz="1400" dirty="0"/>
          </a:p>
          <a:p>
            <a:pPr indent="0" marL="0">
              <a:buNone/>
            </a:pPr>
            <a:r>
              <a:rPr lang="en-US" sz="1300" dirty="0">
                <a:solidFill>
                  <a:schemeClr val="bg1"/>
                </a:solidFill>
              </a:rPr>
              <a:t>₹50,000 – ₹10 lakh</a:t>
            </a:r>
            <a:endParaRPr lang="en-US" sz="1400" dirty="0"/>
          </a:p>
        </p:txBody>
      </p:sp>
      <p:sp>
        <p:nvSpPr>
          <p:cNvPr id="12" name="Route 3"/>
          <p:cNvSpPr/>
          <p:nvPr/>
        </p:nvSpPr>
        <p:spPr>
          <a:xfrm>
            <a:off x="7735824" y="2331720"/>
            <a:ext cx="3904488" cy="868680"/>
          </a:xfrm>
          <a:prstGeom prst="roundRect">
            <a:avLst>
              <a:gd name="adj" fmla="val 8421"/>
            </a:avLst>
          </a:prstGeom>
          <a:solidFill>
            <a:schemeClr val="tx2"/>
          </a:solidFill>
          <a:ln w="12700">
            <a:solidFill>
              <a:schemeClr val="tx2"/>
            </a:solidFill>
            <a:prstDash val="solid"/>
          </a:ln>
        </p:spPr>
      </p:sp>
      <p:sp>
        <p:nvSpPr>
          <p:cNvPr id="13" name="Text 10"/>
          <p:cNvSpPr txBox="1"/>
          <p:nvPr/>
        </p:nvSpPr>
        <p:spPr>
          <a:xfrm>
            <a:off x="7918704" y="2331720"/>
            <a:ext cx="3538728" cy="868680"/>
          </a:xfrm>
          <a:prstGeom prst="rect">
            <a:avLst/>
          </a:prstGeom>
          <a:noFill/>
          <a:ln/>
        </p:spPr>
        <p:txBody>
          <a:bodyPr wrap="square" lIns="0" tIns="0" rIns="0" bIns="0" rtlCol="0" anchor="ctr"/>
          <a:lstStyle/>
          <a:p>
            <a:pPr indent="0" marL="0">
              <a:buNone/>
            </a:pPr>
            <a:r>
              <a:rPr lang="en-US" sz="1800" b="1" dirty="0">
                <a:solidFill>
                  <a:schemeClr val="bg1"/>
                </a:solidFill>
              </a:rPr>
              <a:t>Bid / reverse auction</a:t>
            </a:r>
            <a:endParaRPr lang="en-US" sz="1400" dirty="0"/>
          </a:p>
          <a:p>
            <a:pPr indent="0" marL="0">
              <a:buNone/>
            </a:pPr>
            <a:r>
              <a:rPr lang="en-US" sz="1300" dirty="0">
                <a:solidFill>
                  <a:schemeClr val="bg1"/>
                </a:solidFill>
              </a:rPr>
              <a:t>above ₹10 lakh — mandatory</a:t>
            </a:r>
            <a:endParaRPr lang="en-US" sz="1400" dirty="0"/>
          </a:p>
        </p:txBody>
      </p:sp>
      <p:sp>
        <p:nvSpPr>
          <p:cNvPr id="14" name="Text 11"/>
          <p:cNvSpPr txBox="1"/>
          <p:nvPr/>
        </p:nvSpPr>
        <p:spPr>
          <a:xfrm>
            <a:off x="594360" y="3337560"/>
            <a:ext cx="3200400" cy="123444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Any available seller meeting quality, specification and delivery</a:t>
            </a:r>
            <a:endParaRPr lang="en-US" sz="1200" dirty="0"/>
          </a:p>
          <a:p>
            <a:pPr indent="0" marL="0">
              <a:spcAft>
                <a:spcPts val="400"/>
              </a:spcAft>
              <a:buNone/>
            </a:pPr>
            <a:r>
              <a:rPr lang="en-US" sz="1200" dirty="0">
                <a:solidFill>
                  <a:schemeClr val="tx1"/>
                </a:solidFill>
              </a:rPr>
              <a:t>Buyer certifies the price is reasonable; records reasons if not the cheapest</a:t>
            </a:r>
            <a:endParaRPr lang="en-US" sz="1200" dirty="0"/>
          </a:p>
          <a:p>
            <a:pPr indent="0" marL="0">
              <a:spcAft>
                <a:spcPts val="400"/>
              </a:spcAft>
              <a:buNone/>
            </a:pPr>
            <a:r>
              <a:rPr lang="en-US" sz="1200" dirty="0">
                <a:solidFill>
                  <a:schemeClr val="tx1"/>
                </a:solidFill>
              </a:rPr>
              <a:t>Automobiles: no ceiling</a:t>
            </a:r>
            <a:endParaRPr lang="en-US" sz="1200" dirty="0"/>
          </a:p>
        </p:txBody>
      </p:sp>
      <p:sp>
        <p:nvSpPr>
          <p:cNvPr id="15" name="Text 12"/>
          <p:cNvSpPr txBox="1"/>
          <p:nvPr/>
        </p:nvSpPr>
        <p:spPr>
          <a:xfrm>
            <a:off x="3959352" y="3337560"/>
            <a:ext cx="3657600" cy="123444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Lowest price among sellers of at least 3 different Original Equipment Manufacturers (OEMs)</a:t>
            </a:r>
            <a:endParaRPr lang="en-US" sz="1200" dirty="0"/>
          </a:p>
          <a:p>
            <a:pPr indent="0" marL="0">
              <a:spcAft>
                <a:spcPts val="400"/>
              </a:spcAft>
              <a:buNone/>
            </a:pPr>
            <a:r>
              <a:rPr lang="en-US" sz="1200" dirty="0">
                <a:solidFill>
                  <a:schemeClr val="tx1"/>
                </a:solidFill>
              </a:rPr>
              <a:t>Online bid or Reverse Auction (RA) may also be used; bidding is GeM's preferred mode</a:t>
            </a:r>
            <a:endParaRPr lang="en-US" sz="1200" dirty="0"/>
          </a:p>
        </p:txBody>
      </p:sp>
      <p:sp>
        <p:nvSpPr>
          <p:cNvPr id="16" name="Text 13"/>
          <p:cNvSpPr txBox="1"/>
          <p:nvPr/>
        </p:nvSpPr>
        <p:spPr>
          <a:xfrm>
            <a:off x="7781544" y="3337560"/>
            <a:ext cx="3813048" cy="123444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e-Bid, RA or Bid-to-RA</a:t>
            </a:r>
            <a:endParaRPr lang="en-US" sz="1200" dirty="0"/>
          </a:p>
          <a:p>
            <a:pPr indent="0" marL="0">
              <a:spcAft>
                <a:spcPts val="400"/>
              </a:spcAft>
              <a:buNone/>
            </a:pPr>
            <a:r>
              <a:rPr lang="en-US" sz="1200" dirty="0">
                <a:solidFill>
                  <a:schemeClr val="tx1"/>
                </a:solidFill>
              </a:rPr>
              <a:t>Award to the lowest price meeting quality, specification and delivery</a:t>
            </a:r>
            <a:endParaRPr lang="en-US" sz="1200" dirty="0"/>
          </a:p>
        </p:txBody>
      </p:sp>
      <p:sp>
        <p:nvSpPr>
          <p:cNvPr id="17" name="PAC card"/>
          <p:cNvSpPr/>
          <p:nvPr/>
        </p:nvSpPr>
        <p:spPr>
          <a:xfrm>
            <a:off x="548640" y="4709160"/>
            <a:ext cx="4206240" cy="1417320"/>
          </a:xfrm>
          <a:prstGeom prst="roundRect">
            <a:avLst>
              <a:gd name="adj" fmla="val 5161"/>
            </a:avLst>
          </a:prstGeom>
          <a:solidFill>
            <a:schemeClr val="bg2"/>
          </a:solidFill>
          <a:ln w="12700">
            <a:solidFill>
              <a:schemeClr val="bg2"/>
            </a:solidFill>
            <a:prstDash val="solid"/>
          </a:ln>
        </p:spPr>
      </p:sp>
      <p:sp>
        <p:nvSpPr>
          <p:cNvPr id="18" name="Text 15"/>
          <p:cNvSpPr txBox="1"/>
          <p:nvPr/>
        </p:nvSpPr>
        <p:spPr>
          <a:xfrm>
            <a:off x="713232" y="4800600"/>
            <a:ext cx="3886200" cy="1280160"/>
          </a:xfrm>
          <a:prstGeom prst="rect">
            <a:avLst/>
          </a:prstGeom>
          <a:noFill/>
          <a:ln/>
        </p:spPr>
        <p:txBody>
          <a:bodyPr wrap="square" lIns="0" tIns="0" rIns="0" bIns="0" rtlCol="0" anchor="t"/>
          <a:lstStyle/>
          <a:p>
            <a:pPr indent="0" marL="0">
              <a:buNone/>
            </a:pPr>
            <a:r>
              <a:rPr lang="en-US" sz="1400" b="1" dirty="0">
                <a:solidFill>
                  <a:schemeClr val="tx2"/>
                </a:solidFill>
              </a:rPr>
              <a:t>Specific make needed?</a:t>
            </a:r>
            <a:endParaRPr lang="en-US" sz="1400" dirty="0"/>
          </a:p>
          <a:p>
            <a:pPr indent="0" marL="0">
              <a:buNone/>
            </a:pPr>
            <a:r>
              <a:rPr lang="en-US" sz="1200" dirty="0">
                <a:solidFill>
                  <a:schemeClr val="tx1"/>
                </a:solidFill>
              </a:rPr>
              <a:t>Proprietary Article Certificate (PAC) buying, approved under Rule 166. Bidding still mandatory above ₹50,000. Scientific ministries: direct up to ₹1 lakh; L1 ₹1–10 lakh.</a:t>
            </a:r>
            <a:endParaRPr lang="en-US" sz="1400" dirty="0"/>
          </a:p>
        </p:txBody>
      </p:sp>
      <p:sp>
        <p:nvSpPr>
          <p:cNvPr id="19" name="Hard rules card"/>
          <p:cNvSpPr/>
          <p:nvPr/>
        </p:nvSpPr>
        <p:spPr>
          <a:xfrm>
            <a:off x="4892040" y="4709160"/>
            <a:ext cx="6748272" cy="1417320"/>
          </a:xfrm>
          <a:prstGeom prst="roundRect">
            <a:avLst>
              <a:gd name="adj" fmla="val 5161"/>
            </a:avLst>
          </a:prstGeom>
          <a:solidFill>
            <a:schemeClr val="accent5"/>
          </a:solidFill>
          <a:ln w="12700">
            <a:solidFill>
              <a:schemeClr val="accent5"/>
            </a:solidFill>
            <a:prstDash val="solid"/>
          </a:ln>
        </p:spPr>
      </p:sp>
      <p:sp>
        <p:nvSpPr>
          <p:cNvPr id="20" name="Text 17"/>
          <p:cNvSpPr txBox="1"/>
          <p:nvPr/>
        </p:nvSpPr>
        <p:spPr>
          <a:xfrm>
            <a:off x="5056632" y="4800600"/>
            <a:ext cx="2743200" cy="292608"/>
          </a:xfrm>
          <a:prstGeom prst="rect">
            <a:avLst/>
          </a:prstGeom>
          <a:noFill/>
          <a:ln/>
        </p:spPr>
        <p:txBody>
          <a:bodyPr wrap="square" lIns="0" tIns="0" rIns="0" bIns="0" rtlCol="0" anchor="t"/>
          <a:lstStyle/>
          <a:p>
            <a:pPr indent="0" marL="0">
              <a:buNone/>
            </a:pPr>
            <a:r>
              <a:rPr lang="en-US" sz="1400" b="1" dirty="0">
                <a:solidFill>
                  <a:schemeClr val="tx2"/>
                </a:solidFill>
              </a:rPr>
              <a:t>Hard rules</a:t>
            </a:r>
            <a:endParaRPr lang="en-US" sz="1400" dirty="0"/>
          </a:p>
        </p:txBody>
      </p:sp>
      <p:sp>
        <p:nvSpPr>
          <p:cNvPr id="21" name="Text 18"/>
          <p:cNvSpPr txBox="1"/>
          <p:nvPr/>
        </p:nvSpPr>
        <p:spPr>
          <a:xfrm>
            <a:off x="5056632" y="5102352"/>
            <a:ext cx="6446520" cy="987552"/>
          </a:xfrm>
          <a:prstGeom prst="rect">
            <a:avLst/>
          </a:prstGeom>
          <a:noFill/>
          <a:ln/>
        </p:spPr>
        <p:txBody>
          <a:bodyPr wrap="square" lIns="0" tIns="0" rIns="0" bIns="0" rtlCol="0" anchor="t"/>
          <a:lstStyle/>
          <a:p>
            <a:pPr marL="342900" indent="-342900">
              <a:buSzPct val="100000"/>
              <a:buChar char="•"/>
            </a:pPr>
            <a:r>
              <a:rPr lang="en-US" sz="1200" dirty="0">
                <a:solidFill>
                  <a:schemeClr val="tx1"/>
                </a:solidFill>
              </a:rPr>
              <a:t>No splitting demand to dodge a threshold (Rule 149(viii))</a:t>
            </a:r>
            <a:endParaRPr lang="en-US" sz="1200" dirty="0"/>
          </a:p>
          <a:p>
            <a:pPr marL="342900" indent="-342900">
              <a:buSzPct val="100000"/>
              <a:buChar char="•"/>
            </a:pPr>
            <a:r>
              <a:rPr lang="en-US" sz="1200" dirty="0">
                <a:solidFill>
                  <a:schemeClr val="tx1"/>
                </a:solidFill>
              </a:rPr>
              <a:t>No using GeM prices for orders outside GeM</a:t>
            </a:r>
            <a:endParaRPr lang="en-US" sz="1200" dirty="0"/>
          </a:p>
          <a:p>
            <a:pPr marL="342900" indent="-342900">
              <a:buSzPct val="100000"/>
              <a:buChar char="•"/>
            </a:pPr>
            <a:r>
              <a:rPr lang="en-US" sz="1200" dirty="0">
                <a:solidFill>
                  <a:schemeClr val="tx1"/>
                </a:solidFill>
              </a:rPr>
              <a:t>No buying when only one offer or seller exists (PAC excepted)</a:t>
            </a:r>
            <a:endParaRPr lang="en-US" sz="1200" dirty="0"/>
          </a:p>
          <a:p>
            <a:pPr marL="342900" indent="-342900">
              <a:buSzPct val="100000"/>
              <a:buChar char="•"/>
            </a:pPr>
            <a:r>
              <a:rPr lang="en-US" sz="1200" dirty="0">
                <a:solidFill>
                  <a:schemeClr val="tx1"/>
                </a:solidFill>
              </a:rPr>
              <a:t>Buyer must establish the price is reasonable (Rule 149(vii))</a:t>
            </a:r>
            <a:endParaRPr lang="en-US" sz="1200" dirty="0"/>
          </a:p>
        </p:txBody>
      </p:sp>
      <p:sp>
        <p:nvSpPr>
          <p:cNvPr id="25" name="Slide Number Placeholder 0"/>
          <p:cNvSpPr>
            <a:spLocks noGrp="1"/>
          </p:cNvSpPr>
          <p:nvPr>
            <p:ph type="sldNum" sz="quarter" idx="4294967295"/>
          </p:nvPr>
        </p:nvSpPr>
        <p:spPr>
          <a:xfrm>
            <a:off x="1120140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PART 3  ·  THE BIDDING PROCESS</a:t>
            </a:r>
            <a:endParaRPr lang="en-US" sz="1100" dirty="0"/>
          </a:p>
        </p:txBody>
      </p:sp>
      <p:sp>
        <p:nvSpPr>
          <p:cNvPr id="3" name="Text 0"/>
          <p:cNvSpPr/>
          <p:nvPr>
            <p:ph idx="101" type="title" hasCustomPrompt="1"/>
          </p:nvPr>
        </p:nvSpPr>
        <p:spPr>
          <a:xfrm>
            <a:off x="548640" y="566928"/>
            <a:ext cx="11064240" cy="658368"/>
          </a:xfrm>
          <a:prstGeom prst="rect">
            <a:avLst/>
          </a:prstGeom>
          <a:noFill/>
          <a:ln/>
        </p:spPr>
        <p:txBody>
          <a:bodyPr wrap="square" lIns="0" tIns="0" rIns="0" bIns="0" rtlCol="0" anchor="ctr"/>
          <a:lstStyle/>
          <a:p>
            <a:pPr algn="l" indent="0" marL="0">
              <a:buNone/>
            </a:pPr>
            <a:r>
              <a:rPr lang="en-US" sz="3200" b="1" dirty="0">
                <a:solidFill>
                  <a:schemeClr val="tx2"/>
                </a:solidFill>
              </a:rPr>
              <a:t>Bid lifecycle on GeM, from creation to payment</a:t>
            </a:r>
            <a:endParaRPr lang="en-US" sz="3200" dirty="0"/>
          </a:p>
        </p:txBody>
      </p:sp>
      <p:sp>
        <p:nvSpPr>
          <p:cNvPr id="4" name="Text 0"/>
          <p:cNvSpPr/>
          <p:nvPr>
            <p:ph idx="102" type="body" hasCustomPrompt="1"/>
          </p:nvPr>
        </p:nvSpPr>
        <p:spPr>
          <a:xfrm>
            <a:off x="548640" y="6272784"/>
            <a:ext cx="10332720" cy="384048"/>
          </a:xfrm>
          <a:prstGeom prst="rect">
            <a:avLst/>
          </a:prstGeom>
          <a:noFill/>
          <a:ln/>
        </p:spPr>
        <p:txBody>
          <a:bodyPr wrap="square" lIns="0" tIns="0" rIns="0" bIns="0" rtlCol="0" anchor="t"/>
          <a:lstStyle/>
          <a:p>
            <a:pPr indent="0" marL="0">
              <a:buNone/>
            </a:pPr>
            <a:r>
              <a:rPr lang="en-US" sz="1000" dirty="0">
                <a:solidFill>
                  <a:schemeClr val="accent3"/>
                </a:solidFill>
              </a:rPr>
              <a:t>Sources: GeM GTC v1.29 (25 Mar 2026), cl. 3, 4(xiii), 5–8, 10–15; GFR 2017, Rules 149, 170, 171; Goods Manual 2024, para 4.17.2 and Annexure 36.</a:t>
            </a:r>
            <a:endParaRPr lang="en-US" sz="1000" dirty="0"/>
          </a:p>
        </p:txBody>
      </p:sp>
      <p:sp>
        <p:nvSpPr>
          <p:cNvPr id="6" name="Step card 1"/>
          <p:cNvSpPr/>
          <p:nvPr/>
        </p:nvSpPr>
        <p:spPr>
          <a:xfrm>
            <a:off x="548640" y="1463040"/>
            <a:ext cx="2615184" cy="2212848"/>
          </a:xfrm>
          <a:prstGeom prst="roundRect">
            <a:avLst>
              <a:gd name="adj" fmla="val 3306"/>
            </a:avLst>
          </a:prstGeom>
          <a:solidFill>
            <a:schemeClr val="bg2"/>
          </a:solidFill>
          <a:ln w="12700">
            <a:solidFill>
              <a:schemeClr val="bg2"/>
            </a:solidFill>
            <a:prstDash val="solid"/>
          </a:ln>
        </p:spPr>
      </p:sp>
      <p:sp>
        <p:nvSpPr>
          <p:cNvPr id="7" name="Marker 1"/>
          <p:cNvSpPr/>
          <p:nvPr/>
        </p:nvSpPr>
        <p:spPr>
          <a:xfrm>
            <a:off x="713232" y="1627632"/>
            <a:ext cx="420624" cy="420624"/>
          </a:xfrm>
          <a:prstGeom prst="ellipse">
            <a:avLst/>
          </a:prstGeom>
          <a:solidFill>
            <a:schemeClr val="tx2"/>
          </a:solidFill>
          <a:ln w="12700">
            <a:solidFill>
              <a:schemeClr val="tx2"/>
            </a:solidFill>
            <a:prstDash val="solid"/>
          </a:ln>
        </p:spPr>
      </p:sp>
      <p:sp>
        <p:nvSpPr>
          <p:cNvPr id="8" name="Text 5"/>
          <p:cNvSpPr txBox="1"/>
          <p:nvPr/>
        </p:nvSpPr>
        <p:spPr>
          <a:xfrm>
            <a:off x="713232" y="162763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1261872" y="1627632"/>
            <a:ext cx="1792224" cy="420624"/>
          </a:xfrm>
          <a:prstGeom prst="rect">
            <a:avLst/>
          </a:prstGeom>
          <a:noFill/>
          <a:ln/>
        </p:spPr>
        <p:txBody>
          <a:bodyPr wrap="square" lIns="0" tIns="0" rIns="0" bIns="0" rtlCol="0" anchor="ctr"/>
          <a:lstStyle/>
          <a:p>
            <a:pPr indent="0" marL="0">
              <a:buNone/>
            </a:pPr>
            <a:r>
              <a:rPr lang="en-US" sz="1500" b="1" dirty="0">
                <a:solidFill>
                  <a:schemeClr val="tx2"/>
                </a:solidFill>
              </a:rPr>
              <a:t>Prepare</a:t>
            </a:r>
            <a:endParaRPr lang="en-US" sz="1500" dirty="0"/>
          </a:p>
        </p:txBody>
      </p:sp>
      <p:sp>
        <p:nvSpPr>
          <p:cNvPr id="10" name="Text 7"/>
          <p:cNvSpPr txBox="1"/>
          <p:nvPr/>
        </p:nvSpPr>
        <p:spPr>
          <a:xfrm>
            <a:off x="713232" y="2194560"/>
            <a:ext cx="2286000" cy="1344168"/>
          </a:xfrm>
          <a:prstGeom prst="rect">
            <a:avLst/>
          </a:prstGeom>
          <a:noFill/>
          <a:ln/>
        </p:spPr>
        <p:txBody>
          <a:bodyPr wrap="square" lIns="0" tIns="0" rIns="0" bIns="0" rtlCol="0" anchor="t"/>
          <a:lstStyle/>
          <a:p>
            <a:pPr indent="0" marL="0">
              <a:buNone/>
            </a:pPr>
            <a:r>
              <a:rPr lang="en-US" sz="1350" dirty="0">
                <a:solidFill>
                  <a:schemeClr val="tx1"/>
                </a:solidFill>
              </a:rPr>
              <a:t>Sanction and funds in place. Primary User (Deputy Secretary level) assigns roles; cannot transact.</a:t>
            </a:r>
            <a:endParaRPr lang="en-US" sz="1350" dirty="0"/>
          </a:p>
        </p:txBody>
      </p:sp>
      <p:sp>
        <p:nvSpPr>
          <p:cNvPr id="11" name="Text 8"/>
          <p:cNvSpPr txBox="1"/>
          <p:nvPr/>
        </p:nvSpPr>
        <p:spPr>
          <a:xfrm>
            <a:off x="3145536" y="1572768"/>
            <a:ext cx="246888"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12" name="Step card 2"/>
          <p:cNvSpPr/>
          <p:nvPr/>
        </p:nvSpPr>
        <p:spPr>
          <a:xfrm>
            <a:off x="3374136" y="1463040"/>
            <a:ext cx="2615184" cy="2212848"/>
          </a:xfrm>
          <a:prstGeom prst="roundRect">
            <a:avLst>
              <a:gd name="adj" fmla="val 3306"/>
            </a:avLst>
          </a:prstGeom>
          <a:solidFill>
            <a:schemeClr val="bg2"/>
          </a:solidFill>
          <a:ln w="12700">
            <a:solidFill>
              <a:schemeClr val="bg2"/>
            </a:solidFill>
            <a:prstDash val="solid"/>
          </a:ln>
        </p:spPr>
      </p:sp>
      <p:sp>
        <p:nvSpPr>
          <p:cNvPr id="13" name="Marker 2"/>
          <p:cNvSpPr/>
          <p:nvPr/>
        </p:nvSpPr>
        <p:spPr>
          <a:xfrm>
            <a:off x="3538728" y="1627632"/>
            <a:ext cx="420624" cy="420624"/>
          </a:xfrm>
          <a:prstGeom prst="ellipse">
            <a:avLst/>
          </a:prstGeom>
          <a:solidFill>
            <a:schemeClr val="tx2"/>
          </a:solidFill>
          <a:ln w="12700">
            <a:solidFill>
              <a:schemeClr val="tx2"/>
            </a:solidFill>
            <a:prstDash val="solid"/>
          </a:ln>
        </p:spPr>
      </p:sp>
      <p:sp>
        <p:nvSpPr>
          <p:cNvPr id="14" name="Text 11"/>
          <p:cNvSpPr txBox="1"/>
          <p:nvPr/>
        </p:nvSpPr>
        <p:spPr>
          <a:xfrm>
            <a:off x="3538728" y="162763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5" name="Text 12"/>
          <p:cNvSpPr txBox="1"/>
          <p:nvPr/>
        </p:nvSpPr>
        <p:spPr>
          <a:xfrm>
            <a:off x="4087368" y="1627632"/>
            <a:ext cx="1792224" cy="420624"/>
          </a:xfrm>
          <a:prstGeom prst="rect">
            <a:avLst/>
          </a:prstGeom>
          <a:noFill/>
          <a:ln/>
        </p:spPr>
        <p:txBody>
          <a:bodyPr wrap="square" lIns="0" tIns="0" rIns="0" bIns="0" rtlCol="0" anchor="ctr"/>
          <a:lstStyle/>
          <a:p>
            <a:pPr indent="0" marL="0">
              <a:buNone/>
            </a:pPr>
            <a:r>
              <a:rPr lang="en-US" sz="1500" b="1" dirty="0">
                <a:solidFill>
                  <a:schemeClr val="tx2"/>
                </a:solidFill>
              </a:rPr>
              <a:t>Create the bid</a:t>
            </a:r>
            <a:endParaRPr lang="en-US" sz="1500" dirty="0"/>
          </a:p>
        </p:txBody>
      </p:sp>
      <p:sp>
        <p:nvSpPr>
          <p:cNvPr id="16" name="Text 13"/>
          <p:cNvSpPr txBox="1"/>
          <p:nvPr/>
        </p:nvSpPr>
        <p:spPr>
          <a:xfrm>
            <a:off x="3538728" y="2194560"/>
            <a:ext cx="2286000" cy="1344168"/>
          </a:xfrm>
          <a:prstGeom prst="rect">
            <a:avLst/>
          </a:prstGeom>
          <a:noFill/>
          <a:ln/>
        </p:spPr>
        <p:txBody>
          <a:bodyPr wrap="square" lIns="0" tIns="0" rIns="0" bIns="0" rtlCol="0" anchor="t"/>
          <a:lstStyle/>
          <a:p>
            <a:pPr indent="0" marL="0">
              <a:buNone/>
            </a:pPr>
            <a:r>
              <a:rPr lang="en-US" sz="1350" dirty="0">
                <a:solidFill>
                  <a:schemeClr val="tx1"/>
                </a:solidFill>
              </a:rPr>
              <a:t>Specification from GeM category filters. Extra terms only from the ATC library or its Request Management System.</a:t>
            </a:r>
            <a:endParaRPr lang="en-US" sz="1350" dirty="0"/>
          </a:p>
        </p:txBody>
      </p:sp>
      <p:sp>
        <p:nvSpPr>
          <p:cNvPr id="17" name="Text 14"/>
          <p:cNvSpPr txBox="1"/>
          <p:nvPr/>
        </p:nvSpPr>
        <p:spPr>
          <a:xfrm>
            <a:off x="5971032" y="1572768"/>
            <a:ext cx="246888"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18" name="Step card 3"/>
          <p:cNvSpPr/>
          <p:nvPr/>
        </p:nvSpPr>
        <p:spPr>
          <a:xfrm>
            <a:off x="6199632" y="1463040"/>
            <a:ext cx="2615184" cy="2212848"/>
          </a:xfrm>
          <a:prstGeom prst="roundRect">
            <a:avLst>
              <a:gd name="adj" fmla="val 3306"/>
            </a:avLst>
          </a:prstGeom>
          <a:solidFill>
            <a:schemeClr val="bg2"/>
          </a:solidFill>
          <a:ln w="12700">
            <a:solidFill>
              <a:schemeClr val="bg2"/>
            </a:solidFill>
            <a:prstDash val="solid"/>
          </a:ln>
        </p:spPr>
      </p:sp>
      <p:sp>
        <p:nvSpPr>
          <p:cNvPr id="19" name="Marker 3"/>
          <p:cNvSpPr/>
          <p:nvPr/>
        </p:nvSpPr>
        <p:spPr>
          <a:xfrm>
            <a:off x="6364224" y="1627632"/>
            <a:ext cx="420624" cy="420624"/>
          </a:xfrm>
          <a:prstGeom prst="ellipse">
            <a:avLst/>
          </a:prstGeom>
          <a:solidFill>
            <a:schemeClr val="tx2"/>
          </a:solidFill>
          <a:ln w="12700">
            <a:solidFill>
              <a:schemeClr val="tx2"/>
            </a:solidFill>
            <a:prstDash val="solid"/>
          </a:ln>
        </p:spPr>
      </p:sp>
      <p:sp>
        <p:nvSpPr>
          <p:cNvPr id="20" name="Text 17"/>
          <p:cNvSpPr txBox="1"/>
          <p:nvPr/>
        </p:nvSpPr>
        <p:spPr>
          <a:xfrm>
            <a:off x="6364224" y="162763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1" name="Text 18"/>
          <p:cNvSpPr txBox="1"/>
          <p:nvPr/>
        </p:nvSpPr>
        <p:spPr>
          <a:xfrm>
            <a:off x="6912864" y="1627632"/>
            <a:ext cx="1792224" cy="420624"/>
          </a:xfrm>
          <a:prstGeom prst="rect">
            <a:avLst/>
          </a:prstGeom>
          <a:noFill/>
          <a:ln/>
        </p:spPr>
        <p:txBody>
          <a:bodyPr wrap="square" lIns="0" tIns="0" rIns="0" bIns="0" rtlCol="0" anchor="ctr"/>
          <a:lstStyle/>
          <a:p>
            <a:pPr indent="0" marL="0">
              <a:buNone/>
            </a:pPr>
            <a:r>
              <a:rPr lang="en-US" sz="1500" b="1" dirty="0">
                <a:solidFill>
                  <a:schemeClr val="tx2"/>
                </a:solidFill>
              </a:rPr>
              <a:t>Publish</a:t>
            </a:r>
            <a:endParaRPr lang="en-US" sz="1500" dirty="0"/>
          </a:p>
        </p:txBody>
      </p:sp>
      <p:sp>
        <p:nvSpPr>
          <p:cNvPr id="22" name="Text 19"/>
          <p:cNvSpPr txBox="1"/>
          <p:nvPr/>
        </p:nvSpPr>
        <p:spPr>
          <a:xfrm>
            <a:off x="6364224" y="2194560"/>
            <a:ext cx="2286000" cy="1344168"/>
          </a:xfrm>
          <a:prstGeom prst="rect">
            <a:avLst/>
          </a:prstGeom>
          <a:noFill/>
          <a:ln/>
        </p:spPr>
        <p:txBody>
          <a:bodyPr wrap="square" lIns="0" tIns="0" rIns="0" bIns="0" rtlCol="0" anchor="t"/>
          <a:lstStyle/>
          <a:p>
            <a:pPr indent="0" marL="0">
              <a:buNone/>
            </a:pPr>
            <a:r>
              <a:rPr lang="en-US" sz="1350" dirty="0">
                <a:solidFill>
                  <a:schemeClr val="tx1"/>
                </a:solidFill>
              </a:rPr>
              <a:t>At least 10 clear days to bid. Invitation goes to every seller listed in the category.</a:t>
            </a:r>
            <a:endParaRPr lang="en-US" sz="1350" dirty="0"/>
          </a:p>
        </p:txBody>
      </p:sp>
      <p:sp>
        <p:nvSpPr>
          <p:cNvPr id="23" name="Text 20"/>
          <p:cNvSpPr txBox="1"/>
          <p:nvPr/>
        </p:nvSpPr>
        <p:spPr>
          <a:xfrm>
            <a:off x="8796528" y="1572768"/>
            <a:ext cx="246888"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24" name="Step card 4"/>
          <p:cNvSpPr/>
          <p:nvPr/>
        </p:nvSpPr>
        <p:spPr>
          <a:xfrm>
            <a:off x="9025128" y="1463040"/>
            <a:ext cx="2615184" cy="2212848"/>
          </a:xfrm>
          <a:prstGeom prst="roundRect">
            <a:avLst>
              <a:gd name="adj" fmla="val 3306"/>
            </a:avLst>
          </a:prstGeom>
          <a:solidFill>
            <a:schemeClr val="bg2"/>
          </a:solidFill>
          <a:ln w="12700">
            <a:solidFill>
              <a:schemeClr val="bg2"/>
            </a:solidFill>
            <a:prstDash val="solid"/>
          </a:ln>
        </p:spPr>
      </p:sp>
      <p:sp>
        <p:nvSpPr>
          <p:cNvPr id="25" name="Marker 4"/>
          <p:cNvSpPr/>
          <p:nvPr/>
        </p:nvSpPr>
        <p:spPr>
          <a:xfrm>
            <a:off x="9189720" y="1627632"/>
            <a:ext cx="420624" cy="420624"/>
          </a:xfrm>
          <a:prstGeom prst="ellipse">
            <a:avLst/>
          </a:prstGeom>
          <a:solidFill>
            <a:schemeClr val="tx2"/>
          </a:solidFill>
          <a:ln w="12700">
            <a:solidFill>
              <a:schemeClr val="tx2"/>
            </a:solidFill>
            <a:prstDash val="solid"/>
          </a:ln>
        </p:spPr>
      </p:sp>
      <p:sp>
        <p:nvSpPr>
          <p:cNvPr id="26" name="Text 23"/>
          <p:cNvSpPr txBox="1"/>
          <p:nvPr/>
        </p:nvSpPr>
        <p:spPr>
          <a:xfrm>
            <a:off x="9189720" y="162763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7" name="Text 24"/>
          <p:cNvSpPr txBox="1"/>
          <p:nvPr/>
        </p:nvSpPr>
        <p:spPr>
          <a:xfrm>
            <a:off x="9738360" y="1627632"/>
            <a:ext cx="1792224" cy="420624"/>
          </a:xfrm>
          <a:prstGeom prst="rect">
            <a:avLst/>
          </a:prstGeom>
          <a:noFill/>
          <a:ln/>
        </p:spPr>
        <p:txBody>
          <a:bodyPr wrap="square" lIns="0" tIns="0" rIns="0" bIns="0" rtlCol="0" anchor="ctr"/>
          <a:lstStyle/>
          <a:p>
            <a:pPr indent="0" marL="0">
              <a:buNone/>
            </a:pPr>
            <a:r>
              <a:rPr lang="en-US" sz="1500" b="1" dirty="0">
                <a:solidFill>
                  <a:schemeClr val="tx2"/>
                </a:solidFill>
              </a:rPr>
              <a:t>Bid security</a:t>
            </a:r>
            <a:endParaRPr lang="en-US" sz="1500" dirty="0"/>
          </a:p>
        </p:txBody>
      </p:sp>
      <p:sp>
        <p:nvSpPr>
          <p:cNvPr id="28" name="Text 25"/>
          <p:cNvSpPr txBox="1"/>
          <p:nvPr/>
        </p:nvSpPr>
        <p:spPr>
          <a:xfrm>
            <a:off x="9189720" y="2194560"/>
            <a:ext cx="2286000" cy="1344168"/>
          </a:xfrm>
          <a:prstGeom prst="rect">
            <a:avLst/>
          </a:prstGeom>
          <a:noFill/>
          <a:ln/>
        </p:spPr>
        <p:txBody>
          <a:bodyPr wrap="square" lIns="0" tIns="0" rIns="0" bIns="0" rtlCol="0" anchor="t"/>
          <a:lstStyle/>
          <a:p>
            <a:pPr indent="0" marL="0">
              <a:buNone/>
            </a:pPr>
            <a:r>
              <a:rPr lang="en-US" sz="1350" dirty="0">
                <a:solidFill>
                  <a:schemeClr val="tx1"/>
                </a:solidFill>
              </a:rPr>
              <a:t>Earnest Money Deposit (EMD): none below ₹5 lakh; 1% recommended (0.5–5%). MSEs and startups exempt.</a:t>
            </a:r>
            <a:endParaRPr lang="en-US" sz="1350" dirty="0"/>
          </a:p>
        </p:txBody>
      </p:sp>
      <p:sp>
        <p:nvSpPr>
          <p:cNvPr id="29" name="Step card 5"/>
          <p:cNvSpPr/>
          <p:nvPr/>
        </p:nvSpPr>
        <p:spPr>
          <a:xfrm>
            <a:off x="548640" y="3858768"/>
            <a:ext cx="2615184" cy="2212848"/>
          </a:xfrm>
          <a:prstGeom prst="roundRect">
            <a:avLst>
              <a:gd name="adj" fmla="val 3306"/>
            </a:avLst>
          </a:prstGeom>
          <a:solidFill>
            <a:schemeClr val="accent5"/>
          </a:solidFill>
          <a:ln w="12700">
            <a:solidFill>
              <a:schemeClr val="accent5"/>
            </a:solidFill>
            <a:prstDash val="solid"/>
          </a:ln>
        </p:spPr>
      </p:sp>
      <p:sp>
        <p:nvSpPr>
          <p:cNvPr id="30" name="Marker 5"/>
          <p:cNvSpPr/>
          <p:nvPr/>
        </p:nvSpPr>
        <p:spPr>
          <a:xfrm>
            <a:off x="713232" y="4023360"/>
            <a:ext cx="420624" cy="420624"/>
          </a:xfrm>
          <a:prstGeom prst="ellipse">
            <a:avLst/>
          </a:prstGeom>
          <a:solidFill>
            <a:schemeClr val="tx2"/>
          </a:solidFill>
          <a:ln w="12700">
            <a:solidFill>
              <a:schemeClr val="tx2"/>
            </a:solidFill>
            <a:prstDash val="solid"/>
          </a:ln>
        </p:spPr>
      </p:sp>
      <p:sp>
        <p:nvSpPr>
          <p:cNvPr id="31" name="Text 28"/>
          <p:cNvSpPr txBox="1"/>
          <p:nvPr/>
        </p:nvSpPr>
        <p:spPr>
          <a:xfrm>
            <a:off x="713232" y="40233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32" name="Text 29"/>
          <p:cNvSpPr txBox="1"/>
          <p:nvPr/>
        </p:nvSpPr>
        <p:spPr>
          <a:xfrm>
            <a:off x="1261872" y="4023360"/>
            <a:ext cx="1792224" cy="420624"/>
          </a:xfrm>
          <a:prstGeom prst="rect">
            <a:avLst/>
          </a:prstGeom>
          <a:noFill/>
          <a:ln/>
        </p:spPr>
        <p:txBody>
          <a:bodyPr wrap="square" lIns="0" tIns="0" rIns="0" bIns="0" rtlCol="0" anchor="ctr"/>
          <a:lstStyle/>
          <a:p>
            <a:pPr indent="0" marL="0">
              <a:buNone/>
            </a:pPr>
            <a:r>
              <a:rPr lang="en-US" sz="1500" b="1" dirty="0">
                <a:solidFill>
                  <a:schemeClr val="tx2"/>
                </a:solidFill>
              </a:rPr>
              <a:t>Evaluate</a:t>
            </a:r>
            <a:endParaRPr lang="en-US" sz="1500" dirty="0"/>
          </a:p>
        </p:txBody>
      </p:sp>
      <p:sp>
        <p:nvSpPr>
          <p:cNvPr id="33" name="Text 30"/>
          <p:cNvSpPr txBox="1"/>
          <p:nvPr/>
        </p:nvSpPr>
        <p:spPr>
          <a:xfrm>
            <a:off x="713232" y="4590288"/>
            <a:ext cx="2286000" cy="1344168"/>
          </a:xfrm>
          <a:prstGeom prst="rect">
            <a:avLst/>
          </a:prstGeom>
          <a:noFill/>
          <a:ln/>
        </p:spPr>
        <p:txBody>
          <a:bodyPr wrap="square" lIns="0" tIns="0" rIns="0" bIns="0" rtlCol="0" anchor="t"/>
          <a:lstStyle/>
          <a:p>
            <a:pPr indent="0" marL="0">
              <a:buNone/>
            </a:pPr>
            <a:r>
              <a:rPr lang="en-US" sz="1350" dirty="0">
                <a:solidFill>
                  <a:schemeClr val="tx1"/>
                </a:solidFill>
              </a:rPr>
              <a:t>Buyer verifies documents; GeM does not. Technical, then price on landed cost. Bids valid 15 days.</a:t>
            </a:r>
            <a:endParaRPr lang="en-US" sz="1350" dirty="0"/>
          </a:p>
        </p:txBody>
      </p:sp>
      <p:sp>
        <p:nvSpPr>
          <p:cNvPr id="34" name="Text 31"/>
          <p:cNvSpPr txBox="1"/>
          <p:nvPr/>
        </p:nvSpPr>
        <p:spPr>
          <a:xfrm>
            <a:off x="3145536" y="3968496"/>
            <a:ext cx="246888"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35" name="Step card 6"/>
          <p:cNvSpPr/>
          <p:nvPr/>
        </p:nvSpPr>
        <p:spPr>
          <a:xfrm>
            <a:off x="3374136" y="3858768"/>
            <a:ext cx="2615184" cy="2212848"/>
          </a:xfrm>
          <a:prstGeom prst="roundRect">
            <a:avLst>
              <a:gd name="adj" fmla="val 3306"/>
            </a:avLst>
          </a:prstGeom>
          <a:solidFill>
            <a:schemeClr val="accent5"/>
          </a:solidFill>
          <a:ln w="12700">
            <a:solidFill>
              <a:schemeClr val="accent5"/>
            </a:solidFill>
            <a:prstDash val="solid"/>
          </a:ln>
        </p:spPr>
      </p:sp>
      <p:sp>
        <p:nvSpPr>
          <p:cNvPr id="36" name="Marker 6"/>
          <p:cNvSpPr/>
          <p:nvPr/>
        </p:nvSpPr>
        <p:spPr>
          <a:xfrm>
            <a:off x="3538728" y="4023360"/>
            <a:ext cx="420624" cy="420624"/>
          </a:xfrm>
          <a:prstGeom prst="ellipse">
            <a:avLst/>
          </a:prstGeom>
          <a:solidFill>
            <a:schemeClr val="tx2"/>
          </a:solidFill>
          <a:ln w="12700">
            <a:solidFill>
              <a:schemeClr val="tx2"/>
            </a:solidFill>
            <a:prstDash val="solid"/>
          </a:ln>
        </p:spPr>
      </p:sp>
      <p:sp>
        <p:nvSpPr>
          <p:cNvPr id="37" name="Text 34"/>
          <p:cNvSpPr txBox="1"/>
          <p:nvPr/>
        </p:nvSpPr>
        <p:spPr>
          <a:xfrm>
            <a:off x="3538728" y="40233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38" name="Text 35"/>
          <p:cNvSpPr txBox="1"/>
          <p:nvPr/>
        </p:nvSpPr>
        <p:spPr>
          <a:xfrm>
            <a:off x="4087368" y="4023360"/>
            <a:ext cx="1792224" cy="420624"/>
          </a:xfrm>
          <a:prstGeom prst="rect">
            <a:avLst/>
          </a:prstGeom>
          <a:noFill/>
          <a:ln/>
        </p:spPr>
        <p:txBody>
          <a:bodyPr wrap="square" lIns="0" tIns="0" rIns="0" bIns="0" rtlCol="0" anchor="ctr"/>
          <a:lstStyle/>
          <a:p>
            <a:pPr indent="0" marL="0">
              <a:buNone/>
            </a:pPr>
            <a:r>
              <a:rPr lang="en-US" sz="1500" b="1" dirty="0">
                <a:solidFill>
                  <a:schemeClr val="tx2"/>
                </a:solidFill>
              </a:rPr>
              <a:t>Reverse auction</a:t>
            </a:r>
            <a:endParaRPr lang="en-US" sz="1500" dirty="0"/>
          </a:p>
        </p:txBody>
      </p:sp>
      <p:sp>
        <p:nvSpPr>
          <p:cNvPr id="39" name="Text 36"/>
          <p:cNvSpPr txBox="1"/>
          <p:nvPr/>
        </p:nvSpPr>
        <p:spPr>
          <a:xfrm>
            <a:off x="3538728" y="4590288"/>
            <a:ext cx="2286000" cy="1344168"/>
          </a:xfrm>
          <a:prstGeom prst="rect">
            <a:avLst/>
          </a:prstGeom>
          <a:noFill/>
          <a:ln/>
        </p:spPr>
        <p:txBody>
          <a:bodyPr wrap="square" lIns="0" tIns="0" rIns="0" bIns="0" rtlCol="0" anchor="t"/>
          <a:lstStyle/>
          <a:p>
            <a:pPr indent="0" marL="0">
              <a:buNone/>
            </a:pPr>
            <a:r>
              <a:rPr lang="en-US" sz="1350" dirty="0">
                <a:solidFill>
                  <a:schemeClr val="tx1"/>
                </a:solidFill>
              </a:rPr>
              <a:t>Auto-extends 15 min. 50% or highest-bidder (H1) elimination. MSEs within 15%, Make in India within 20% stay in.</a:t>
            </a:r>
            <a:endParaRPr lang="en-US" sz="1350" dirty="0"/>
          </a:p>
        </p:txBody>
      </p:sp>
      <p:sp>
        <p:nvSpPr>
          <p:cNvPr id="40" name="Text 37"/>
          <p:cNvSpPr txBox="1"/>
          <p:nvPr/>
        </p:nvSpPr>
        <p:spPr>
          <a:xfrm>
            <a:off x="5971032" y="3968496"/>
            <a:ext cx="246888"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41" name="Step card 7"/>
          <p:cNvSpPr/>
          <p:nvPr/>
        </p:nvSpPr>
        <p:spPr>
          <a:xfrm>
            <a:off x="6199632" y="3858768"/>
            <a:ext cx="2615184" cy="2212848"/>
          </a:xfrm>
          <a:prstGeom prst="roundRect">
            <a:avLst>
              <a:gd name="adj" fmla="val 3306"/>
            </a:avLst>
          </a:prstGeom>
          <a:solidFill>
            <a:schemeClr val="accent5"/>
          </a:solidFill>
          <a:ln w="12700">
            <a:solidFill>
              <a:schemeClr val="accent5"/>
            </a:solidFill>
            <a:prstDash val="solid"/>
          </a:ln>
        </p:spPr>
      </p:sp>
      <p:sp>
        <p:nvSpPr>
          <p:cNvPr id="42" name="Marker 7"/>
          <p:cNvSpPr/>
          <p:nvPr/>
        </p:nvSpPr>
        <p:spPr>
          <a:xfrm>
            <a:off x="6364224" y="4023360"/>
            <a:ext cx="420624" cy="420624"/>
          </a:xfrm>
          <a:prstGeom prst="ellipse">
            <a:avLst/>
          </a:prstGeom>
          <a:solidFill>
            <a:schemeClr val="tx2"/>
          </a:solidFill>
          <a:ln w="12700">
            <a:solidFill>
              <a:schemeClr val="tx2"/>
            </a:solidFill>
            <a:prstDash val="solid"/>
          </a:ln>
        </p:spPr>
      </p:sp>
      <p:sp>
        <p:nvSpPr>
          <p:cNvPr id="43" name="Text 40"/>
          <p:cNvSpPr txBox="1"/>
          <p:nvPr/>
        </p:nvSpPr>
        <p:spPr>
          <a:xfrm>
            <a:off x="6364224" y="40233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7</a:t>
            </a:r>
            <a:endParaRPr lang="en-US" sz="1500" dirty="0"/>
          </a:p>
        </p:txBody>
      </p:sp>
      <p:sp>
        <p:nvSpPr>
          <p:cNvPr id="44" name="Text 41"/>
          <p:cNvSpPr txBox="1"/>
          <p:nvPr/>
        </p:nvSpPr>
        <p:spPr>
          <a:xfrm>
            <a:off x="6912864" y="4023360"/>
            <a:ext cx="1792224" cy="420624"/>
          </a:xfrm>
          <a:prstGeom prst="rect">
            <a:avLst/>
          </a:prstGeom>
          <a:noFill/>
          <a:ln/>
        </p:spPr>
        <p:txBody>
          <a:bodyPr wrap="square" lIns="0" tIns="0" rIns="0" bIns="0" rtlCol="0" anchor="ctr"/>
          <a:lstStyle/>
          <a:p>
            <a:pPr indent="0" marL="0">
              <a:buNone/>
            </a:pPr>
            <a:r>
              <a:rPr lang="en-US" sz="1500" b="1" dirty="0">
                <a:solidFill>
                  <a:schemeClr val="tx2"/>
                </a:solidFill>
              </a:rPr>
              <a:t>Award</a:t>
            </a:r>
            <a:endParaRPr lang="en-US" sz="1500" dirty="0"/>
          </a:p>
        </p:txBody>
      </p:sp>
      <p:sp>
        <p:nvSpPr>
          <p:cNvPr id="45" name="Text 42"/>
          <p:cNvSpPr txBox="1"/>
          <p:nvPr/>
        </p:nvSpPr>
        <p:spPr>
          <a:xfrm>
            <a:off x="6364224" y="4590288"/>
            <a:ext cx="2286000" cy="1344168"/>
          </a:xfrm>
          <a:prstGeom prst="rect">
            <a:avLst/>
          </a:prstGeom>
          <a:noFill/>
          <a:ln/>
        </p:spPr>
        <p:txBody>
          <a:bodyPr wrap="square" lIns="0" tIns="0" rIns="0" bIns="0" rtlCol="0" anchor="t"/>
          <a:lstStyle/>
          <a:p>
            <a:pPr indent="0" marL="0">
              <a:buNone/>
            </a:pPr>
            <a:r>
              <a:rPr lang="en-US" sz="1350" dirty="0">
                <a:solidFill>
                  <a:schemeClr val="tx1"/>
                </a:solidFill>
              </a:rPr>
              <a:t>Performance security up to 5%, within 15 days. None for direct, L1 or PBP purchases.</a:t>
            </a:r>
            <a:endParaRPr lang="en-US" sz="1350" dirty="0"/>
          </a:p>
        </p:txBody>
      </p:sp>
      <p:sp>
        <p:nvSpPr>
          <p:cNvPr id="46" name="Text 43"/>
          <p:cNvSpPr txBox="1"/>
          <p:nvPr/>
        </p:nvSpPr>
        <p:spPr>
          <a:xfrm>
            <a:off x="8796528" y="3968496"/>
            <a:ext cx="246888"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47" name="Step card 8"/>
          <p:cNvSpPr/>
          <p:nvPr/>
        </p:nvSpPr>
        <p:spPr>
          <a:xfrm>
            <a:off x="9025128" y="3858768"/>
            <a:ext cx="2615184" cy="2212848"/>
          </a:xfrm>
          <a:prstGeom prst="roundRect">
            <a:avLst>
              <a:gd name="adj" fmla="val 3306"/>
            </a:avLst>
          </a:prstGeom>
          <a:solidFill>
            <a:schemeClr val="accent5"/>
          </a:solidFill>
          <a:ln w="12700">
            <a:solidFill>
              <a:schemeClr val="accent5"/>
            </a:solidFill>
            <a:prstDash val="solid"/>
          </a:ln>
        </p:spPr>
      </p:sp>
      <p:sp>
        <p:nvSpPr>
          <p:cNvPr id="48" name="Marker 8"/>
          <p:cNvSpPr/>
          <p:nvPr/>
        </p:nvSpPr>
        <p:spPr>
          <a:xfrm>
            <a:off x="9189720" y="4023360"/>
            <a:ext cx="420624" cy="420624"/>
          </a:xfrm>
          <a:prstGeom prst="ellipse">
            <a:avLst/>
          </a:prstGeom>
          <a:solidFill>
            <a:schemeClr val="accent1"/>
          </a:solidFill>
          <a:ln w="12700">
            <a:solidFill>
              <a:schemeClr val="accent1"/>
            </a:solidFill>
            <a:prstDash val="solid"/>
          </a:ln>
        </p:spPr>
      </p:sp>
      <p:sp>
        <p:nvSpPr>
          <p:cNvPr id="49" name="Text 46"/>
          <p:cNvSpPr txBox="1"/>
          <p:nvPr/>
        </p:nvSpPr>
        <p:spPr>
          <a:xfrm>
            <a:off x="9189720" y="40233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8</a:t>
            </a:r>
            <a:endParaRPr lang="en-US" sz="1500" dirty="0"/>
          </a:p>
        </p:txBody>
      </p:sp>
      <p:sp>
        <p:nvSpPr>
          <p:cNvPr id="50" name="Text 47"/>
          <p:cNvSpPr txBox="1"/>
          <p:nvPr/>
        </p:nvSpPr>
        <p:spPr>
          <a:xfrm>
            <a:off x="9738360" y="4023360"/>
            <a:ext cx="1792224" cy="420624"/>
          </a:xfrm>
          <a:prstGeom prst="rect">
            <a:avLst/>
          </a:prstGeom>
          <a:noFill/>
          <a:ln/>
        </p:spPr>
        <p:txBody>
          <a:bodyPr wrap="square" lIns="0" tIns="0" rIns="0" bIns="0" rtlCol="0" anchor="ctr"/>
          <a:lstStyle/>
          <a:p>
            <a:pPr indent="0" marL="0">
              <a:buNone/>
            </a:pPr>
            <a:r>
              <a:rPr lang="en-US" sz="1500" b="1" dirty="0">
                <a:solidFill>
                  <a:schemeClr val="tx2"/>
                </a:solidFill>
              </a:rPr>
              <a:t>Deliver and pay</a:t>
            </a:r>
            <a:endParaRPr lang="en-US" sz="1500" dirty="0"/>
          </a:p>
        </p:txBody>
      </p:sp>
      <p:sp>
        <p:nvSpPr>
          <p:cNvPr id="51" name="Text 48"/>
          <p:cNvSpPr txBox="1"/>
          <p:nvPr/>
        </p:nvSpPr>
        <p:spPr>
          <a:xfrm>
            <a:off x="9189720" y="4590288"/>
            <a:ext cx="2286000" cy="1344168"/>
          </a:xfrm>
          <a:prstGeom prst="rect">
            <a:avLst/>
          </a:prstGeom>
          <a:noFill/>
          <a:ln/>
        </p:spPr>
        <p:txBody>
          <a:bodyPr wrap="square" lIns="0" tIns="0" rIns="0" bIns="0" rtlCol="0" anchor="t"/>
          <a:lstStyle/>
          <a:p>
            <a:pPr indent="0" marL="0">
              <a:buNone/>
            </a:pPr>
            <a:r>
              <a:rPr lang="en-US" sz="1350" dirty="0">
                <a:solidFill>
                  <a:schemeClr val="tx1"/>
                </a:solidFill>
              </a:rPr>
              <a:t>10 days to accept or reject; 100% paid within 10 days of acceptance. Liquidated Damages 0.5%/week, max 5% (10%).</a:t>
            </a:r>
            <a:endParaRPr lang="en-US" sz="1350" dirty="0"/>
          </a:p>
        </p:txBody>
      </p:sp>
      <p:sp>
        <p:nvSpPr>
          <p:cNvPr id="25" name="Slide Number Placeholder 0"/>
          <p:cNvSpPr>
            <a:spLocks noGrp="1"/>
          </p:cNvSpPr>
          <p:nvPr>
            <p:ph type="sldNum" sz="quarter" idx="4294967295"/>
          </p:nvPr>
        </p:nvSpPr>
        <p:spPr>
          <a:xfrm>
            <a:off x="1120140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PART 3  ·  THE BIDDING PROCESS</a:t>
            </a:r>
            <a:endParaRPr lang="en-US" sz="1100" dirty="0"/>
          </a:p>
        </p:txBody>
      </p:sp>
      <p:sp>
        <p:nvSpPr>
          <p:cNvPr id="3" name="Text 0"/>
          <p:cNvSpPr/>
          <p:nvPr>
            <p:ph idx="101" type="title" hasCustomPrompt="1"/>
          </p:nvPr>
        </p:nvSpPr>
        <p:spPr>
          <a:xfrm>
            <a:off x="548640" y="566928"/>
            <a:ext cx="11064240" cy="658368"/>
          </a:xfrm>
          <a:prstGeom prst="rect">
            <a:avLst/>
          </a:prstGeom>
          <a:noFill/>
          <a:ln/>
        </p:spPr>
        <p:txBody>
          <a:bodyPr wrap="square" lIns="0" tIns="0" rIns="0" bIns="0" rtlCol="0" anchor="ctr"/>
          <a:lstStyle/>
          <a:p>
            <a:pPr algn="l" indent="0" marL="0">
              <a:buNone/>
            </a:pPr>
            <a:r>
              <a:rPr lang="en-US" sz="3200" b="1" dirty="0">
                <a:solidFill>
                  <a:schemeClr val="tx2"/>
                </a:solidFill>
              </a:rPr>
              <a:t>Eligibility, preferences and safeguards</a:t>
            </a:r>
            <a:endParaRPr lang="en-US" sz="3200" dirty="0"/>
          </a:p>
        </p:txBody>
      </p:sp>
      <p:sp>
        <p:nvSpPr>
          <p:cNvPr id="4" name="Text 0"/>
          <p:cNvSpPr/>
          <p:nvPr>
            <p:ph idx="102" type="body" hasCustomPrompt="1"/>
          </p:nvPr>
        </p:nvSpPr>
        <p:spPr>
          <a:xfrm>
            <a:off x="548640" y="6272784"/>
            <a:ext cx="10332720" cy="384048"/>
          </a:xfrm>
          <a:prstGeom prst="rect">
            <a:avLst/>
          </a:prstGeom>
          <a:noFill/>
          <a:ln/>
        </p:spPr>
        <p:txBody>
          <a:bodyPr wrap="square" lIns="0" tIns="0" rIns="0" bIns="0" rtlCol="0" anchor="t"/>
          <a:lstStyle/>
          <a:p>
            <a:pPr indent="0" marL="0">
              <a:buNone/>
            </a:pPr>
            <a:r>
              <a:rPr lang="en-US" sz="1000" dirty="0">
                <a:solidFill>
                  <a:schemeClr val="accent3"/>
                </a:solidFill>
              </a:rPr>
              <a:t>Sources: GeM GTC v1.29, cl. 5, 9, 16–18, 21, 24, 26–28, 31; DoE Guidelines for Arbitration and Mediation, 3 Jun 2024; Order (Public Procurement No. 4), 23 Feb 2023.</a:t>
            </a:r>
            <a:endParaRPr lang="en-US" sz="1000" dirty="0"/>
          </a:p>
        </p:txBody>
      </p:sp>
      <p:sp>
        <p:nvSpPr>
          <p:cNvPr id="6" name="Precedence band"/>
          <p:cNvSpPr/>
          <p:nvPr/>
        </p:nvSpPr>
        <p:spPr>
          <a:xfrm>
            <a:off x="548640" y="1463040"/>
            <a:ext cx="11091672" cy="640080"/>
          </a:xfrm>
          <a:prstGeom prst="roundRect">
            <a:avLst>
              <a:gd name="adj" fmla="val 11429"/>
            </a:avLst>
          </a:prstGeom>
          <a:solidFill>
            <a:schemeClr val="tx2"/>
          </a:solidFill>
          <a:ln w="12700">
            <a:solidFill>
              <a:schemeClr val="tx2"/>
            </a:solidFill>
            <a:prstDash val="solid"/>
          </a:ln>
        </p:spPr>
      </p:sp>
      <p:sp>
        <p:nvSpPr>
          <p:cNvPr id="7" name="Text 4"/>
          <p:cNvSpPr txBox="1"/>
          <p:nvPr/>
        </p:nvSpPr>
        <p:spPr>
          <a:xfrm>
            <a:off x="777240" y="1463040"/>
            <a:ext cx="10698480" cy="640080"/>
          </a:xfrm>
          <a:prstGeom prst="rect">
            <a:avLst/>
          </a:prstGeom>
          <a:noFill/>
          <a:ln/>
        </p:spPr>
        <p:txBody>
          <a:bodyPr wrap="square" lIns="0" tIns="0" rIns="0" bIns="0" rtlCol="0" anchor="ctr"/>
          <a:lstStyle/>
          <a:p>
            <a:pPr indent="0" marL="0">
              <a:buNone/>
            </a:pPr>
            <a:r>
              <a:rPr lang="en-US" sz="1600" b="1" dirty="0">
                <a:solidFill>
                  <a:schemeClr val="accent1"/>
                </a:solidFill>
              </a:rPr>
              <a:t>Which terms win:  </a:t>
            </a:r>
            <a:pPr indent="0" marL="0">
              <a:buNone/>
            </a:pPr>
            <a:r>
              <a:rPr lang="en-US" sz="1600" b="1" dirty="0">
                <a:solidFill>
                  <a:schemeClr val="bg1"/>
                </a:solidFill>
              </a:rPr>
              <a:t>ATC  ›  Special Terms and Conditions (STC)  ›  GTC</a:t>
            </a:r>
            <a:pPr indent="0" marL="0">
              <a:buNone/>
            </a:pPr>
            <a:r>
              <a:rPr lang="en-US" sz="1600" dirty="0">
                <a:solidFill>
                  <a:schemeClr val="accent4"/>
                </a:solidFill>
              </a:rPr>
              <a:t>    (GTC cl. 5)</a:t>
            </a:r>
            <a:endParaRPr lang="en-US" sz="1600" dirty="0"/>
          </a:p>
        </p:txBody>
      </p:sp>
      <p:sp>
        <p:nvSpPr>
          <p:cNvPr id="8" name="Safeguard card 1"/>
          <p:cNvSpPr/>
          <p:nvPr/>
        </p:nvSpPr>
        <p:spPr>
          <a:xfrm>
            <a:off x="548640" y="2286000"/>
            <a:ext cx="3611880" cy="3794760"/>
          </a:xfrm>
          <a:prstGeom prst="roundRect">
            <a:avLst>
              <a:gd name="adj" fmla="val 2025"/>
            </a:avLst>
          </a:prstGeom>
          <a:solidFill>
            <a:schemeClr val="bg2"/>
          </a:solidFill>
          <a:ln w="12700">
            <a:solidFill>
              <a:schemeClr val="bg2"/>
            </a:solidFill>
            <a:prstDash val="solid"/>
          </a:ln>
        </p:spPr>
      </p:sp>
      <p:sp>
        <p:nvSpPr>
          <p:cNvPr id="9" name="Text 6"/>
          <p:cNvSpPr txBox="1"/>
          <p:nvPr/>
        </p:nvSpPr>
        <p:spPr>
          <a:xfrm>
            <a:off x="749808" y="2423160"/>
            <a:ext cx="3209544" cy="365760"/>
          </a:xfrm>
          <a:prstGeom prst="rect">
            <a:avLst/>
          </a:prstGeom>
          <a:noFill/>
          <a:ln/>
        </p:spPr>
        <p:txBody>
          <a:bodyPr wrap="square" lIns="0" tIns="0" rIns="0" bIns="0" rtlCol="0" anchor="t"/>
          <a:lstStyle/>
          <a:p>
            <a:pPr indent="0" marL="0">
              <a:buNone/>
            </a:pPr>
            <a:r>
              <a:rPr lang="en-US" sz="1700" b="1" dirty="0">
                <a:solidFill>
                  <a:schemeClr val="tx2"/>
                </a:solidFill>
              </a:rPr>
              <a:t>Who can sell</a:t>
            </a:r>
            <a:endParaRPr lang="en-US" sz="1700" dirty="0"/>
          </a:p>
        </p:txBody>
      </p:sp>
      <p:sp>
        <p:nvSpPr>
          <p:cNvPr id="10" name="Text 7"/>
          <p:cNvSpPr txBox="1"/>
          <p:nvPr/>
        </p:nvSpPr>
        <p:spPr>
          <a:xfrm>
            <a:off x="749808" y="2880360"/>
            <a:ext cx="3209544"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OEMs and authorised resellers, under GeM's catalogue quadrants</a:t>
            </a:r>
            <a:endParaRPr lang="en-US" sz="1600" dirty="0"/>
          </a:p>
          <a:p>
            <a:pPr marL="342900" indent="-342900">
              <a:spcAft>
                <a:spcPts val="1000"/>
              </a:spcAft>
              <a:buSzPct val="100000"/>
              <a:buChar char="•"/>
            </a:pPr>
            <a:r>
              <a:rPr lang="en-US" sz="1600" dirty="0">
                <a:solidFill>
                  <a:schemeClr val="tx1"/>
                </a:solidFill>
              </a:rPr>
              <a:t>Vendor assessment or Bureau of Indian Standards licence where the bid requires it</a:t>
            </a:r>
            <a:endParaRPr lang="en-US" sz="1600" dirty="0"/>
          </a:p>
          <a:p>
            <a:pPr marL="342900" indent="-342900">
              <a:spcAft>
                <a:spcPts val="1000"/>
              </a:spcAft>
              <a:buSzPct val="100000"/>
              <a:buChar char="•"/>
            </a:pPr>
            <a:r>
              <a:rPr lang="en-US" sz="1600" dirty="0">
                <a:solidFill>
                  <a:schemeClr val="tx1"/>
                </a:solidFill>
              </a:rPr>
              <a:t>MSEs and startups exempt from bid security</a:t>
            </a:r>
            <a:endParaRPr lang="en-US" sz="1600" dirty="0"/>
          </a:p>
          <a:p>
            <a:pPr marL="342900" indent="-342900">
              <a:spcAft>
                <a:spcPts val="1000"/>
              </a:spcAft>
              <a:buSzPct val="100000"/>
              <a:buChar char="•"/>
            </a:pPr>
            <a:r>
              <a:rPr lang="en-US" sz="1600" dirty="0">
                <a:solidFill>
                  <a:schemeClr val="tx1"/>
                </a:solidFill>
              </a:rPr>
              <a:t>Land-border bidders must be registered</a:t>
            </a:r>
            <a:endParaRPr lang="en-US" sz="1600" dirty="0"/>
          </a:p>
        </p:txBody>
      </p:sp>
      <p:sp>
        <p:nvSpPr>
          <p:cNvPr id="11" name="Safeguard card 2"/>
          <p:cNvSpPr/>
          <p:nvPr/>
        </p:nvSpPr>
        <p:spPr>
          <a:xfrm>
            <a:off x="4288536" y="2286000"/>
            <a:ext cx="3611880" cy="3794760"/>
          </a:xfrm>
          <a:prstGeom prst="roundRect">
            <a:avLst>
              <a:gd name="adj" fmla="val 2025"/>
            </a:avLst>
          </a:prstGeom>
          <a:solidFill>
            <a:schemeClr val="accent5"/>
          </a:solidFill>
          <a:ln w="12700">
            <a:solidFill>
              <a:schemeClr val="accent5"/>
            </a:solidFill>
            <a:prstDash val="solid"/>
          </a:ln>
        </p:spPr>
      </p:sp>
      <p:sp>
        <p:nvSpPr>
          <p:cNvPr id="12" name="Text 9"/>
          <p:cNvSpPr txBox="1"/>
          <p:nvPr/>
        </p:nvSpPr>
        <p:spPr>
          <a:xfrm>
            <a:off x="4489704" y="2423160"/>
            <a:ext cx="3209544" cy="365760"/>
          </a:xfrm>
          <a:prstGeom prst="rect">
            <a:avLst/>
          </a:prstGeom>
          <a:noFill/>
          <a:ln/>
        </p:spPr>
        <p:txBody>
          <a:bodyPr wrap="square" lIns="0" tIns="0" rIns="0" bIns="0" rtlCol="0" anchor="t"/>
          <a:lstStyle/>
          <a:p>
            <a:pPr indent="0" marL="0">
              <a:buNone/>
            </a:pPr>
            <a:r>
              <a:rPr lang="en-US" sz="1700" b="1" dirty="0">
                <a:solidFill>
                  <a:schemeClr val="tx2"/>
                </a:solidFill>
              </a:rPr>
              <a:t>Integrity and grievances</a:t>
            </a:r>
            <a:endParaRPr lang="en-US" sz="1700" dirty="0"/>
          </a:p>
        </p:txBody>
      </p:sp>
      <p:sp>
        <p:nvSpPr>
          <p:cNvPr id="13" name="Text 10"/>
          <p:cNvSpPr txBox="1"/>
          <p:nvPr/>
        </p:nvSpPr>
        <p:spPr>
          <a:xfrm>
            <a:off x="4489704" y="2880360"/>
            <a:ext cx="3209544"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Integrity Pact and Incident Management Policy bind buyers and sellers</a:t>
            </a:r>
            <a:endParaRPr lang="en-US" sz="1600" dirty="0"/>
          </a:p>
          <a:p>
            <a:pPr marL="342900" indent="-342900">
              <a:spcAft>
                <a:spcPts val="1000"/>
              </a:spcAft>
              <a:buSzPct val="100000"/>
              <a:buChar char="•"/>
            </a:pPr>
            <a:r>
              <a:rPr lang="en-US" sz="1600" dirty="0">
                <a:solidFill>
                  <a:schemeClr val="tx1"/>
                </a:solidFill>
              </a:rPr>
              <a:t>Suspension or debarment; at least 3 months for bid-security default</a:t>
            </a:r>
            <a:endParaRPr lang="en-US" sz="1600" dirty="0"/>
          </a:p>
          <a:p>
            <a:pPr marL="342900" indent="-342900">
              <a:spcAft>
                <a:spcPts val="1000"/>
              </a:spcAft>
              <a:buSzPct val="100000"/>
              <a:buChar char="•"/>
            </a:pPr>
            <a:r>
              <a:rPr lang="en-US" sz="1600" dirty="0">
                <a:solidFill>
                  <a:schemeClr val="tx1"/>
                </a:solidFill>
              </a:rPr>
              <a:t>Grievances go to the buyer first; GeM only for breaches of the bid's Disclaimer</a:t>
            </a:r>
            <a:endParaRPr lang="en-US" sz="1600" dirty="0"/>
          </a:p>
        </p:txBody>
      </p:sp>
      <p:sp>
        <p:nvSpPr>
          <p:cNvPr id="14" name="Safeguard card 3"/>
          <p:cNvSpPr/>
          <p:nvPr/>
        </p:nvSpPr>
        <p:spPr>
          <a:xfrm>
            <a:off x="8028432" y="2286000"/>
            <a:ext cx="3611880" cy="3794760"/>
          </a:xfrm>
          <a:prstGeom prst="roundRect">
            <a:avLst>
              <a:gd name="adj" fmla="val 2025"/>
            </a:avLst>
          </a:prstGeom>
          <a:solidFill>
            <a:schemeClr val="bg2"/>
          </a:solidFill>
          <a:ln w="12700">
            <a:solidFill>
              <a:schemeClr val="bg2"/>
            </a:solidFill>
            <a:prstDash val="solid"/>
          </a:ln>
        </p:spPr>
      </p:sp>
      <p:sp>
        <p:nvSpPr>
          <p:cNvPr id="15" name="Text 12"/>
          <p:cNvSpPr txBox="1"/>
          <p:nvPr/>
        </p:nvSpPr>
        <p:spPr>
          <a:xfrm>
            <a:off x="8229600" y="2423160"/>
            <a:ext cx="3209544" cy="365760"/>
          </a:xfrm>
          <a:prstGeom prst="rect">
            <a:avLst/>
          </a:prstGeom>
          <a:noFill/>
          <a:ln/>
        </p:spPr>
        <p:txBody>
          <a:bodyPr wrap="square" lIns="0" tIns="0" rIns="0" bIns="0" rtlCol="0" anchor="t"/>
          <a:lstStyle/>
          <a:p>
            <a:pPr indent="0" marL="0">
              <a:buNone/>
            </a:pPr>
            <a:r>
              <a:rPr lang="en-US" sz="1700" b="1" dirty="0">
                <a:solidFill>
                  <a:schemeClr val="tx2"/>
                </a:solidFill>
              </a:rPr>
              <a:t>Contract and disputes</a:t>
            </a:r>
            <a:endParaRPr lang="en-US" sz="1700" dirty="0"/>
          </a:p>
        </p:txBody>
      </p:sp>
      <p:sp>
        <p:nvSpPr>
          <p:cNvPr id="16" name="Text 13"/>
          <p:cNvSpPr txBox="1"/>
          <p:nvPr/>
        </p:nvSpPr>
        <p:spPr>
          <a:xfrm>
            <a:off x="8229600" y="2880360"/>
            <a:ext cx="3209544"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Indian law; courts where the buyer is located</a:t>
            </a:r>
            <a:endParaRPr lang="en-US" sz="1600" dirty="0"/>
          </a:p>
          <a:p>
            <a:pPr marL="342900" indent="-342900">
              <a:spcAft>
                <a:spcPts val="1000"/>
              </a:spcAft>
              <a:buSzPct val="100000"/>
              <a:buChar char="•"/>
            </a:pPr>
            <a:r>
              <a:rPr lang="en-US" sz="1600" dirty="0">
                <a:solidFill>
                  <a:schemeClr val="tx1"/>
                </a:solidFill>
              </a:rPr>
              <a:t>Direct, L1, PBP: 30 days amicable, then a Dispute Resolution Committee, then DoE guidelines</a:t>
            </a:r>
            <a:endParaRPr lang="en-US" sz="1600" dirty="0"/>
          </a:p>
          <a:p>
            <a:pPr marL="342900" indent="-342900">
              <a:spcAft>
                <a:spcPts val="1000"/>
              </a:spcAft>
              <a:buSzPct val="100000"/>
              <a:buChar char="•"/>
            </a:pPr>
            <a:r>
              <a:rPr lang="en-US" sz="1600" dirty="0">
                <a:solidFill>
                  <a:schemeClr val="tx1"/>
                </a:solidFill>
              </a:rPr>
              <a:t>GeM is never a party</a:t>
            </a:r>
            <a:endParaRPr lang="en-US" sz="1600" dirty="0"/>
          </a:p>
          <a:p>
            <a:pPr marL="342900" indent="-342900">
              <a:spcAft>
                <a:spcPts val="1000"/>
              </a:spcAft>
              <a:buSzPct val="100000"/>
              <a:buChar char="•"/>
            </a:pPr>
            <a:r>
              <a:rPr lang="en-US" sz="1600" dirty="0">
                <a:solidFill>
                  <a:schemeClr val="tx1"/>
                </a:solidFill>
              </a:rPr>
              <a:t>Liability capped at contract value</a:t>
            </a:r>
            <a:endParaRPr lang="en-US" sz="1600" dirty="0"/>
          </a:p>
        </p:txBody>
      </p:sp>
      <p:sp>
        <p:nvSpPr>
          <p:cNvPr id="25" name="Slide Number Placeholder 0"/>
          <p:cNvSpPr>
            <a:spLocks noGrp="1"/>
          </p:cNvSpPr>
          <p:nvPr>
            <p:ph type="sldNum" sz="quarter" idx="4294967295"/>
          </p:nvPr>
        </p:nvSpPr>
        <p:spPr>
          <a:xfrm>
            <a:off x="1120140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IN SUMMARY</a:t>
            </a:r>
            <a:endParaRPr lang="en-US" sz="1100" dirty="0"/>
          </a:p>
        </p:txBody>
      </p:sp>
      <p:sp>
        <p:nvSpPr>
          <p:cNvPr id="3" name="Text 0"/>
          <p:cNvSpPr/>
          <p:nvPr>
            <p:ph idx="101" type="title" hasCustomPrompt="1"/>
          </p:nvPr>
        </p:nvSpPr>
        <p:spPr>
          <a:xfrm>
            <a:off x="548640" y="566928"/>
            <a:ext cx="11064240" cy="658368"/>
          </a:xfrm>
          <a:prstGeom prst="rect">
            <a:avLst/>
          </a:prstGeom>
          <a:noFill/>
          <a:ln/>
        </p:spPr>
        <p:txBody>
          <a:bodyPr wrap="square" lIns="0" tIns="0" rIns="0" bIns="0" rtlCol="0" anchor="ctr"/>
          <a:lstStyle/>
          <a:p>
            <a:pPr algn="l" indent="0" marL="0">
              <a:buNone/>
            </a:pPr>
            <a:r>
              <a:rPr lang="en-US" sz="3200" b="1" dirty="0">
                <a:solidFill>
                  <a:schemeClr val="bg1"/>
                </a:solidFill>
              </a:rPr>
              <a:t>Five things to remember</a:t>
            </a:r>
            <a:endParaRPr lang="en-US" sz="3200" dirty="0"/>
          </a:p>
        </p:txBody>
      </p:sp>
      <p:sp>
        <p:nvSpPr>
          <p:cNvPr id="5" name="Marker 1"/>
          <p:cNvSpPr/>
          <p:nvPr/>
        </p:nvSpPr>
        <p:spPr>
          <a:xfrm>
            <a:off x="731520" y="1600200"/>
            <a:ext cx="548640" cy="548640"/>
          </a:xfrm>
          <a:prstGeom prst="ellipse">
            <a:avLst/>
          </a:prstGeom>
          <a:solidFill>
            <a:schemeClr val="accent1"/>
          </a:solidFill>
          <a:ln w="12700">
            <a:solidFill>
              <a:schemeClr val="accent1"/>
            </a:solidFill>
            <a:prstDash val="solid"/>
          </a:ln>
        </p:spPr>
      </p:sp>
      <p:sp>
        <p:nvSpPr>
          <p:cNvPr id="6" name="Text 3"/>
          <p:cNvSpPr txBox="1"/>
          <p:nvPr/>
        </p:nvSpPr>
        <p:spPr>
          <a:xfrm>
            <a:off x="731520" y="16002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1508760" y="1600200"/>
            <a:ext cx="9875520" cy="548640"/>
          </a:xfrm>
          <a:prstGeom prst="rect">
            <a:avLst/>
          </a:prstGeom>
          <a:noFill/>
          <a:ln/>
        </p:spPr>
        <p:txBody>
          <a:bodyPr wrap="square" lIns="0" tIns="0" rIns="0" bIns="0" rtlCol="0" anchor="ctr"/>
          <a:lstStyle/>
          <a:p>
            <a:pPr indent="0" marL="0">
              <a:buNone/>
            </a:pPr>
            <a:r>
              <a:rPr lang="en-US" sz="2000" dirty="0">
                <a:solidFill>
                  <a:schemeClr val="bg1"/>
                </a:solidFill>
              </a:rPr>
              <a:t>GeM is mandatory, not optional, for anything listed on it (GFR Rule 149).</a:t>
            </a:r>
            <a:endParaRPr lang="en-US" sz="2000" dirty="0"/>
          </a:p>
        </p:txBody>
      </p:sp>
      <p:sp>
        <p:nvSpPr>
          <p:cNvPr id="8" name="Marker 2"/>
          <p:cNvSpPr/>
          <p:nvPr/>
        </p:nvSpPr>
        <p:spPr>
          <a:xfrm>
            <a:off x="731520" y="2468880"/>
            <a:ext cx="548640" cy="548640"/>
          </a:xfrm>
          <a:prstGeom prst="ellipse">
            <a:avLst/>
          </a:prstGeom>
          <a:solidFill>
            <a:schemeClr val="accent1"/>
          </a:solidFill>
          <a:ln w="12700">
            <a:solidFill>
              <a:schemeClr val="accent1"/>
            </a:solidFill>
            <a:prstDash val="solid"/>
          </a:ln>
        </p:spPr>
      </p:sp>
      <p:sp>
        <p:nvSpPr>
          <p:cNvPr id="9" name="Text 6"/>
          <p:cNvSpPr txBox="1"/>
          <p:nvPr/>
        </p:nvSpPr>
        <p:spPr>
          <a:xfrm>
            <a:off x="731520" y="24688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7"/>
          <p:cNvSpPr txBox="1"/>
          <p:nvPr/>
        </p:nvSpPr>
        <p:spPr>
          <a:xfrm>
            <a:off x="1508760" y="2468880"/>
            <a:ext cx="9875520" cy="548640"/>
          </a:xfrm>
          <a:prstGeom prst="rect">
            <a:avLst/>
          </a:prstGeom>
          <a:noFill/>
          <a:ln/>
        </p:spPr>
        <p:txBody>
          <a:bodyPr wrap="square" lIns="0" tIns="0" rIns="0" bIns="0" rtlCol="0" anchor="ctr"/>
          <a:lstStyle/>
          <a:p>
            <a:pPr indent="0" marL="0">
              <a:buNone/>
            </a:pPr>
            <a:r>
              <a:rPr lang="en-US" sz="2000" dirty="0">
                <a:solidFill>
                  <a:schemeClr val="bg1"/>
                </a:solidFill>
              </a:rPr>
              <a:t>Value decides the route: ₹50,000 direct, ₹10 lakh L1, and ₹5 lakh for PBP.</a:t>
            </a:r>
            <a:endParaRPr lang="en-US" sz="2000" dirty="0"/>
          </a:p>
        </p:txBody>
      </p:sp>
      <p:sp>
        <p:nvSpPr>
          <p:cNvPr id="11" name="Marker 3"/>
          <p:cNvSpPr/>
          <p:nvPr/>
        </p:nvSpPr>
        <p:spPr>
          <a:xfrm>
            <a:off x="731520" y="3337560"/>
            <a:ext cx="548640" cy="548640"/>
          </a:xfrm>
          <a:prstGeom prst="ellipse">
            <a:avLst/>
          </a:prstGeom>
          <a:solidFill>
            <a:schemeClr val="accent1"/>
          </a:solidFill>
          <a:ln w="12700">
            <a:solidFill>
              <a:schemeClr val="accent1"/>
            </a:solidFill>
            <a:prstDash val="solid"/>
          </a:ln>
        </p:spPr>
      </p:sp>
      <p:sp>
        <p:nvSpPr>
          <p:cNvPr id="12" name="Text 9"/>
          <p:cNvSpPr txBox="1"/>
          <p:nvPr/>
        </p:nvSpPr>
        <p:spPr>
          <a:xfrm>
            <a:off x="731520" y="33375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0"/>
          <p:cNvSpPr txBox="1"/>
          <p:nvPr/>
        </p:nvSpPr>
        <p:spPr>
          <a:xfrm>
            <a:off x="1508760" y="3337560"/>
            <a:ext cx="9875520" cy="548640"/>
          </a:xfrm>
          <a:prstGeom prst="rect">
            <a:avLst/>
          </a:prstGeom>
          <a:noFill/>
          <a:ln/>
        </p:spPr>
        <p:txBody>
          <a:bodyPr wrap="square" lIns="0" tIns="0" rIns="0" bIns="0" rtlCol="0" anchor="ctr"/>
          <a:lstStyle/>
          <a:p>
            <a:pPr indent="0" marL="0">
              <a:buNone/>
            </a:pPr>
            <a:r>
              <a:rPr lang="en-US" sz="2000" dirty="0">
                <a:solidFill>
                  <a:schemeClr val="bg1"/>
                </a:solidFill>
              </a:rPr>
              <a:t>Above ₹10 lakh, competition through e-bid or reverse auction is compulsory.</a:t>
            </a:r>
            <a:endParaRPr lang="en-US" sz="2000" dirty="0"/>
          </a:p>
        </p:txBody>
      </p:sp>
      <p:sp>
        <p:nvSpPr>
          <p:cNvPr id="14" name="Marker 4"/>
          <p:cNvSpPr/>
          <p:nvPr/>
        </p:nvSpPr>
        <p:spPr>
          <a:xfrm>
            <a:off x="731520" y="4206240"/>
            <a:ext cx="548640" cy="548640"/>
          </a:xfrm>
          <a:prstGeom prst="ellipse">
            <a:avLst/>
          </a:prstGeom>
          <a:solidFill>
            <a:schemeClr val="accent1"/>
          </a:solidFill>
          <a:ln w="12700">
            <a:solidFill>
              <a:schemeClr val="accent1"/>
            </a:solidFill>
            <a:prstDash val="solid"/>
          </a:ln>
        </p:spPr>
      </p:sp>
      <p:sp>
        <p:nvSpPr>
          <p:cNvPr id="15" name="Text 12"/>
          <p:cNvSpPr txBox="1"/>
          <p:nvPr/>
        </p:nvSpPr>
        <p:spPr>
          <a:xfrm>
            <a:off x="731520" y="4206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Text 13"/>
          <p:cNvSpPr txBox="1"/>
          <p:nvPr/>
        </p:nvSpPr>
        <p:spPr>
          <a:xfrm>
            <a:off x="1508760" y="4206240"/>
            <a:ext cx="9875520" cy="548640"/>
          </a:xfrm>
          <a:prstGeom prst="rect">
            <a:avLst/>
          </a:prstGeom>
          <a:noFill/>
          <a:ln/>
        </p:spPr>
        <p:txBody>
          <a:bodyPr wrap="square" lIns="0" tIns="0" rIns="0" bIns="0" rtlCol="0" anchor="ctr"/>
          <a:lstStyle/>
          <a:p>
            <a:pPr indent="0" marL="0">
              <a:buNone/>
            </a:pPr>
            <a:r>
              <a:rPr lang="en-US" sz="2000" dirty="0">
                <a:solidFill>
                  <a:schemeClr val="bg1"/>
                </a:solidFill>
              </a:rPr>
              <a:t>MSE and Make in India preferences are built into the reverse-auction mechanics.</a:t>
            </a:r>
            <a:endParaRPr lang="en-US" sz="2000" dirty="0"/>
          </a:p>
        </p:txBody>
      </p:sp>
      <p:sp>
        <p:nvSpPr>
          <p:cNvPr id="17" name="Marker 5"/>
          <p:cNvSpPr/>
          <p:nvPr/>
        </p:nvSpPr>
        <p:spPr>
          <a:xfrm>
            <a:off x="731520" y="5074920"/>
            <a:ext cx="548640" cy="548640"/>
          </a:xfrm>
          <a:prstGeom prst="ellipse">
            <a:avLst/>
          </a:prstGeom>
          <a:solidFill>
            <a:schemeClr val="accent1"/>
          </a:solidFill>
          <a:ln w="12700">
            <a:solidFill>
              <a:schemeClr val="accent1"/>
            </a:solidFill>
            <a:prstDash val="solid"/>
          </a:ln>
        </p:spPr>
      </p:sp>
      <p:sp>
        <p:nvSpPr>
          <p:cNvPr id="18" name="Text 15"/>
          <p:cNvSpPr txBox="1"/>
          <p:nvPr/>
        </p:nvSpPr>
        <p:spPr>
          <a:xfrm>
            <a:off x="731520" y="5074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Text 16"/>
          <p:cNvSpPr txBox="1"/>
          <p:nvPr/>
        </p:nvSpPr>
        <p:spPr>
          <a:xfrm>
            <a:off x="1508760" y="5074920"/>
            <a:ext cx="9875520" cy="548640"/>
          </a:xfrm>
          <a:prstGeom prst="rect">
            <a:avLst/>
          </a:prstGeom>
          <a:noFill/>
          <a:ln/>
        </p:spPr>
        <p:txBody>
          <a:bodyPr wrap="square" lIns="0" tIns="0" rIns="0" bIns="0" rtlCol="0" anchor="ctr"/>
          <a:lstStyle/>
          <a:p>
            <a:pPr indent="0" marL="0">
              <a:buNone/>
            </a:pPr>
            <a:r>
              <a:rPr lang="en-US" sz="2000" dirty="0">
                <a:solidFill>
                  <a:schemeClr val="bg1"/>
                </a:solidFill>
              </a:rPr>
              <a:t>The contract is GeM's: GTC + STC + ATC, Indian law, the buyer's courts.</a:t>
            </a:r>
            <a:endParaRPr lang="en-US" sz="2000" dirty="0"/>
          </a:p>
        </p:txBody>
      </p:sp>
      <p:sp>
        <p:nvSpPr>
          <p:cNvPr id="20" name="Text 0"/>
          <p:cNvSpPr/>
          <p:nvPr>
            <p:ph idx="102" type="body" hasCustomPrompt="1"/>
          </p:nvPr>
        </p:nvSpPr>
        <p:spPr>
          <a:xfrm>
            <a:off x="548640" y="6272784"/>
            <a:ext cx="10332720" cy="384048"/>
          </a:xfrm>
          <a:prstGeom prst="rect">
            <a:avLst/>
          </a:prstGeom>
          <a:noFill/>
          <a:ln/>
        </p:spPr>
        <p:txBody>
          <a:bodyPr wrap="square" lIns="0" tIns="0" rIns="0" bIns="0" rtlCol="0" anchor="t"/>
          <a:lstStyle/>
          <a:p>
            <a:pPr indent="0" marL="0">
              <a:buNone/>
            </a:pPr>
            <a:endParaRPr lang="en-US" sz="1000" dirty="0"/>
          </a:p>
        </p:txBody>
      </p:sp>
      <p:sp>
        <p:nvSpPr>
          <p:cNvPr id="25" name="Slide Number Placeholder 0"/>
          <p:cNvSpPr>
            <a:spLocks noGrp="1"/>
          </p:cNvSpPr>
          <p:nvPr>
            <p:ph type="sldNum" sz="quarter" idx="4294967295"/>
          </p:nvPr>
        </p:nvSpPr>
        <p:spPr>
          <a:xfrm>
            <a:off x="1120140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SOURCES</a:t>
            </a:r>
            <a:endParaRPr lang="en-US" sz="1100" dirty="0"/>
          </a:p>
        </p:txBody>
      </p:sp>
      <p:sp>
        <p:nvSpPr>
          <p:cNvPr id="3" name="Text 0"/>
          <p:cNvSpPr/>
          <p:nvPr>
            <p:ph idx="101" type="title" hasCustomPrompt="1"/>
          </p:nvPr>
        </p:nvSpPr>
        <p:spPr>
          <a:xfrm>
            <a:off x="548640" y="566928"/>
            <a:ext cx="11064240" cy="658368"/>
          </a:xfrm>
          <a:prstGeom prst="rect">
            <a:avLst/>
          </a:prstGeom>
          <a:noFill/>
          <a:ln/>
        </p:spPr>
        <p:txBody>
          <a:bodyPr wrap="square" lIns="0" tIns="0" rIns="0" bIns="0" rtlCol="0" anchor="ctr"/>
          <a:lstStyle/>
          <a:p>
            <a:pPr algn="l" indent="0" marL="0">
              <a:buNone/>
            </a:pPr>
            <a:r>
              <a:rPr lang="en-US" sz="3200" b="1" dirty="0">
                <a:solidFill>
                  <a:schemeClr val="tx2"/>
                </a:solidFill>
              </a:rPr>
              <a:t>Sources</a:t>
            </a:r>
            <a:endParaRPr lang="en-US" sz="3200" dirty="0"/>
          </a:p>
        </p:txBody>
      </p:sp>
      <p:sp>
        <p:nvSpPr>
          <p:cNvPr id="4" name="Text 0"/>
          <p:cNvSpPr/>
          <p:nvPr>
            <p:ph idx="102" type="body" hasCustomPrompt="1"/>
          </p:nvPr>
        </p:nvSpPr>
        <p:spPr>
          <a:xfrm>
            <a:off x="548640" y="6272784"/>
            <a:ext cx="10332720" cy="384048"/>
          </a:xfrm>
          <a:prstGeom prst="rect">
            <a:avLst/>
          </a:prstGeom>
          <a:noFill/>
          <a:ln/>
        </p:spPr>
        <p:txBody>
          <a:bodyPr wrap="square" lIns="0" tIns="0" rIns="0" bIns="0" rtlCol="0" anchor="t"/>
          <a:lstStyle/>
          <a:p>
            <a:pPr indent="0" marL="0">
              <a:buNone/>
            </a:pPr>
            <a:r>
              <a:rPr lang="en-US" sz="1000" dirty="0">
                <a:solidFill>
                  <a:schemeClr val="accent3"/>
                </a:solidFill>
              </a:rPr>
              <a:t>Full links to every source are in the presenter's guide. Primary sources are ranked by the Goods Manual 2024, Annexure 1 hierarchy.</a:t>
            </a:r>
            <a:endParaRPr lang="en-US" sz="1000" dirty="0"/>
          </a:p>
        </p:txBody>
      </p:sp>
      <p:sp>
        <p:nvSpPr>
          <p:cNvPr id="6" name="Source group 1"/>
          <p:cNvSpPr/>
          <p:nvPr/>
        </p:nvSpPr>
        <p:spPr>
          <a:xfrm>
            <a:off x="548640" y="1463040"/>
            <a:ext cx="11091672" cy="640080"/>
          </a:xfrm>
          <a:prstGeom prst="roundRect">
            <a:avLst>
              <a:gd name="adj" fmla="val 11429"/>
            </a:avLst>
          </a:prstGeom>
          <a:solidFill>
            <a:schemeClr val="bg2"/>
          </a:solidFill>
          <a:ln w="12700">
            <a:solidFill>
              <a:schemeClr val="bg2"/>
            </a:solidFill>
            <a:prstDash val="solid"/>
          </a:ln>
        </p:spPr>
      </p:sp>
      <p:sp>
        <p:nvSpPr>
          <p:cNvPr id="7" name="Text 4"/>
          <p:cNvSpPr txBox="1"/>
          <p:nvPr/>
        </p:nvSpPr>
        <p:spPr>
          <a:xfrm>
            <a:off x="731520" y="1463040"/>
            <a:ext cx="2377440" cy="640080"/>
          </a:xfrm>
          <a:prstGeom prst="rect">
            <a:avLst/>
          </a:prstGeom>
          <a:noFill/>
          <a:ln/>
        </p:spPr>
        <p:txBody>
          <a:bodyPr wrap="square" lIns="0" tIns="0" rIns="0" bIns="0" rtlCol="0" anchor="ctr"/>
          <a:lstStyle/>
          <a:p>
            <a:pPr indent="0" marL="0">
              <a:buNone/>
            </a:pPr>
            <a:r>
              <a:rPr lang="en-US" sz="1300" b="1" dirty="0">
                <a:solidFill>
                  <a:schemeClr val="tx2"/>
                </a:solidFill>
              </a:rPr>
              <a:t>Level I · Statute</a:t>
            </a:r>
            <a:endParaRPr lang="en-US" sz="1300" dirty="0"/>
          </a:p>
        </p:txBody>
      </p:sp>
      <p:sp>
        <p:nvSpPr>
          <p:cNvPr id="8" name="Text 5"/>
          <p:cNvSpPr txBox="1"/>
          <p:nvPr/>
        </p:nvSpPr>
        <p:spPr>
          <a:xfrm>
            <a:off x="3154680" y="1463040"/>
            <a:ext cx="8321040" cy="640080"/>
          </a:xfrm>
          <a:prstGeom prst="rect">
            <a:avLst/>
          </a:prstGeom>
          <a:noFill/>
          <a:ln/>
        </p:spPr>
        <p:txBody>
          <a:bodyPr wrap="square" lIns="0" tIns="0" rIns="0" bIns="0" rtlCol="0" anchor="ctr"/>
          <a:lstStyle/>
          <a:p>
            <a:pPr indent="0" marL="0">
              <a:buNone/>
            </a:pPr>
            <a:r>
              <a:rPr lang="en-US" sz="1200" dirty="0">
                <a:solidFill>
                  <a:schemeClr val="tx1"/>
                </a:solidFill>
              </a:rPr>
              <a:t>Constitution of India (as on 1 May 2024): Arts 14, 19(1)(g), 107(5), 298, 299 · Tamil Nadu Transparency in Tenders Act 1998 · Karnataka Transparency in Public Procurements Act 1999 · Rajasthan Transparency in Public Procurement Act 2012</a:t>
            </a:r>
            <a:endParaRPr lang="en-US" sz="1200" dirty="0"/>
          </a:p>
        </p:txBody>
      </p:sp>
      <p:sp>
        <p:nvSpPr>
          <p:cNvPr id="9" name="Source group 2"/>
          <p:cNvSpPr/>
          <p:nvPr/>
        </p:nvSpPr>
        <p:spPr>
          <a:xfrm>
            <a:off x="548640" y="2167128"/>
            <a:ext cx="11091672" cy="896112"/>
          </a:xfrm>
          <a:prstGeom prst="roundRect">
            <a:avLst>
              <a:gd name="adj" fmla="val 8163"/>
            </a:avLst>
          </a:prstGeom>
          <a:solidFill>
            <a:schemeClr val="bg2"/>
          </a:solidFill>
          <a:ln w="12700">
            <a:solidFill>
              <a:schemeClr val="bg2"/>
            </a:solidFill>
            <a:prstDash val="solid"/>
          </a:ln>
        </p:spPr>
      </p:sp>
      <p:sp>
        <p:nvSpPr>
          <p:cNvPr id="10" name="Text 7"/>
          <p:cNvSpPr txBox="1"/>
          <p:nvPr/>
        </p:nvSpPr>
        <p:spPr>
          <a:xfrm>
            <a:off x="731520" y="2167128"/>
            <a:ext cx="2377440" cy="896112"/>
          </a:xfrm>
          <a:prstGeom prst="rect">
            <a:avLst/>
          </a:prstGeom>
          <a:noFill/>
          <a:ln/>
        </p:spPr>
        <p:txBody>
          <a:bodyPr wrap="square" lIns="0" tIns="0" rIns="0" bIns="0" rtlCol="0" anchor="ctr"/>
          <a:lstStyle/>
          <a:p>
            <a:pPr indent="0" marL="0">
              <a:buNone/>
            </a:pPr>
            <a:r>
              <a:rPr lang="en-US" sz="1300" b="1" dirty="0">
                <a:solidFill>
                  <a:schemeClr val="tx2"/>
                </a:solidFill>
              </a:rPr>
              <a:t>Level II · Rules and orders</a:t>
            </a:r>
            <a:endParaRPr lang="en-US" sz="1300" dirty="0"/>
          </a:p>
        </p:txBody>
      </p:sp>
      <p:sp>
        <p:nvSpPr>
          <p:cNvPr id="11" name="Text 8"/>
          <p:cNvSpPr txBox="1"/>
          <p:nvPr/>
        </p:nvSpPr>
        <p:spPr>
          <a:xfrm>
            <a:off x="3154680" y="2167128"/>
            <a:ext cx="8321040" cy="896112"/>
          </a:xfrm>
          <a:prstGeom prst="rect">
            <a:avLst/>
          </a:prstGeom>
          <a:noFill/>
          <a:ln/>
        </p:spPr>
        <p:txBody>
          <a:bodyPr wrap="square" lIns="0" tIns="0" rIns="0" bIns="0" rtlCol="0" anchor="ctr"/>
          <a:lstStyle/>
          <a:p>
            <a:pPr indent="0" marL="0">
              <a:buNone/>
            </a:pPr>
            <a:r>
              <a:rPr lang="en-US" sz="1200" dirty="0">
                <a:solidFill>
                  <a:schemeClr val="tx1"/>
                </a:solidFill>
              </a:rPr>
              <a:t>GFR 2017 (compilation to 31 Jan 2026) · DFPR 2024 · DoE OMs: 10 Jul 2024 (thresholds), 3 Jun 2024 (arbitration), 11 Jun 2021 (GeMAR&amp;PTS), 6 Sep 2022 and 11 Jan 2023 (PBP), 4 Feb 2019 (DGS&amp;D → GeM) · Order (Public Procurement No. 4), 23 Feb 2023 · MSE Procurement Policy Order 2012 (amended 2018)</a:t>
            </a:r>
            <a:endParaRPr lang="en-US" sz="1200" dirty="0"/>
          </a:p>
        </p:txBody>
      </p:sp>
      <p:sp>
        <p:nvSpPr>
          <p:cNvPr id="12" name="Source group 3"/>
          <p:cNvSpPr/>
          <p:nvPr/>
        </p:nvSpPr>
        <p:spPr>
          <a:xfrm>
            <a:off x="548640" y="3127248"/>
            <a:ext cx="11091672" cy="640080"/>
          </a:xfrm>
          <a:prstGeom prst="roundRect">
            <a:avLst>
              <a:gd name="adj" fmla="val 11429"/>
            </a:avLst>
          </a:prstGeom>
          <a:solidFill>
            <a:schemeClr val="bg2"/>
          </a:solidFill>
          <a:ln w="12700">
            <a:solidFill>
              <a:schemeClr val="bg2"/>
            </a:solidFill>
            <a:prstDash val="solid"/>
          </a:ln>
        </p:spPr>
      </p:sp>
      <p:sp>
        <p:nvSpPr>
          <p:cNvPr id="13" name="Text 10"/>
          <p:cNvSpPr txBox="1"/>
          <p:nvPr/>
        </p:nvSpPr>
        <p:spPr>
          <a:xfrm>
            <a:off x="731520" y="3127248"/>
            <a:ext cx="2377440" cy="640080"/>
          </a:xfrm>
          <a:prstGeom prst="rect">
            <a:avLst/>
          </a:prstGeom>
          <a:noFill/>
          <a:ln/>
        </p:spPr>
        <p:txBody>
          <a:bodyPr wrap="square" lIns="0" tIns="0" rIns="0" bIns="0" rtlCol="0" anchor="ctr"/>
          <a:lstStyle/>
          <a:p>
            <a:pPr indent="0" marL="0">
              <a:buNone/>
            </a:pPr>
            <a:r>
              <a:rPr lang="en-US" sz="1300" b="1" dirty="0">
                <a:solidFill>
                  <a:schemeClr val="tx2"/>
                </a:solidFill>
              </a:rPr>
              <a:t>Level III · Manuals</a:t>
            </a:r>
            <a:endParaRPr lang="en-US" sz="1300" dirty="0"/>
          </a:p>
        </p:txBody>
      </p:sp>
      <p:sp>
        <p:nvSpPr>
          <p:cNvPr id="14" name="Text 11"/>
          <p:cNvSpPr txBox="1"/>
          <p:nvPr/>
        </p:nvSpPr>
        <p:spPr>
          <a:xfrm>
            <a:off x="3154680" y="3127248"/>
            <a:ext cx="8321040" cy="640080"/>
          </a:xfrm>
          <a:prstGeom prst="rect">
            <a:avLst/>
          </a:prstGeom>
          <a:noFill/>
          <a:ln/>
        </p:spPr>
        <p:txBody>
          <a:bodyPr wrap="square" lIns="0" tIns="0" rIns="0" bIns="0" rtlCol="0" anchor="ctr"/>
          <a:lstStyle/>
          <a:p>
            <a:pPr indent="0" marL="0">
              <a:buNone/>
            </a:pPr>
            <a:r>
              <a:rPr lang="en-US" sz="1200" dirty="0">
                <a:solidFill>
                  <a:schemeClr val="tx1"/>
                </a:solidFill>
              </a:rPr>
              <a:t>MoF Manuals for Procurement of Goods (2nd ed., 2024), Consultancy Services (2nd ed., 2025), Non-Consultancy Services (2025), Works (2nd ed., 2025); Goods Manual updated June 2022</a:t>
            </a:r>
            <a:endParaRPr lang="en-US" sz="1200" dirty="0"/>
          </a:p>
        </p:txBody>
      </p:sp>
      <p:sp>
        <p:nvSpPr>
          <p:cNvPr id="15" name="Source group 4"/>
          <p:cNvSpPr/>
          <p:nvPr/>
        </p:nvSpPr>
        <p:spPr>
          <a:xfrm>
            <a:off x="548640" y="3831336"/>
            <a:ext cx="11091672" cy="640080"/>
          </a:xfrm>
          <a:prstGeom prst="roundRect">
            <a:avLst>
              <a:gd name="adj" fmla="val 11429"/>
            </a:avLst>
          </a:prstGeom>
          <a:solidFill>
            <a:schemeClr val="bg2"/>
          </a:solidFill>
          <a:ln w="12700">
            <a:solidFill>
              <a:schemeClr val="bg2"/>
            </a:solidFill>
            <a:prstDash val="solid"/>
          </a:ln>
        </p:spPr>
      </p:sp>
      <p:sp>
        <p:nvSpPr>
          <p:cNvPr id="16" name="Text 13"/>
          <p:cNvSpPr txBox="1"/>
          <p:nvPr/>
        </p:nvSpPr>
        <p:spPr>
          <a:xfrm>
            <a:off x="731520" y="3831336"/>
            <a:ext cx="2377440" cy="640080"/>
          </a:xfrm>
          <a:prstGeom prst="rect">
            <a:avLst/>
          </a:prstGeom>
          <a:noFill/>
          <a:ln/>
        </p:spPr>
        <p:txBody>
          <a:bodyPr wrap="square" lIns="0" tIns="0" rIns="0" bIns="0" rtlCol="0" anchor="ctr"/>
          <a:lstStyle/>
          <a:p>
            <a:pPr indent="0" marL="0">
              <a:buNone/>
            </a:pPr>
            <a:r>
              <a:rPr lang="en-US" sz="1300" b="1" dirty="0">
                <a:solidFill>
                  <a:schemeClr val="tx2"/>
                </a:solidFill>
              </a:rPr>
              <a:t>Level IV · Contract terms</a:t>
            </a:r>
            <a:endParaRPr lang="en-US" sz="1300" dirty="0"/>
          </a:p>
        </p:txBody>
      </p:sp>
      <p:sp>
        <p:nvSpPr>
          <p:cNvPr id="17" name="Text 14"/>
          <p:cNvSpPr txBox="1"/>
          <p:nvPr/>
        </p:nvSpPr>
        <p:spPr>
          <a:xfrm>
            <a:off x="3154680" y="3831336"/>
            <a:ext cx="8321040" cy="640080"/>
          </a:xfrm>
          <a:prstGeom prst="rect">
            <a:avLst/>
          </a:prstGeom>
          <a:noFill/>
          <a:ln/>
        </p:spPr>
        <p:txBody>
          <a:bodyPr wrap="square" lIns="0" tIns="0" rIns="0" bIns="0" rtlCol="0" anchor="ctr"/>
          <a:lstStyle/>
          <a:p>
            <a:pPr indent="0" marL="0">
              <a:buNone/>
            </a:pPr>
            <a:r>
              <a:rPr lang="en-US" sz="1200" dirty="0">
                <a:solidFill>
                  <a:schemeClr val="tx1"/>
                </a:solidFill>
              </a:rPr>
              <a:t>GeM General Terms and Conditions on GeM 4.0, v1.29 (25 Mar 2026) · GeM Push Button Procurement buyer manual</a:t>
            </a:r>
            <a:endParaRPr lang="en-US" sz="1200" dirty="0"/>
          </a:p>
        </p:txBody>
      </p:sp>
      <p:sp>
        <p:nvSpPr>
          <p:cNvPr id="18" name="Source group 5"/>
          <p:cNvSpPr/>
          <p:nvPr/>
        </p:nvSpPr>
        <p:spPr>
          <a:xfrm>
            <a:off x="548640" y="4535424"/>
            <a:ext cx="11091672" cy="640080"/>
          </a:xfrm>
          <a:prstGeom prst="roundRect">
            <a:avLst>
              <a:gd name="adj" fmla="val 11429"/>
            </a:avLst>
          </a:prstGeom>
          <a:solidFill>
            <a:schemeClr val="bg2"/>
          </a:solidFill>
          <a:ln w="12700">
            <a:solidFill>
              <a:schemeClr val="bg2"/>
            </a:solidFill>
            <a:prstDash val="solid"/>
          </a:ln>
        </p:spPr>
      </p:sp>
      <p:sp>
        <p:nvSpPr>
          <p:cNvPr id="19" name="Text 16"/>
          <p:cNvSpPr txBox="1"/>
          <p:nvPr/>
        </p:nvSpPr>
        <p:spPr>
          <a:xfrm>
            <a:off x="731520" y="4535424"/>
            <a:ext cx="2377440" cy="640080"/>
          </a:xfrm>
          <a:prstGeom prst="rect">
            <a:avLst/>
          </a:prstGeom>
          <a:noFill/>
          <a:ln/>
        </p:spPr>
        <p:txBody>
          <a:bodyPr wrap="square" lIns="0" tIns="0" rIns="0" bIns="0" rtlCol="0" anchor="ctr"/>
          <a:lstStyle/>
          <a:p>
            <a:pPr indent="0" marL="0">
              <a:buNone/>
            </a:pPr>
            <a:r>
              <a:rPr lang="en-US" sz="1300" b="1" dirty="0">
                <a:solidFill>
                  <a:schemeClr val="tx2"/>
                </a:solidFill>
              </a:rPr>
              <a:t>Official records</a:t>
            </a:r>
            <a:endParaRPr lang="en-US" sz="1300" dirty="0"/>
          </a:p>
        </p:txBody>
      </p:sp>
      <p:sp>
        <p:nvSpPr>
          <p:cNvPr id="20" name="Text 17"/>
          <p:cNvSpPr txBox="1"/>
          <p:nvPr/>
        </p:nvSpPr>
        <p:spPr>
          <a:xfrm>
            <a:off x="3154680" y="4535424"/>
            <a:ext cx="8321040" cy="640080"/>
          </a:xfrm>
          <a:prstGeom prst="rect">
            <a:avLst/>
          </a:prstGeom>
          <a:noFill/>
          <a:ln/>
        </p:spPr>
        <p:txBody>
          <a:bodyPr wrap="square" lIns="0" tIns="0" rIns="0" bIns="0" rtlCol="0" anchor="ctr"/>
          <a:lstStyle/>
          <a:p>
            <a:pPr indent="0" marL="0">
              <a:buNone/>
            </a:pPr>
            <a:r>
              <a:rPr lang="en-US" sz="1200" dirty="0">
                <a:solidFill>
                  <a:schemeClr val="tx1"/>
                </a:solidFill>
              </a:rPr>
              <a:t>Cabinet decisions of 12 Apr 2017 and 1 Jun 2022 · CAG Report No. 18 of 2020, Ch. IV · PIB releases of 7 Mar 2017, 6 Apr 2026 and 8 Aug 2026</a:t>
            </a:r>
            <a:endParaRPr lang="en-US" sz="1200" dirty="0"/>
          </a:p>
        </p:txBody>
      </p:sp>
      <p:sp>
        <p:nvSpPr>
          <p:cNvPr id="21" name="Source group 6"/>
          <p:cNvSpPr/>
          <p:nvPr/>
        </p:nvSpPr>
        <p:spPr>
          <a:xfrm>
            <a:off x="548640" y="5239512"/>
            <a:ext cx="11091672" cy="640080"/>
          </a:xfrm>
          <a:prstGeom prst="roundRect">
            <a:avLst>
              <a:gd name="adj" fmla="val 11429"/>
            </a:avLst>
          </a:prstGeom>
          <a:solidFill>
            <a:schemeClr val="bg1"/>
          </a:solidFill>
          <a:ln w="12700">
            <a:solidFill>
              <a:schemeClr val="bg1"/>
            </a:solidFill>
            <a:prstDash val="solid"/>
          </a:ln>
        </p:spPr>
      </p:sp>
      <p:sp>
        <p:nvSpPr>
          <p:cNvPr id="22" name="Secondary outline"/>
          <p:cNvSpPr/>
          <p:nvPr/>
        </p:nvSpPr>
        <p:spPr>
          <a:xfrm>
            <a:off x="548640" y="5239512"/>
            <a:ext cx="11091672" cy="640080"/>
          </a:xfrm>
          <a:prstGeom prst="roundRect">
            <a:avLst>
              <a:gd name="adj" fmla="val 11429"/>
            </a:avLst>
          </a:prstGeom>
          <a:solidFill>
            <a:schemeClr val="bg1"/>
          </a:solidFill>
          <a:ln w="12700">
            <a:solidFill>
              <a:schemeClr val="accent4"/>
            </a:solidFill>
            <a:prstDash val="solid"/>
          </a:ln>
        </p:spPr>
      </p:sp>
      <p:sp>
        <p:nvSpPr>
          <p:cNvPr id="23" name="Text 20"/>
          <p:cNvSpPr txBox="1"/>
          <p:nvPr/>
        </p:nvSpPr>
        <p:spPr>
          <a:xfrm>
            <a:off x="731520" y="5239512"/>
            <a:ext cx="2377440" cy="640080"/>
          </a:xfrm>
          <a:prstGeom prst="rect">
            <a:avLst/>
          </a:prstGeom>
          <a:noFill/>
          <a:ln/>
        </p:spPr>
        <p:txBody>
          <a:bodyPr wrap="square" lIns="0" tIns="0" rIns="0" bIns="0" rtlCol="0" anchor="ctr"/>
          <a:lstStyle/>
          <a:p>
            <a:pPr indent="0" marL="0">
              <a:buNone/>
            </a:pPr>
            <a:r>
              <a:rPr lang="en-US" sz="1300" b="1" dirty="0">
                <a:solidFill>
                  <a:schemeClr val="accent3"/>
                </a:solidFill>
              </a:rPr>
              <a:t>Secondary</a:t>
            </a:r>
            <a:endParaRPr lang="en-US" sz="1300" dirty="0"/>
          </a:p>
        </p:txBody>
      </p:sp>
      <p:sp>
        <p:nvSpPr>
          <p:cNvPr id="24" name="Text 21"/>
          <p:cNvSpPr txBox="1"/>
          <p:nvPr/>
        </p:nvSpPr>
        <p:spPr>
          <a:xfrm>
            <a:off x="3154680" y="5239512"/>
            <a:ext cx="8321040" cy="640080"/>
          </a:xfrm>
          <a:prstGeom prst="rect">
            <a:avLst/>
          </a:prstGeom>
          <a:noFill/>
          <a:ln/>
        </p:spPr>
        <p:txBody>
          <a:bodyPr wrap="square" lIns="0" tIns="0" rIns="0" bIns="0" rtlCol="0" anchor="ctr"/>
          <a:lstStyle/>
          <a:p>
            <a:pPr indent="0" marL="0">
              <a:buNone/>
            </a:pPr>
            <a:r>
              <a:rPr lang="en-US" sz="1200" dirty="0">
                <a:solidFill>
                  <a:schemeClr val="tx1"/>
                </a:solidFill>
              </a:rPr>
              <a:t>PRS Legislative Research (Public Procurement Bill 2012) · GKToday (DGS&amp;D history) · Drishti IAS (GeM at 10)</a:t>
            </a:r>
            <a:endParaRPr lang="en-US" sz="1200" dirty="0"/>
          </a:p>
        </p:txBody>
      </p:sp>
      <p:sp>
        <p:nvSpPr>
          <p:cNvPr id="25" name="Slide Number Placeholder 0"/>
          <p:cNvSpPr>
            <a:spLocks noGrp="1"/>
          </p:cNvSpPr>
          <p:nvPr>
            <p:ph type="sldNum" sz="quarter" idx="4294967295"/>
          </p:nvPr>
        </p:nvSpPr>
        <p:spPr>
          <a:xfrm>
            <a:off x="1120140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GeM Ink and Saffron">
  <a:themeElements>
    <a:clrScheme name="GeM Ink and Saffron">
      <a:dk1>
        <a:srgbClr val="1B1F2A"/>
      </a:dk1>
      <a:lt1>
        <a:srgbClr val="FFFFFF"/>
      </a:lt1>
      <a:dk2>
        <a:srgbClr val="14213D"/>
      </a:dk2>
      <a:lt2>
        <a:srgbClr val="EEF1F6"/>
      </a:lt2>
      <a:accent1>
        <a:srgbClr val="D9731A"/>
      </a:accent1>
      <a:accent2>
        <a:srgbClr val="2E6F73"/>
      </a:accent2>
      <a:accent3>
        <a:srgbClr val="5B6475"/>
      </a:accent3>
      <a:accent4>
        <a:srgbClr val="C9D3E3"/>
      </a:accent4>
      <a:accent5>
        <a:srgbClr val="FBEBDD"/>
      </a:accent5>
      <a:accent6>
        <a:srgbClr val="E3EEEE"/>
      </a:accent6>
      <a:hlink>
        <a:srgbClr val="2E6F73"/>
      </a:hlink>
      <a:folHlink>
        <a:srgbClr val="5B6475"/>
      </a:folHlink>
    </a:clrScheme>
    <a:fontScheme name="GeM Ink and Saffr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Government e-Marketplace (GeM): Origins, Framework and the Bidding Process</dc:title>
  <dc:subject>PptxGenJS Presentation</dc:subject>
  <dc:creator>Presenter</dc:creator>
  <cp:lastModifiedBy>Presenter</cp:lastModifiedBy>
  <cp:revision>1</cp:revision>
  <dcterms:created xsi:type="dcterms:W3CDTF">2026-10-28T07:22:27Z</dcterms:created>
  <dcterms:modified xsi:type="dcterms:W3CDTF">2026-10-28T07:22:27Z</dcterms:modified>
</cp:coreProperties>
</file>